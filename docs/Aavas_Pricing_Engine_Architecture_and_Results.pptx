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11F"/>
                </a:solidFill>
                <a:latin typeface="Calibri"/>
              </a:defRPr>
            </a:pPr>
            <a:r>
              <a:rPr sz="1200" b="0" i="0" u="none" strike="noStrike">
                <a:solidFill>
                  <a:srgbClr val="17211F"/>
                </a:solidFill>
                <a:latin typeface="Calibri"/>
              </a:rPr>
              <a:t>Expected value per file, across the permissible band</a:t>
            </a:r>
          </a:p>
        </c:rich>
      </c:tx>
      <c:layout/>
      <c:overlay val="0"/>
    </c:title>
    <c:autoTitleDeleted val="0"/>
    <c:plotArea>
      <c:layout/>
      <c:barChart>
        <c:barDir val="col"/>
        <c:grouping val="clustered"/>
        <c:varyColors val="0"/>
        <c:ser>
          <c:idx val="0"/>
          <c:order val="0"/>
          <c:tx>
            <c:strRef>
              <c:f>Sheet1!$B$1</c:f>
              <c:strCache>
                <c:ptCount val="1"/>
                <c:pt idx="0">
                  <c:v>Expected value (Rs)</c:v>
                </c:pt>
              </c:strCache>
            </c:strRef>
          </c:tx>
          <c:spPr>
            <a:solidFill>
              <a:srgbClr val="5B7F79"/>
            </a:solidFill>
            <a:effectLst/>
          </c:spPr>
          <c:invertIfNegative val="0"/>
          <c:dLbls>
            <c:numFmt formatCode="#,##0" sourceLinked="0"/>
            <c:txPr>
              <a:bodyPr/>
              <a:lstStyle/>
              <a:p>
                <a:pPr>
                  <a:defRPr b="0" i="0" strike="noStrike" sz="900" u="none">
                    <a:solidFill>
                      <a:srgbClr val="5E6B68"/>
                    </a:solidFill>
                    <a:latin typeface="Calibri"/>
                  </a:defRPr>
                </a:pPr>
              </a:p>
            </c:txPr>
            <c:showLegendKey val="0"/>
            <c:showVal val="1"/>
            <c:showCatName val="0"/>
            <c:showSerName val="0"/>
            <c:showPercent val="0"/>
            <c:showBubbleSize val="0"/>
            <c:showLeaderLines val="0"/>
          </c:dLbls>
          <c:dPt>
            <c:idx val="0"/>
            <c:invertIfNegative val="0"/>
            <c:bubble3D val="0"/>
            <c:spPr>
              <a:solidFill>
                <a:srgbClr val="5B7F79"/>
              </a:solidFill>
              <a:effectLst/>
            </c:spPr>
          </c:dPt>
          <c:dPt>
            <c:idx val="1"/>
            <c:invertIfNegative val="0"/>
            <c:bubble3D val="0"/>
            <c:spPr>
              <a:solidFill>
                <a:srgbClr val="5B7F79"/>
              </a:solidFill>
              <a:effectLst/>
            </c:spPr>
          </c:dPt>
          <c:dPt>
            <c:idx val="2"/>
            <c:invertIfNegative val="0"/>
            <c:bubble3D val="0"/>
            <c:spPr>
              <a:solidFill>
                <a:srgbClr val="5B7F79"/>
              </a:solidFill>
              <a:effectLst/>
            </c:spPr>
          </c:dPt>
          <c:dPt>
            <c:idx val="3"/>
            <c:invertIfNegative val="0"/>
            <c:bubble3D val="0"/>
            <c:spPr>
              <a:solidFill>
                <a:srgbClr val="E9A13B"/>
              </a:solidFill>
              <a:effectLst/>
            </c:spPr>
          </c:dPt>
          <c:dPt>
            <c:idx val="4"/>
            <c:invertIfNegative val="0"/>
            <c:bubble3D val="0"/>
            <c:spPr>
              <a:solidFill>
                <a:srgbClr val="B24A3C"/>
              </a:solidFill>
              <a:effectLst/>
            </c:spPr>
          </c:dPt>
          <c:dPt>
            <c:idx val="5"/>
            <c:invertIfNegative val="0"/>
            <c:bubble3D val="0"/>
            <c:spPr>
              <a:solidFill>
                <a:srgbClr val="B24A3C"/>
              </a:solidFill>
              <a:effectLst/>
            </c:spPr>
          </c:dPt>
          <c:cat>
            <c:multiLvlStrRef>
              <c:f>Sheet1!$A$2:$A$7</c:f>
              <c:multiLvlStrCache>
                <c:ptCount val="6"/>
                <c:lvl>
                  <c:pt idx="0">
                    <c:v>12.04%</c:v>
                  </c:pt>
                  <c:pt idx="1">
                    <c:v>12.24%</c:v>
                  </c:pt>
                  <c:pt idx="2">
                    <c:v>12.54%</c:v>
                  </c:pt>
                  <c:pt idx="3">
                    <c:v>12.79%</c:v>
                  </c:pt>
                  <c:pt idx="4">
                    <c:v>13.39%</c:v>
                  </c:pt>
                  <c:pt idx="5">
                    <c:v>13.59%</c:v>
                  </c:pt>
                </c:lvl>
              </c:multiLvlStrCache>
            </c:multiLvlStrRef>
          </c:cat>
          <c:val>
            <c:numRef>
              <c:f>Sheet1!$B$2:$B$7</c:f>
              <c:numCache>
                <c:formatCode>General</c:formatCode>
                <c:ptCount val="6"/>
                <c:pt idx="0">
                  <c:v>165398</c:v>
                </c:pt>
                <c:pt idx="1">
                  <c:v>173454</c:v>
                </c:pt>
                <c:pt idx="2">
                  <c:v>173889</c:v>
                </c:pt>
                <c:pt idx="3">
                  <c:v>175456</c:v>
                </c:pt>
                <c:pt idx="4">
                  <c:v>146506</c:v>
                </c:pt>
                <c:pt idx="5">
                  <c:v>82947</c:v>
                </c:pt>
              </c:numCache>
            </c:numRef>
          </c:val>
        </c:ser>
        <c:dLbls>
          <c:numFmt formatCode="#,##0" sourceLinked="0"/>
          <c:txPr>
            <a:bodyPr/>
            <a:lstStyle/>
            <a:p>
              <a:pPr>
                <a:defRPr b="0" i="0" strike="noStrike" sz="900" u="none">
                  <a:solidFill>
                    <a:srgbClr val="5E6B6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B68"/>
                </a:solidFill>
                <a:latin typeface="Calibri"/>
              </a:defRPr>
            </a:pPr>
            <a:endParaRPr lang="en-US"/>
          </a:p>
        </c:txPr>
        <c:crossAx val="2094734552"/>
        <c:crosses val="autoZero"/>
        <c:auto val="1"/>
        <c:lblAlgn val="ctr"/>
        <c:noMultiLvlLbl val="1"/>
      </c:catAx>
      <c:valAx>
        <c:axId val="2094734552"/>
        <c:scaling>
          <c:orientation val="minMax"/>
          <c:max val="200000"/>
          <c:min val="0"/>
        </c:scaling>
        <c:delete val="0"/>
        <c:axPos val="l"/>
        <c:majorGridlines>
          <c:spPr>
            <a:ln w="12700" cap="flat">
              <a:solidFill>
                <a:srgbClr val="E4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B6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The single sentence to land: this is not a rate-prediction model. A model that predicts the sanctioned rate only reproduces historical commercial behaviour, including its mistakes. Everything in this deck follows from choosing to optimise risk-adjusted value instead. All numbers shown later come from synthetic data - stated openly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answers 'what can you tell me now, honestly'. Stage 2 answers 'what is the right price now that we know'. The Stage-1 band is deliberately an interval, not a point: quoting a precise rate on unverified income is a promise the underwriter has to break. Confidence falls when the file is thin, so a new-to-credit enquiry with no competitor quote gets a visibly lower number rather than a confidently wrong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rest of the architecture exists to serve. Two consequences worth stating in the room: (1) the engine needs a demand curve, which is why a calibrated conversion model sits at the centre; (2) it needs lifetime economics, which is why prepayment / balance-transfer behaviour is modelled at all. Neither is needed if you are only predicting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make for the integration audience: nothing here asks the LOS to change how it works. The contract is four POST endpoints - pre-assessment, final-assessment, override, outcome. The SPA talks to the API through a same-origin /api proxy, so there is no CORS change and the browser makes no cross-origin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capability layer is four independent pillars, not a monolith: models, optimization, xai and knowledge. Each is replaceable without touching the agents above it. The strict downward import direction is what makes that true rather than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agents read and write one shared object, the CustomerDigitalTwin, so no two agents can disagree about the file. Two details matter: note() de-duplicates because agents run more than once per decision, and snapshot() stores the file exactly as priced on the decision record, so a later audit re-runs against the real application rather than a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step 5 for the credit audience: the optimizer does not just return a number, it returns which constraint was binding - policy, affordability, minimum conversion or the extrapolation trim. That is what makes the recommendation reviewable rather than oracular. The tie-break to the lower rate is a deliberate policy choice: within the EV tolerance the customer gets the cheaper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result and the whole argument for optimising yield rather than price. The highlighted row is the recommended price: 12.79%, the peak of expected value. The scenario table the engine produces for every file shows contractual yield and expected value side by side, so the divergence is visible to the person signing, not buried in a model. Rs 92,509 is the gap between the peak (1,75,456 at 12.79%) and the worst priced scenario shown (82,947 at 13.59%).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extrapolation guard is the detail that most often gets missed in a pricing optimiser and it is the one that would have caused real damage: without it the optimiser eventually recommends the product ceiling for everyone, and the reason is invisible because the model looks confident. The conversion model records the rate and competitor-gap range it was actually fitted on, and the scenario generator trims the search to it, with a note written onto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artefact ships as &lt;name&gt;__&lt;version&gt;.joblib holding the payload and the fitted FeatureTransformer, plus a card.json with the training window, metrics, config versions and written limitations. GET /model-cards serves them. Worth telling the unit-discipline story if asked: getting the lifetime-to-annual PD conversion wrong silently inflates expected loss about fourfold and grades every file D or E. It did, during development, until the grade distribution gave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gets challenged in the room it will be this one, and the honest answer is on it: stratification removes the first-order selection effect, it is not a causal estimate. Properly answering 'was the salesperson right?' needs a price test - which is why the price experiment is named as the highest-value next step. The reason-level league table and the evidenced-vs-unevidenced competitor split are produced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A answers the branch's question and the customer's. Layer B answers the model-risk function's question. The risk model scoring 0.39 on rank agreement - and 0-2 out of 3 on per-file SHAP vs LIME - is the same warning twice, and it is reported rather than buried. The OmniXAI stack lives in a separate .venv-xai because omnixai pins dash &lt; 3, which pins Flask &lt; 2.3; it is built with --system-site-packages so every artefact loads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for a credit or compliance audience: interest-rate decisions affect customers, so the engine's job is to make the human decision better-informed and fully recorded, not to remove it. Note that affordability is treated as a real constraint, not a warning - the band's upper end is solved for against the FOIR cap by bisection, and the decision record says when affordability rather than policy is what binds.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Promoting on value rather than AUC is the point worth dwelling on: a challenger can be more accurate about the historical sanctioned rate and still be worth less, because accuracy against history is not the objective. The paired replay measures the thing we actually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a negative result is the point of this slide. The work was done, the seams match Flower's interface, and the answer is that it is not yet worth the infrastructure. That is a more useful output than a demo that shows federation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fallbacks are not defensive padding; they are what lets this run on a branch server, a laptop and a container without three different sets of instructions. The shap point is from experience rather than theory: a shap built against a different numpy ABI raises AttributeError, not ImportError - which is what this repo's development machine actually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front of the room rather than in an appendix. The credibility of everything earlier depends on it. The natural question it invites - 'so what would make these numbers real?' - is exactly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 controlled price experiment on a defined slice, with the pricing committee owning the read-out. Everything needed to run and measure it - the decision record, the override capture, the outcome capture and the propensity machinery - is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D2A"/>
        </a:solidFill>
      </p:bgPr>
    </p:bg>
    <p:spTree>
      <p:nvGrpSpPr>
        <p:cNvPr id="1" name=""/>
        <p:cNvGrpSpPr/>
        <p:nvPr/>
      </p:nvGrpSpPr>
      <p:grpSpPr>
        <a:xfrm>
          <a:off x="0" y="0"/>
          <a:ext cx="0" cy="0"/>
          <a:chOff x="0" y="0"/>
          <a:chExt cx="0" cy="0"/>
        </a:xfrm>
      </p:grpSpPr>
      <p:sp>
        <p:nvSpPr>
          <p:cNvPr id="2" name="Shape 0"/>
          <p:cNvSpPr/>
          <p:nvPr/>
        </p:nvSpPr>
        <p:spPr>
          <a:xfrm>
            <a:off x="8778240" y="-1737360"/>
            <a:ext cx="5669280" cy="5669280"/>
          </a:xfrm>
          <a:prstGeom prst="ellipse">
            <a:avLst/>
          </a:prstGeom>
          <a:solidFill>
            <a:srgbClr val="14403B"/>
          </a:solidFill>
          <a:ln/>
        </p:spPr>
      </p:sp>
      <p:sp>
        <p:nvSpPr>
          <p:cNvPr id="3" name="Shape 1"/>
          <p:cNvSpPr/>
          <p:nvPr/>
        </p:nvSpPr>
        <p:spPr>
          <a:xfrm>
            <a:off x="10241280" y="3931920"/>
            <a:ext cx="3108960" cy="3108960"/>
          </a:xfrm>
          <a:prstGeom prst="ellipse">
            <a:avLst/>
          </a:prstGeom>
          <a:solidFill>
            <a:srgbClr val="14403B"/>
          </a:solidFill>
          <a:ln/>
        </p:spPr>
      </p:sp>
      <p:sp>
        <p:nvSpPr>
          <p:cNvPr id="4" name="Text 2"/>
          <p:cNvSpPr txBox="1"/>
          <p:nvPr/>
        </p:nvSpPr>
        <p:spPr>
          <a:xfrm>
            <a:off x="731520" y="1188720"/>
            <a:ext cx="8229600" cy="274320"/>
          </a:xfrm>
          <a:prstGeom prst="rect">
            <a:avLst/>
          </a:prstGeom>
          <a:noFill/>
          <a:ln/>
        </p:spPr>
        <p:txBody>
          <a:bodyPr wrap="square" lIns="0" tIns="0" rIns="0" bIns="0" rtlCol="0" anchor="ctr"/>
          <a:lstStyle/>
          <a:p>
            <a:pPr indent="0" marL="0">
              <a:buNone/>
            </a:pPr>
            <a:r>
              <a:rPr lang="en-US" sz="1200" b="1" spc="250" kern="0" dirty="0">
                <a:solidFill>
                  <a:srgbClr val="E9A13B"/>
                </a:solidFill>
                <a:latin typeface="Calibri" pitchFamily="34" charset="0"/>
                <a:ea typeface="Calibri" pitchFamily="34" charset="-122"/>
                <a:cs typeface="Calibri" pitchFamily="34" charset="-120"/>
              </a:rPr>
              <a:t>PROOF OF CONCEPT  ·  SOLUTION REVIEW</a:t>
            </a:r>
            <a:endParaRPr lang="en-US" sz="1200" dirty="0"/>
          </a:p>
        </p:txBody>
      </p:sp>
      <p:sp>
        <p:nvSpPr>
          <p:cNvPr id="5" name="Text 3"/>
          <p:cNvSpPr txBox="1"/>
          <p:nvPr/>
        </p:nvSpPr>
        <p:spPr>
          <a:xfrm>
            <a:off x="731520" y="1600200"/>
            <a:ext cx="8412480" cy="137160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Pricing that maximises value,</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not price</a:t>
            </a:r>
            <a:endParaRPr lang="en-US" sz="3800" dirty="0"/>
          </a:p>
        </p:txBody>
      </p:sp>
      <p:sp>
        <p:nvSpPr>
          <p:cNvPr id="6" name="Text 4"/>
          <p:cNvSpPr txBox="1"/>
          <p:nvPr/>
        </p:nvSpPr>
        <p:spPr>
          <a:xfrm>
            <a:off x="731520" y="3063240"/>
            <a:ext cx="7680960" cy="822960"/>
          </a:xfrm>
          <a:prstGeom prst="rect">
            <a:avLst/>
          </a:prstGeom>
          <a:noFill/>
          <a:ln/>
        </p:spPr>
        <p:txBody>
          <a:bodyPr wrap="square" lIns="0" tIns="0" rIns="0" bIns="0" rtlCol="0" anchor="t"/>
          <a:lstStyle/>
          <a:p>
            <a:pPr indent="0" marL="0">
              <a:lnSpc>
                <a:spcPct val="110000"/>
              </a:lnSpc>
              <a:buNone/>
            </a:pPr>
            <a:r>
              <a:rPr lang="en-US" sz="1500" dirty="0">
                <a:solidFill>
                  <a:srgbClr val="A7C0BA"/>
                </a:solidFill>
                <a:latin typeface="Calibri" pitchFamily="34" charset="0"/>
                <a:ea typeface="Calibri" pitchFamily="34" charset="-122"/>
                <a:cs typeface="Calibri" pitchFamily="34" charset="-120"/>
              </a:rPr>
              <a:t>Aavas home-loan pricing, yield maximization and sales-override intelligence — the architecture, and what the engine actually produced.</a:t>
            </a:r>
            <a:endParaRPr lang="en-US" sz="1500" dirty="0"/>
          </a:p>
        </p:txBody>
      </p:sp>
      <p:sp>
        <p:nvSpPr>
          <p:cNvPr id="7" name="Text 5"/>
          <p:cNvSpPr txBox="1"/>
          <p:nvPr/>
        </p:nvSpPr>
        <p:spPr>
          <a:xfrm>
            <a:off x="731520" y="4434840"/>
            <a:ext cx="2011680" cy="640080"/>
          </a:xfrm>
          <a:prstGeom prst="rect">
            <a:avLst/>
          </a:prstGeom>
          <a:noFill/>
          <a:ln/>
        </p:spPr>
        <p:txBody>
          <a:bodyPr wrap="square" lIns="0" tIns="0" rIns="0" bIns="0" rtlCol="0" anchor="ctr"/>
          <a:lstStyle/>
          <a:p>
            <a:pPr indent="0" marL="0">
              <a:buNone/>
            </a:pPr>
            <a:r>
              <a:rPr lang="en-US" sz="3800" b="1" dirty="0">
                <a:solidFill>
                  <a:srgbClr val="E9A13B"/>
                </a:solidFill>
                <a:latin typeface="Cambria" pitchFamily="34" charset="0"/>
                <a:ea typeface="Cambria" pitchFamily="34" charset="-122"/>
                <a:cs typeface="Cambria" pitchFamily="34" charset="-120"/>
              </a:rPr>
              <a:t>10</a:t>
            </a:r>
            <a:endParaRPr lang="en-US" sz="3800" dirty="0"/>
          </a:p>
        </p:txBody>
      </p:sp>
      <p:sp>
        <p:nvSpPr>
          <p:cNvPr id="8" name="Text 6"/>
          <p:cNvSpPr txBox="1"/>
          <p:nvPr/>
        </p:nvSpPr>
        <p:spPr>
          <a:xfrm>
            <a:off x="731520" y="5074920"/>
            <a:ext cx="2011680" cy="640080"/>
          </a:xfrm>
          <a:prstGeom prst="rect">
            <a:avLst/>
          </a:prstGeom>
          <a:noFill/>
          <a:ln/>
        </p:spPr>
        <p:txBody>
          <a:bodyPr wrap="square" lIns="0" tIns="0" rIns="0" bIns="0" rtlCol="0" anchor="t"/>
          <a:lstStyle/>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agents in</a:t>
            </a:r>
            <a:endParaRPr lang="en-US" sz="1100" dirty="0"/>
          </a:p>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one pipeline</a:t>
            </a:r>
            <a:endParaRPr lang="en-US" sz="1100" dirty="0"/>
          </a:p>
        </p:txBody>
      </p:sp>
      <p:sp>
        <p:nvSpPr>
          <p:cNvPr id="9" name="Text 7"/>
          <p:cNvSpPr txBox="1"/>
          <p:nvPr/>
        </p:nvSpPr>
        <p:spPr>
          <a:xfrm>
            <a:off x="2971800" y="4434840"/>
            <a:ext cx="2011680" cy="640080"/>
          </a:xfrm>
          <a:prstGeom prst="rect">
            <a:avLst/>
          </a:prstGeom>
          <a:noFill/>
          <a:ln/>
        </p:spPr>
        <p:txBody>
          <a:bodyPr wrap="square" lIns="0" tIns="0" rIns="0" bIns="0" rtlCol="0" anchor="ctr"/>
          <a:lstStyle/>
          <a:p>
            <a:pPr indent="0" marL="0">
              <a:buNone/>
            </a:pPr>
            <a:r>
              <a:rPr lang="en-US" sz="3800" b="1" dirty="0">
                <a:solidFill>
                  <a:srgbClr val="E9A13B"/>
                </a:solidFill>
                <a:latin typeface="Cambria" pitchFamily="34" charset="0"/>
                <a:ea typeface="Cambria" pitchFamily="34" charset="-122"/>
                <a:cs typeface="Cambria" pitchFamily="34" charset="-120"/>
              </a:rPr>
              <a:t>6</a:t>
            </a:r>
            <a:endParaRPr lang="en-US" sz="3800" dirty="0"/>
          </a:p>
        </p:txBody>
      </p:sp>
      <p:sp>
        <p:nvSpPr>
          <p:cNvPr id="10" name="Text 8"/>
          <p:cNvSpPr txBox="1"/>
          <p:nvPr/>
        </p:nvSpPr>
        <p:spPr>
          <a:xfrm>
            <a:off x="2971800" y="5074920"/>
            <a:ext cx="2011680" cy="640080"/>
          </a:xfrm>
          <a:prstGeom prst="rect">
            <a:avLst/>
          </a:prstGeom>
          <a:noFill/>
          <a:ln/>
        </p:spPr>
        <p:txBody>
          <a:bodyPr wrap="square" lIns="0" tIns="0" rIns="0" bIns="0" rtlCol="0" anchor="t"/>
          <a:lstStyle/>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registered</a:t>
            </a:r>
            <a:endParaRPr lang="en-US" sz="1100" dirty="0"/>
          </a:p>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model artefacts</a:t>
            </a:r>
            <a:endParaRPr lang="en-US" sz="1100" dirty="0"/>
          </a:p>
        </p:txBody>
      </p:sp>
      <p:sp>
        <p:nvSpPr>
          <p:cNvPr id="11" name="Text 9"/>
          <p:cNvSpPr txBox="1"/>
          <p:nvPr/>
        </p:nvSpPr>
        <p:spPr>
          <a:xfrm>
            <a:off x="5212080" y="4434840"/>
            <a:ext cx="2011680" cy="640080"/>
          </a:xfrm>
          <a:prstGeom prst="rect">
            <a:avLst/>
          </a:prstGeom>
          <a:noFill/>
          <a:ln/>
        </p:spPr>
        <p:txBody>
          <a:bodyPr wrap="square" lIns="0" tIns="0" rIns="0" bIns="0" rtlCol="0" anchor="ctr"/>
          <a:lstStyle/>
          <a:p>
            <a:pPr indent="0" marL="0">
              <a:buNone/>
            </a:pPr>
            <a:r>
              <a:rPr lang="en-US" sz="3800" b="1" dirty="0">
                <a:solidFill>
                  <a:srgbClr val="E9A13B"/>
                </a:solidFill>
                <a:latin typeface="Cambria" pitchFamily="34" charset="0"/>
                <a:ea typeface="Cambria" pitchFamily="34" charset="-122"/>
                <a:cs typeface="Cambria" pitchFamily="34" charset="-120"/>
              </a:rPr>
              <a:t>4</a:t>
            </a:r>
            <a:endParaRPr lang="en-US" sz="3800" dirty="0"/>
          </a:p>
        </p:txBody>
      </p:sp>
      <p:sp>
        <p:nvSpPr>
          <p:cNvPr id="12" name="Text 10"/>
          <p:cNvSpPr txBox="1"/>
          <p:nvPr/>
        </p:nvSpPr>
        <p:spPr>
          <a:xfrm>
            <a:off x="5212080" y="5074920"/>
            <a:ext cx="2011680" cy="640080"/>
          </a:xfrm>
          <a:prstGeom prst="rect">
            <a:avLst/>
          </a:prstGeom>
          <a:noFill/>
          <a:ln/>
        </p:spPr>
        <p:txBody>
          <a:bodyPr wrap="square" lIns="0" tIns="0" rIns="0" bIns="0" rtlCol="0" anchor="t"/>
          <a:lstStyle/>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POST endpoints</a:t>
            </a:r>
            <a:endParaRPr lang="en-US" sz="1100" dirty="0"/>
          </a:p>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to the LOS</a:t>
            </a:r>
            <a:endParaRPr lang="en-US" sz="1100" dirty="0"/>
          </a:p>
        </p:txBody>
      </p:sp>
      <p:sp>
        <p:nvSpPr>
          <p:cNvPr id="13" name="Text 11"/>
          <p:cNvSpPr txBox="1"/>
          <p:nvPr/>
        </p:nvSpPr>
        <p:spPr>
          <a:xfrm>
            <a:off x="7452360" y="4434840"/>
            <a:ext cx="2011680" cy="640080"/>
          </a:xfrm>
          <a:prstGeom prst="rect">
            <a:avLst/>
          </a:prstGeom>
          <a:noFill/>
          <a:ln/>
        </p:spPr>
        <p:txBody>
          <a:bodyPr wrap="square" lIns="0" tIns="0" rIns="0" bIns="0" rtlCol="0" anchor="ctr"/>
          <a:lstStyle/>
          <a:p>
            <a:pPr indent="0" marL="0">
              <a:buNone/>
            </a:pPr>
            <a:r>
              <a:rPr lang="en-US" sz="3800" b="1" dirty="0">
                <a:solidFill>
                  <a:srgbClr val="E9A13B"/>
                </a:solidFill>
                <a:latin typeface="Cambria" pitchFamily="34" charset="0"/>
                <a:ea typeface="Cambria" pitchFamily="34" charset="-122"/>
                <a:cs typeface="Cambria" pitchFamily="34" charset="-120"/>
              </a:rPr>
              <a:t>88</a:t>
            </a:r>
            <a:endParaRPr lang="en-US" sz="3800" dirty="0"/>
          </a:p>
        </p:txBody>
      </p:sp>
      <p:sp>
        <p:nvSpPr>
          <p:cNvPr id="14" name="Text 12"/>
          <p:cNvSpPr txBox="1"/>
          <p:nvPr/>
        </p:nvSpPr>
        <p:spPr>
          <a:xfrm>
            <a:off x="7452360" y="5074920"/>
            <a:ext cx="2011680" cy="640080"/>
          </a:xfrm>
          <a:prstGeom prst="rect">
            <a:avLst/>
          </a:prstGeom>
          <a:noFill/>
          <a:ln/>
        </p:spPr>
        <p:txBody>
          <a:bodyPr wrap="square" lIns="0" tIns="0" rIns="0" bIns="0" rtlCol="0" anchor="t"/>
          <a:lstStyle/>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tests across</a:t>
            </a:r>
            <a:endParaRPr lang="en-US" sz="1100" dirty="0"/>
          </a:p>
          <a:p>
            <a:pPr indent="0" marL="0">
              <a:lnSpc>
                <a:spcPct val="95000"/>
              </a:lnSpc>
              <a:buNone/>
            </a:pPr>
            <a:r>
              <a:rPr lang="en-US" sz="1100" dirty="0">
                <a:solidFill>
                  <a:srgbClr val="A7C0BA"/>
                </a:solidFill>
                <a:latin typeface="Calibri" pitchFamily="34" charset="0"/>
                <a:ea typeface="Calibri" pitchFamily="34" charset="-122"/>
                <a:cs typeface="Calibri" pitchFamily="34" charset="-120"/>
              </a:rPr>
              <a:t>the suite</a:t>
            </a:r>
            <a:endParaRPr lang="en-US" sz="1100" dirty="0"/>
          </a:p>
        </p:txBody>
      </p:sp>
      <p:sp>
        <p:nvSpPr>
          <p:cNvPr id="15" name="Text 13"/>
          <p:cNvSpPr txBox="1"/>
          <p:nvPr/>
        </p:nvSpPr>
        <p:spPr>
          <a:xfrm>
            <a:off x="731520" y="5989320"/>
            <a:ext cx="10698480" cy="36576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The engine recommends and explains. It never approves.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One application, priced twice</a:t>
            </a:r>
            <a:endParaRPr lang="en-US" sz="3200" dirty="0"/>
          </a:p>
        </p:txBody>
      </p:sp>
      <p:sp>
        <p:nvSpPr>
          <p:cNvPr id="4" name="Shape 2"/>
          <p:cNvSpPr/>
          <p:nvPr/>
        </p:nvSpPr>
        <p:spPr>
          <a:xfrm>
            <a:off x="594360" y="1554480"/>
            <a:ext cx="5349240" cy="3794760"/>
          </a:xfrm>
          <a:prstGeom prst="roundRect">
            <a:avLst>
              <a:gd name="adj" fmla="val 1446"/>
            </a:avLst>
          </a:prstGeom>
          <a:solidFill>
            <a:srgbClr val="F1F4F3"/>
          </a:solidFill>
          <a:ln/>
          <a:effectLst>
            <a:outerShdw sx="100000" sy="100000" kx="0" ky="0" algn="bl" rotWithShape="0" blurRad="127000" dist="25400" dir="5400000">
              <a:srgbClr val="0C2D2A">
                <a:alpha val="10000"/>
              </a:srgbClr>
            </a:outerShdw>
          </a:effectLst>
        </p:spPr>
      </p:sp>
      <p:sp>
        <p:nvSpPr>
          <p:cNvPr id="5" name="Shape 3"/>
          <p:cNvSpPr/>
          <p:nvPr/>
        </p:nvSpPr>
        <p:spPr>
          <a:xfrm>
            <a:off x="914400" y="1828800"/>
            <a:ext cx="384048" cy="384048"/>
          </a:xfrm>
          <a:prstGeom prst="ellipse">
            <a:avLst/>
          </a:prstGeom>
          <a:solidFill>
            <a:srgbClr val="E9A13B"/>
          </a:solidFill>
          <a:ln/>
        </p:spPr>
      </p:sp>
      <p:sp>
        <p:nvSpPr>
          <p:cNvPr id="6" name="Text 4"/>
          <p:cNvSpPr txBox="1"/>
          <p:nvPr/>
        </p:nvSpPr>
        <p:spPr>
          <a:xfrm>
            <a:off x="914400" y="1828800"/>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17320" y="1828800"/>
            <a:ext cx="4206240" cy="384048"/>
          </a:xfrm>
          <a:prstGeom prst="rect">
            <a:avLst/>
          </a:prstGeom>
          <a:noFill/>
          <a:ln/>
        </p:spPr>
        <p:txBody>
          <a:bodyPr wrap="square" lIns="0" tIns="0" rIns="0" bIns="0" rtlCol="0" anchor="ctr"/>
          <a:lstStyle/>
          <a:p>
            <a:pPr indent="0" marL="0">
              <a:buNone/>
            </a:pPr>
            <a:r>
              <a:rPr lang="en-US" sz="1600" b="1" dirty="0">
                <a:solidFill>
                  <a:srgbClr val="17211F"/>
                </a:solidFill>
                <a:latin typeface="Calibri" pitchFamily="34" charset="0"/>
                <a:ea typeface="Calibri" pitchFamily="34" charset="-122"/>
                <a:cs typeface="Calibri" pitchFamily="34" charset="-120"/>
              </a:rPr>
              <a:t>Stage 1 — pre-assessment</a:t>
            </a:r>
            <a:endParaRPr lang="en-US" sz="1600" dirty="0"/>
          </a:p>
        </p:txBody>
      </p:sp>
      <p:sp>
        <p:nvSpPr>
          <p:cNvPr id="8" name="Text 6"/>
          <p:cNvSpPr txBox="1"/>
          <p:nvPr/>
        </p:nvSpPr>
        <p:spPr>
          <a:xfrm>
            <a:off x="914400" y="2331720"/>
            <a:ext cx="4709160" cy="777240"/>
          </a:xfrm>
          <a:prstGeom prst="rect">
            <a:avLst/>
          </a:prstGeom>
          <a:noFill/>
          <a:ln/>
        </p:spPr>
        <p:txBody>
          <a:bodyPr wrap="square" lIns="0" tIns="0" rIns="0" bIns="0" rtlCol="0" anchor="t"/>
          <a:lstStyle/>
          <a:p>
            <a:pPr indent="0" marL="0">
              <a:lnSpc>
                <a:spcPct val="105000"/>
              </a:lnSpc>
              <a:buNone/>
            </a:pPr>
            <a:r>
              <a:rPr lang="en-US" sz="1200" dirty="0">
                <a:solidFill>
                  <a:srgbClr val="5E6B68"/>
                </a:solidFill>
                <a:latin typeface="Calibri" pitchFamily="34" charset="0"/>
                <a:ea typeface="Calibri" pitchFamily="34" charset="-122"/>
                <a:cs typeface="Calibri" pitchFamily="34" charset="-120"/>
              </a:rPr>
              <a:t>Income is self-declared, the property may be unvisited, there may be no bureau file. A single precise rate here is a promise the underwriter has to break.</a:t>
            </a:r>
            <a:endParaRPr lang="en-US" sz="1200" dirty="0"/>
          </a:p>
        </p:txBody>
      </p:sp>
      <p:sp>
        <p:nvSpPr>
          <p:cNvPr id="9" name="Shape 7"/>
          <p:cNvSpPr/>
          <p:nvPr/>
        </p:nvSpPr>
        <p:spPr>
          <a:xfrm>
            <a:off x="914400" y="3200400"/>
            <a:ext cx="4709160" cy="1371600"/>
          </a:xfrm>
          <a:prstGeom prst="roundRect">
            <a:avLst>
              <a:gd name="adj" fmla="val 4000"/>
            </a:avLst>
          </a:prstGeom>
          <a:solidFill>
            <a:srgbClr val="E4EAE8"/>
          </a:solidFill>
          <a:ln/>
          <a:effectLst>
            <a:outerShdw sx="100000" sy="100000" kx="0" ky="0" algn="bl" rotWithShape="0" blurRad="127000" dist="25400" dir="5400000">
              <a:srgbClr val="0C2D2A">
                <a:alpha val="10000"/>
              </a:srgbClr>
            </a:outerShdw>
          </a:effectLst>
        </p:spPr>
      </p:sp>
      <p:sp>
        <p:nvSpPr>
          <p:cNvPr id="10" name="Text 8"/>
          <p:cNvSpPr txBox="1"/>
          <p:nvPr/>
        </p:nvSpPr>
        <p:spPr>
          <a:xfrm>
            <a:off x="1143000" y="3310128"/>
            <a:ext cx="2103120" cy="1143000"/>
          </a:xfrm>
          <a:prstGeom prst="rect">
            <a:avLst/>
          </a:prstGeom>
          <a:noFill/>
          <a:ln/>
        </p:spPr>
        <p:txBody>
          <a:bodyPr wrap="square" lIns="0" tIns="0" rIns="0" bIns="0" rtlCol="0" anchor="ctr"/>
          <a:lstStyle/>
          <a:p>
            <a:pPr indent="0" marL="0">
              <a:lnSpc>
                <a:spcPct val="135000"/>
              </a:lnSpc>
              <a:buNone/>
            </a:pPr>
            <a:r>
              <a:rPr lang="en-US" sz="1100" dirty="0">
                <a:solidFill>
                  <a:srgbClr val="5E6B68"/>
                </a:solidFill>
                <a:latin typeface="Courier New" pitchFamily="34" charset="0"/>
                <a:ea typeface="Courier New" pitchFamily="34" charset="-122"/>
                <a:cs typeface="Courier New" pitchFamily="34" charset="-120"/>
              </a:rPr>
              <a:t>Indicative range</a:t>
            </a:r>
            <a:endParaRPr lang="en-US" sz="1100" dirty="0"/>
          </a:p>
          <a:p>
            <a:pPr indent="0" marL="0">
              <a:lnSpc>
                <a:spcPct val="135000"/>
              </a:lnSpc>
              <a:buNone/>
            </a:pPr>
            <a:r>
              <a:rPr lang="en-US" sz="1100" dirty="0">
                <a:solidFill>
                  <a:srgbClr val="5E6B68"/>
                </a:solidFill>
                <a:latin typeface="Courier New" pitchFamily="34" charset="0"/>
                <a:ea typeface="Courier New" pitchFamily="34" charset="-122"/>
                <a:cs typeface="Courier New" pitchFamily="34" charset="-120"/>
              </a:rPr>
              <a:t>Confidence</a:t>
            </a:r>
            <a:endParaRPr lang="en-US" sz="1100" dirty="0"/>
          </a:p>
          <a:p>
            <a:pPr indent="0" marL="0">
              <a:lnSpc>
                <a:spcPct val="135000"/>
              </a:lnSpc>
              <a:buNone/>
            </a:pPr>
            <a:r>
              <a:rPr lang="en-US" sz="1100" dirty="0">
                <a:solidFill>
                  <a:srgbClr val="5E6B68"/>
                </a:solidFill>
                <a:latin typeface="Courier New" pitchFamily="34" charset="0"/>
                <a:ea typeface="Courier New" pitchFamily="34" charset="-122"/>
                <a:cs typeface="Courier New" pitchFamily="34" charset="-120"/>
              </a:rPr>
              <a:t>Eligible amount</a:t>
            </a:r>
            <a:endParaRPr lang="en-US" sz="1100" dirty="0"/>
          </a:p>
        </p:txBody>
      </p:sp>
      <p:sp>
        <p:nvSpPr>
          <p:cNvPr id="11" name="Text 9"/>
          <p:cNvSpPr txBox="1"/>
          <p:nvPr/>
        </p:nvSpPr>
        <p:spPr>
          <a:xfrm>
            <a:off x="3291840" y="3310128"/>
            <a:ext cx="2194560" cy="1143000"/>
          </a:xfrm>
          <a:prstGeom prst="rect">
            <a:avLst/>
          </a:prstGeom>
          <a:noFill/>
          <a:ln/>
        </p:spPr>
        <p:txBody>
          <a:bodyPr wrap="square" lIns="0" tIns="0" rIns="0" bIns="0" rtlCol="0" anchor="ctr"/>
          <a:lstStyle/>
          <a:p>
            <a:pPr indent="0" marL="0">
              <a:lnSpc>
                <a:spcPct val="135000"/>
              </a:lnSpc>
              <a:buNone/>
            </a:pPr>
            <a:r>
              <a:rPr lang="en-US" sz="1100" b="1" dirty="0">
                <a:solidFill>
                  <a:srgbClr val="17211F"/>
                </a:solidFill>
                <a:latin typeface="Courier New" pitchFamily="34" charset="0"/>
                <a:ea typeface="Courier New" pitchFamily="34" charset="-122"/>
                <a:cs typeface="Courier New" pitchFamily="34" charset="-120"/>
              </a:rPr>
              <a:t>11.60% – 12.35%</a:t>
            </a:r>
            <a:endParaRPr lang="en-US" sz="1100" dirty="0"/>
          </a:p>
          <a:p>
            <a:pPr indent="0" marL="0">
              <a:lnSpc>
                <a:spcPct val="135000"/>
              </a:lnSpc>
              <a:buNone/>
            </a:pPr>
            <a:r>
              <a:rPr lang="en-US" sz="1100" b="1" dirty="0">
                <a:solidFill>
                  <a:srgbClr val="17211F"/>
                </a:solidFill>
                <a:latin typeface="Courier New" pitchFamily="34" charset="0"/>
                <a:ea typeface="Courier New" pitchFamily="34" charset="-122"/>
                <a:cs typeface="Courier New" pitchFamily="34" charset="-120"/>
              </a:rPr>
              <a:t>0.78 (high)</a:t>
            </a:r>
            <a:endParaRPr lang="en-US" sz="1100" dirty="0"/>
          </a:p>
          <a:p>
            <a:pPr indent="0" marL="0">
              <a:lnSpc>
                <a:spcPct val="135000"/>
              </a:lnSpc>
              <a:buNone/>
            </a:pPr>
            <a:r>
              <a:rPr lang="en-US" sz="1100" b="1" dirty="0">
                <a:solidFill>
                  <a:srgbClr val="17211F"/>
                </a:solidFill>
                <a:latin typeface="Courier New" pitchFamily="34" charset="0"/>
                <a:ea typeface="Courier New" pitchFamily="34" charset="-122"/>
                <a:cs typeface="Courier New" pitchFamily="34" charset="-120"/>
              </a:rPr>
              <a:t>Rs 12,51,000</a:t>
            </a:r>
            <a:endParaRPr lang="en-US" sz="1100" dirty="0"/>
          </a:p>
        </p:txBody>
      </p:sp>
      <p:sp>
        <p:nvSpPr>
          <p:cNvPr id="12" name="Text 10"/>
          <p:cNvSpPr txBox="1"/>
          <p:nvPr/>
        </p:nvSpPr>
        <p:spPr>
          <a:xfrm>
            <a:off x="914400" y="4681728"/>
            <a:ext cx="4709160" cy="548640"/>
          </a:xfrm>
          <a:prstGeom prst="rect">
            <a:avLst/>
          </a:prstGeom>
          <a:noFill/>
          <a:ln/>
        </p:spPr>
        <p:txBody>
          <a:bodyPr wrap="square" lIns="0" tIns="0" rIns="0" bIns="0" rtlCol="0" anchor="t"/>
          <a:lstStyle/>
          <a:p>
            <a:pPr indent="0" marL="0">
              <a:lnSpc>
                <a:spcPct val="100000"/>
              </a:lnSpc>
              <a:buNone/>
            </a:pPr>
            <a:r>
              <a:rPr lang="en-US" sz="1100" dirty="0">
                <a:solidFill>
                  <a:srgbClr val="5E6B68"/>
                </a:solidFill>
                <a:latin typeface="Calibri" pitchFamily="34" charset="0"/>
                <a:ea typeface="Calibri" pitchFamily="34" charset="-122"/>
                <a:cs typeface="Calibri" pitchFamily="34" charset="-120"/>
              </a:rPr>
              <a:t>An interval from a quantile trio (q10 / q50 / q90), clamped to the product envelope and to a credibility window — too tight is falsely precise, too wide is not a quote.</a:t>
            </a:r>
            <a:endParaRPr lang="en-US" sz="1100" dirty="0"/>
          </a:p>
        </p:txBody>
      </p:sp>
      <p:sp>
        <p:nvSpPr>
          <p:cNvPr id="13" name="Shape 11"/>
          <p:cNvSpPr/>
          <p:nvPr/>
        </p:nvSpPr>
        <p:spPr>
          <a:xfrm>
            <a:off x="6217920" y="1554480"/>
            <a:ext cx="5349240" cy="3794760"/>
          </a:xfrm>
          <a:prstGeom prst="roundRect">
            <a:avLst>
              <a:gd name="adj" fmla="val 1446"/>
            </a:avLst>
          </a:prstGeom>
          <a:solidFill>
            <a:srgbClr val="0C2D2A"/>
          </a:solidFill>
          <a:ln/>
          <a:effectLst>
            <a:outerShdw sx="100000" sy="100000" kx="0" ky="0" algn="bl" rotWithShape="0" blurRad="127000" dist="25400" dir="5400000">
              <a:srgbClr val="0C2D2A">
                <a:alpha val="10000"/>
              </a:srgbClr>
            </a:outerShdw>
          </a:effectLst>
        </p:spPr>
      </p:sp>
      <p:sp>
        <p:nvSpPr>
          <p:cNvPr id="14" name="Shape 12"/>
          <p:cNvSpPr/>
          <p:nvPr/>
        </p:nvSpPr>
        <p:spPr>
          <a:xfrm>
            <a:off x="6537960" y="1828800"/>
            <a:ext cx="384048" cy="384048"/>
          </a:xfrm>
          <a:prstGeom prst="ellipse">
            <a:avLst/>
          </a:prstGeom>
          <a:solidFill>
            <a:srgbClr val="E9A13B"/>
          </a:solidFill>
          <a:ln/>
        </p:spPr>
      </p:sp>
      <p:sp>
        <p:nvSpPr>
          <p:cNvPr id="15" name="Text 13"/>
          <p:cNvSpPr txBox="1"/>
          <p:nvPr/>
        </p:nvSpPr>
        <p:spPr>
          <a:xfrm>
            <a:off x="6537960" y="1828800"/>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7040880" y="1828800"/>
            <a:ext cx="420624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Stage 2 — post-assessment</a:t>
            </a:r>
            <a:endParaRPr lang="en-US" sz="1600" dirty="0"/>
          </a:p>
        </p:txBody>
      </p:sp>
      <p:sp>
        <p:nvSpPr>
          <p:cNvPr id="17" name="Text 15"/>
          <p:cNvSpPr txBox="1"/>
          <p:nvPr/>
        </p:nvSpPr>
        <p:spPr>
          <a:xfrm>
            <a:off x="6537960" y="2331720"/>
            <a:ext cx="4709160" cy="640080"/>
          </a:xfrm>
          <a:prstGeom prst="rect">
            <a:avLst/>
          </a:prstGeom>
          <a:noFill/>
          <a:ln/>
        </p:spPr>
        <p:txBody>
          <a:bodyPr wrap="square" lIns="0" tIns="0" rIns="0" bIns="0" rtlCol="0" anchor="t"/>
          <a:lstStyle/>
          <a:p>
            <a:pPr indent="0" marL="0">
              <a:lnSpc>
                <a:spcPct val="105000"/>
              </a:lnSpc>
              <a:buNone/>
            </a:pPr>
            <a:r>
              <a:rPr lang="en-US" sz="1200" dirty="0">
                <a:solidFill>
                  <a:srgbClr val="A7C0BA"/>
                </a:solidFill>
                <a:latin typeface="Calibri" pitchFamily="34" charset="0"/>
                <a:ea typeface="Calibri" pitchFamily="34" charset="-122"/>
                <a:cs typeface="Calibri" pitchFamily="34" charset="-120"/>
              </a:rPr>
              <a:t>Verified income, valuation, LTV, bureau depth, banking behaviour, deviations, legal and technical outcomes are all known.</a:t>
            </a:r>
            <a:endParaRPr lang="en-US" sz="1200" dirty="0"/>
          </a:p>
        </p:txBody>
      </p:sp>
      <p:sp>
        <p:nvSpPr>
          <p:cNvPr id="18" name="Text 16"/>
          <p:cNvSpPr txBox="1"/>
          <p:nvPr/>
        </p:nvSpPr>
        <p:spPr>
          <a:xfrm>
            <a:off x="6537960" y="3063240"/>
            <a:ext cx="4709160" cy="1920240"/>
          </a:xfrm>
          <a:prstGeom prst="rect">
            <a:avLst/>
          </a:prstGeom>
          <a:noFill/>
          <a:ln/>
        </p:spPr>
        <p:txBody>
          <a:bodyPr wrap="square" rtlCol="0" anchor="t"/>
          <a:lstStyle/>
          <a:p>
            <a:pPr marL="342900" indent="-342900">
              <a:lnSpc>
                <a:spcPct val="105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Simulate every permissible price on a 5 bps grid</a:t>
            </a:r>
            <a:endParaRPr lang="en-US" sz="1200" dirty="0"/>
          </a:p>
          <a:p>
            <a:pPr marL="342900" indent="-342900">
              <a:lnSpc>
                <a:spcPct val="105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Price each one in rupees of risk-adjusted value</a:t>
            </a:r>
            <a:endParaRPr lang="en-US" sz="1200" dirty="0"/>
          </a:p>
          <a:p>
            <a:pPr marL="342900" indent="-342900">
              <a:lnSpc>
                <a:spcPct val="105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Recommend the value-maximising price, subject to policy and to conversion / portfolio guard-rails</a:t>
            </a:r>
            <a:endParaRPr lang="en-US" sz="1200" dirty="0"/>
          </a:p>
          <a:p>
            <a:pPr marL="342900" indent="-342900">
              <a:lnSpc>
                <a:spcPct val="105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Name the lowest authority that may sign it</a:t>
            </a:r>
            <a:endParaRPr lang="en-US" sz="1200" dirty="0"/>
          </a:p>
        </p:txBody>
      </p:sp>
      <p:sp>
        <p:nvSpPr>
          <p:cNvPr id="19" name="Text 17"/>
          <p:cNvSpPr txBox="1"/>
          <p:nvPr/>
        </p:nvSpPr>
        <p:spPr>
          <a:xfrm>
            <a:off x="6537960" y="4800600"/>
            <a:ext cx="4709160" cy="365760"/>
          </a:xfrm>
          <a:prstGeom prst="rect">
            <a:avLst/>
          </a:prstGeom>
          <a:noFill/>
          <a:ln/>
        </p:spPr>
        <p:txBody>
          <a:bodyPr wrap="square" lIns="0" tIns="0" rIns="0" bIns="0" rtlCol="0" anchor="ctr"/>
          <a:lstStyle/>
          <a:p>
            <a:pPr indent="0" marL="0">
              <a:buNone/>
            </a:pPr>
            <a:r>
              <a:rPr lang="en-US" sz="1200" b="1" dirty="0">
                <a:solidFill>
                  <a:srgbClr val="E9A13B"/>
                </a:solidFill>
                <a:latin typeface="Courier New" pitchFamily="34" charset="0"/>
                <a:ea typeface="Courier New" pitchFamily="34" charset="-122"/>
                <a:cs typeface="Courier New" pitchFamily="34" charset="-120"/>
              </a:rPr>
              <a:t>human_decision_required: true</a:t>
            </a:r>
            <a:endParaRPr lang="en-US" sz="1200" dirty="0"/>
          </a:p>
        </p:txBody>
      </p:sp>
      <p:sp>
        <p:nvSpPr>
          <p:cNvPr id="20" name="Text 18"/>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Everything after Stage 2 is governance: the human decision is captured beside the recommendation, never instead of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D2A"/>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E9A13B"/>
                </a:solidFill>
                <a:latin typeface="Calibri" pitchFamily="34" charset="0"/>
                <a:ea typeface="Calibri" pitchFamily="34" charset="-122"/>
                <a:cs typeface="Calibri" pitchFamily="34" charset="-120"/>
              </a:rPr>
              <a:t>THE CORE DESIGN DECISION</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This is not a rate-prediction model</a:t>
            </a:r>
            <a:endParaRPr lang="en-US" sz="3200" dirty="0"/>
          </a:p>
        </p:txBody>
      </p:sp>
      <p:sp>
        <p:nvSpPr>
          <p:cNvPr id="4" name="Shape 2"/>
          <p:cNvSpPr/>
          <p:nvPr/>
        </p:nvSpPr>
        <p:spPr>
          <a:xfrm>
            <a:off x="594360" y="1645920"/>
            <a:ext cx="5029200" cy="1828800"/>
          </a:xfrm>
          <a:prstGeom prst="roundRect">
            <a:avLst>
              <a:gd name="adj" fmla="val 3000"/>
            </a:avLst>
          </a:prstGeom>
          <a:solidFill>
            <a:srgbClr val="14403B"/>
          </a:solidFill>
          <a:ln/>
          <a:effectLst>
            <a:outerShdw sx="100000" sy="100000" kx="0" ky="0" algn="bl" rotWithShape="0" blurRad="127000" dist="25400" dir="5400000">
              <a:srgbClr val="0C2D2A">
                <a:alpha val="10000"/>
              </a:srgbClr>
            </a:outerShdw>
          </a:effectLst>
        </p:spPr>
      </p:sp>
      <p:sp>
        <p:nvSpPr>
          <p:cNvPr id="5" name="Text 3"/>
          <p:cNvSpPr txBox="1"/>
          <p:nvPr/>
        </p:nvSpPr>
        <p:spPr>
          <a:xfrm>
            <a:off x="914400" y="1847088"/>
            <a:ext cx="4480560" cy="320040"/>
          </a:xfrm>
          <a:prstGeom prst="rect">
            <a:avLst/>
          </a:prstGeom>
          <a:noFill/>
          <a:ln/>
        </p:spPr>
        <p:txBody>
          <a:bodyPr wrap="square" lIns="0" tIns="0" rIns="0" bIns="0" rtlCol="0" anchor="t"/>
          <a:lstStyle/>
          <a:p>
            <a:pPr indent="0" marL="0">
              <a:buNone/>
            </a:pPr>
            <a:r>
              <a:rPr lang="en-US" sz="1200" b="1" dirty="0">
                <a:solidFill>
                  <a:srgbClr val="B24A3C"/>
                </a:solidFill>
                <a:latin typeface="Calibri" pitchFamily="34" charset="0"/>
                <a:ea typeface="Calibri" pitchFamily="34" charset="-122"/>
                <a:cs typeface="Calibri" pitchFamily="34" charset="-120"/>
              </a:rPr>
              <a:t>What a prediction model would do</a:t>
            </a:r>
            <a:endParaRPr lang="en-US" sz="1200" dirty="0"/>
          </a:p>
        </p:txBody>
      </p:sp>
      <p:sp>
        <p:nvSpPr>
          <p:cNvPr id="6" name="Text 4"/>
          <p:cNvSpPr txBox="1"/>
          <p:nvPr/>
        </p:nvSpPr>
        <p:spPr>
          <a:xfrm>
            <a:off x="914400" y="2286000"/>
            <a:ext cx="448056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Learn the sanctioned rate from history — and so reproduce historical commercial behaviour, including its mistakes.</a:t>
            </a:r>
            <a:endParaRPr lang="en-US" sz="1400" dirty="0"/>
          </a:p>
        </p:txBody>
      </p:sp>
      <p:sp>
        <p:nvSpPr>
          <p:cNvPr id="7" name="Shape 5"/>
          <p:cNvSpPr/>
          <p:nvPr/>
        </p:nvSpPr>
        <p:spPr>
          <a:xfrm>
            <a:off x="6355080" y="1645920"/>
            <a:ext cx="5212080" cy="1828800"/>
          </a:xfrm>
          <a:prstGeom prst="roundRect">
            <a:avLst>
              <a:gd name="adj" fmla="val 3000"/>
            </a:avLst>
          </a:prstGeom>
          <a:solidFill>
            <a:srgbClr val="14403B"/>
          </a:solidFill>
          <a:ln/>
          <a:effectLst>
            <a:outerShdw sx="100000" sy="100000" kx="0" ky="0" algn="bl" rotWithShape="0" blurRad="127000" dist="25400" dir="5400000">
              <a:srgbClr val="0C2D2A">
                <a:alpha val="10000"/>
              </a:srgbClr>
            </a:outerShdw>
          </a:effectLst>
        </p:spPr>
      </p:sp>
      <p:sp>
        <p:nvSpPr>
          <p:cNvPr id="8" name="Text 6"/>
          <p:cNvSpPr txBox="1"/>
          <p:nvPr/>
        </p:nvSpPr>
        <p:spPr>
          <a:xfrm>
            <a:off x="6675120" y="1847088"/>
            <a:ext cx="4572000" cy="320040"/>
          </a:xfrm>
          <a:prstGeom prst="rect">
            <a:avLst/>
          </a:prstGeom>
          <a:noFill/>
          <a:ln/>
        </p:spPr>
        <p:txBody>
          <a:bodyPr wrap="square" lIns="0" tIns="0" rIns="0" bIns="0" rtlCol="0" anchor="t"/>
          <a:lstStyle/>
          <a:p>
            <a:pPr indent="0" marL="0">
              <a:buNone/>
            </a:pPr>
            <a:r>
              <a:rPr lang="en-US" sz="1200" b="1" dirty="0">
                <a:solidFill>
                  <a:srgbClr val="E9A13B"/>
                </a:solidFill>
                <a:latin typeface="Calibri" pitchFamily="34" charset="0"/>
                <a:ea typeface="Calibri" pitchFamily="34" charset="-122"/>
                <a:cs typeface="Calibri" pitchFamily="34" charset="-120"/>
              </a:rPr>
              <a:t>What this engine does</a:t>
            </a:r>
            <a:endParaRPr lang="en-US" sz="1200" dirty="0"/>
          </a:p>
        </p:txBody>
      </p:sp>
      <p:sp>
        <p:nvSpPr>
          <p:cNvPr id="9" name="Text 7"/>
          <p:cNvSpPr txBox="1"/>
          <p:nvPr/>
        </p:nvSpPr>
        <p:spPr>
          <a:xfrm>
            <a:off x="6675120" y="2286000"/>
            <a:ext cx="4572000" cy="1051560"/>
          </a:xfrm>
          <a:prstGeom prst="rect">
            <a:avLst/>
          </a:prstGeom>
          <a:noFill/>
          <a:ln/>
        </p:spPr>
        <p:txBody>
          <a:bodyPr wrap="square" lIns="0" tIns="0" rIns="0" bIns="0" rtlCol="0" anchor="t"/>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The Stage-2 model produces an anchor. The recommendation comes from simulating every permissible price and choosing the one that maximises risk-adjusted value.</a:t>
            </a:r>
            <a:endParaRPr lang="en-US" sz="1400" dirty="0"/>
          </a:p>
        </p:txBody>
      </p:sp>
      <p:sp>
        <p:nvSpPr>
          <p:cNvPr id="10" name="Shape 8"/>
          <p:cNvSpPr/>
          <p:nvPr/>
        </p:nvSpPr>
        <p:spPr>
          <a:xfrm>
            <a:off x="594360" y="3794760"/>
            <a:ext cx="10972800" cy="1600200"/>
          </a:xfrm>
          <a:prstGeom prst="roundRect">
            <a:avLst>
              <a:gd name="adj" fmla="val 3429"/>
            </a:avLst>
          </a:prstGeom>
          <a:solidFill>
            <a:srgbClr val="14403B"/>
          </a:solidFill>
          <a:ln/>
          <a:effectLst>
            <a:outerShdw sx="100000" sy="100000" kx="0" ky="0" algn="bl" rotWithShape="0" blurRad="127000" dist="25400" dir="5400000">
              <a:srgbClr val="0C2D2A">
                <a:alpha val="10000"/>
              </a:srgbClr>
            </a:outerShdw>
          </a:effectLst>
        </p:spPr>
      </p:sp>
      <p:sp>
        <p:nvSpPr>
          <p:cNvPr id="11" name="Text 9"/>
          <p:cNvSpPr txBox="1"/>
          <p:nvPr/>
        </p:nvSpPr>
        <p:spPr>
          <a:xfrm>
            <a:off x="914400" y="3977640"/>
            <a:ext cx="10332720" cy="1234440"/>
          </a:xfrm>
          <a:prstGeom prst="rect">
            <a:avLst/>
          </a:prstGeom>
          <a:noFill/>
          <a:ln/>
        </p:spPr>
        <p:txBody>
          <a:bodyPr wrap="square" lIns="0" tIns="0" rIns="0" bIns="0" rtlCol="0" anchor="ctr"/>
          <a:lstStyle/>
          <a:p>
            <a:pPr indent="0" marL="0">
              <a:lnSpc>
                <a:spcPct val="140000"/>
              </a:lnSpc>
              <a:buNone/>
            </a:pPr>
            <a:r>
              <a:rPr lang="en-US" sz="1500" b="1" dirty="0">
                <a:solidFill>
                  <a:srgbClr val="E9A13B"/>
                </a:solidFill>
                <a:latin typeface="Courier New" pitchFamily="34" charset="0"/>
                <a:ea typeface="Courier New" pitchFamily="34" charset="-122"/>
                <a:cs typeface="Courier New" pitchFamily="34" charset="-120"/>
              </a:rPr>
              <a:t>Risk-Adjusted Value</a:t>
            </a:r>
            <a:pPr indent="0" marL="0">
              <a:lnSpc>
                <a:spcPct val="140000"/>
              </a:lnSpc>
              <a:buNone/>
            </a:pPr>
            <a:r>
              <a:rPr lang="en-US" sz="1500" dirty="0">
                <a:solidFill>
                  <a:srgbClr val="FFFFFF"/>
                </a:solidFill>
                <a:latin typeface="Courier New" pitchFamily="34" charset="0"/>
                <a:ea typeface="Courier New" pitchFamily="34" charset="-122"/>
                <a:cs typeface="Courier New" pitchFamily="34" charset="-120"/>
              </a:rPr>
              <a:t>  =  P(conversion) × Lifetime Economics</a:t>
            </a:r>
            <a:endParaRPr lang="en-US" sz="1500" dirty="0"/>
          </a:p>
          <a:p>
            <a:pPr indent="0" marL="0">
              <a:lnSpc>
                <a:spcPct val="140000"/>
              </a:lnSpc>
              <a:buNone/>
            </a:pPr>
            <a:r>
              <a:rPr lang="en-US" sz="1500" dirty="0">
                <a:solidFill>
                  <a:srgbClr val="A7C0BA"/>
                </a:solidFill>
                <a:latin typeface="Courier New" pitchFamily="34" charset="0"/>
                <a:ea typeface="Courier New" pitchFamily="34" charset="-122"/>
                <a:cs typeface="Courier New" pitchFamily="34" charset="-120"/>
              </a:rPr>
              <a:t>                              −  Credit Loss  −  Funding / Servicing  −  Prepayment / BT Impact</a:t>
            </a:r>
            <a:endParaRPr lang="en-US" sz="1500" dirty="0"/>
          </a:p>
        </p:txBody>
      </p:sp>
      <p:sp>
        <p:nvSpPr>
          <p:cNvPr id="12" name="Text 10"/>
          <p:cNvSpPr txBox="1"/>
          <p:nvPr/>
        </p:nvSpPr>
        <p:spPr>
          <a:xfrm>
            <a:off x="594360" y="5715000"/>
            <a:ext cx="10881360" cy="41148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The optimizer searches the full permissible band by default. Restricting it to the Stage-2 interval could only reproduce history.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System context</a:t>
            </a:r>
            <a:endParaRPr lang="en-US" sz="3200" dirty="0"/>
          </a:p>
        </p:txBody>
      </p:sp>
      <p:sp>
        <p:nvSpPr>
          <p:cNvPr id="4" name="Shape 2"/>
          <p:cNvSpPr/>
          <p:nvPr/>
        </p:nvSpPr>
        <p:spPr>
          <a:xfrm>
            <a:off x="594360" y="1691640"/>
            <a:ext cx="2286000" cy="731520"/>
          </a:xfrm>
          <a:prstGeom prst="roundRect">
            <a:avLst>
              <a:gd name="adj" fmla="val 10000"/>
            </a:avLst>
          </a:prstGeom>
          <a:solidFill>
            <a:srgbClr val="F1F4F3"/>
          </a:solidFill>
          <a:ln/>
          <a:effectLst>
            <a:outerShdw sx="100000" sy="100000" kx="0" ky="0" algn="bl" rotWithShape="0" blurRad="127000" dist="25400" dir="5400000">
              <a:srgbClr val="0C2D2A">
                <a:alpha val="10000"/>
              </a:srgbClr>
            </a:outerShdw>
          </a:effectLst>
        </p:spPr>
      </p:sp>
      <p:sp>
        <p:nvSpPr>
          <p:cNvPr id="5" name="Text 3"/>
          <p:cNvSpPr txBox="1"/>
          <p:nvPr/>
        </p:nvSpPr>
        <p:spPr>
          <a:xfrm>
            <a:off x="685800" y="1691640"/>
            <a:ext cx="2103120" cy="731520"/>
          </a:xfrm>
          <a:prstGeom prst="rect">
            <a:avLst/>
          </a:prstGeom>
          <a:noFill/>
          <a:ln/>
        </p:spPr>
        <p:txBody>
          <a:bodyPr wrap="square" lIns="0" tIns="0" rIns="0" bIns="0" rtlCol="0" anchor="ctr"/>
          <a:lstStyle/>
          <a:p>
            <a:pPr algn="ctr" indent="0" marL="0">
              <a:lnSpc>
                <a:spcPct val="100000"/>
              </a:lnSpc>
              <a:buNone/>
            </a:pPr>
            <a:r>
              <a:rPr lang="en-US" sz="1200" b="1" dirty="0">
                <a:solidFill>
                  <a:srgbClr val="17211F"/>
                </a:solidFill>
                <a:latin typeface="Calibri" pitchFamily="34" charset="0"/>
                <a:ea typeface="Calibri" pitchFamily="34" charset="-122"/>
                <a:cs typeface="Calibri" pitchFamily="34" charset="-120"/>
              </a:rPr>
              <a:t>Customer</a:t>
            </a:r>
            <a:endParaRPr lang="en-US" sz="12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portal · hash route /offer</a:t>
            </a:r>
            <a:endParaRPr lang="en-US" sz="1200" dirty="0"/>
          </a:p>
        </p:txBody>
      </p:sp>
      <p:sp>
        <p:nvSpPr>
          <p:cNvPr id="6" name="Shape 4"/>
          <p:cNvSpPr/>
          <p:nvPr/>
        </p:nvSpPr>
        <p:spPr>
          <a:xfrm>
            <a:off x="594360" y="2560320"/>
            <a:ext cx="2286000" cy="731520"/>
          </a:xfrm>
          <a:prstGeom prst="roundRect">
            <a:avLst>
              <a:gd name="adj" fmla="val 10000"/>
            </a:avLst>
          </a:prstGeom>
          <a:solidFill>
            <a:srgbClr val="F1F4F3"/>
          </a:solidFill>
          <a:ln/>
          <a:effectLst>
            <a:outerShdw sx="100000" sy="100000" kx="0" ky="0" algn="bl" rotWithShape="0" blurRad="127000" dist="25400" dir="5400000">
              <a:srgbClr val="0C2D2A">
                <a:alpha val="10000"/>
              </a:srgbClr>
            </a:outerShdw>
          </a:effectLst>
        </p:spPr>
      </p:sp>
      <p:sp>
        <p:nvSpPr>
          <p:cNvPr id="7" name="Text 5"/>
          <p:cNvSpPr txBox="1"/>
          <p:nvPr/>
        </p:nvSpPr>
        <p:spPr>
          <a:xfrm>
            <a:off x="685800" y="2560320"/>
            <a:ext cx="2103120" cy="731520"/>
          </a:xfrm>
          <a:prstGeom prst="rect">
            <a:avLst/>
          </a:prstGeom>
          <a:noFill/>
          <a:ln/>
        </p:spPr>
        <p:txBody>
          <a:bodyPr wrap="square" lIns="0" tIns="0" rIns="0" bIns="0" rtlCol="0" anchor="ctr"/>
          <a:lstStyle/>
          <a:p>
            <a:pPr algn="ctr" indent="0" marL="0">
              <a:lnSpc>
                <a:spcPct val="100000"/>
              </a:lnSpc>
              <a:buNone/>
            </a:pPr>
            <a:r>
              <a:rPr lang="en-US" sz="1200" b="1" dirty="0">
                <a:solidFill>
                  <a:srgbClr val="17211F"/>
                </a:solidFill>
                <a:latin typeface="Calibri" pitchFamily="34" charset="0"/>
                <a:ea typeface="Calibri" pitchFamily="34" charset="-122"/>
                <a:cs typeface="Calibri" pitchFamily="34" charset="-120"/>
              </a:rPr>
              <a:t>Branch / credit user</a:t>
            </a:r>
            <a:endParaRPr lang="en-US" sz="12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hash route /application</a:t>
            </a:r>
            <a:endParaRPr lang="en-US" sz="1200" dirty="0"/>
          </a:p>
        </p:txBody>
      </p:sp>
      <p:sp>
        <p:nvSpPr>
          <p:cNvPr id="8" name="Shape 6"/>
          <p:cNvSpPr/>
          <p:nvPr/>
        </p:nvSpPr>
        <p:spPr>
          <a:xfrm>
            <a:off x="2880360" y="2057400"/>
            <a:ext cx="365760" cy="0"/>
          </a:xfrm>
          <a:prstGeom prst="line">
            <a:avLst/>
          </a:prstGeom>
          <a:noFill/>
          <a:ln w="19050">
            <a:solidFill>
              <a:srgbClr val="5B7F79"/>
            </a:solidFill>
            <a:prstDash val="solid"/>
            <a:tailEnd type="triangle"/>
          </a:ln>
        </p:spPr>
      </p:sp>
      <p:sp>
        <p:nvSpPr>
          <p:cNvPr id="9" name="Shape 7"/>
          <p:cNvSpPr/>
          <p:nvPr/>
        </p:nvSpPr>
        <p:spPr>
          <a:xfrm>
            <a:off x="2880360" y="2926080"/>
            <a:ext cx="365760" cy="0"/>
          </a:xfrm>
          <a:prstGeom prst="line">
            <a:avLst/>
          </a:prstGeom>
          <a:noFill/>
          <a:ln w="19050">
            <a:solidFill>
              <a:srgbClr val="5B7F79"/>
            </a:solidFill>
            <a:prstDash val="solid"/>
            <a:tailEnd type="triangle"/>
          </a:ln>
        </p:spPr>
      </p:sp>
      <p:sp>
        <p:nvSpPr>
          <p:cNvPr id="10" name="Shape 8"/>
          <p:cNvSpPr/>
          <p:nvPr/>
        </p:nvSpPr>
        <p:spPr>
          <a:xfrm>
            <a:off x="3246120" y="1691640"/>
            <a:ext cx="2103120" cy="1600200"/>
          </a:xfrm>
          <a:prstGeom prst="roundRect">
            <a:avLst>
              <a:gd name="adj" fmla="val 4571"/>
            </a:avLst>
          </a:prstGeom>
          <a:solidFill>
            <a:srgbClr val="F1F4F3"/>
          </a:solidFill>
          <a:ln/>
          <a:effectLst>
            <a:outerShdw sx="100000" sy="100000" kx="0" ky="0" algn="bl" rotWithShape="0" blurRad="127000" dist="25400" dir="5400000">
              <a:srgbClr val="0C2D2A">
                <a:alpha val="10000"/>
              </a:srgbClr>
            </a:outerShdw>
          </a:effectLst>
        </p:spPr>
      </p:sp>
      <p:sp>
        <p:nvSpPr>
          <p:cNvPr id="11" name="Text 9"/>
          <p:cNvSpPr txBox="1"/>
          <p:nvPr/>
        </p:nvSpPr>
        <p:spPr>
          <a:xfrm>
            <a:off x="3337560" y="1691640"/>
            <a:ext cx="1920240" cy="1600200"/>
          </a:xfrm>
          <a:prstGeom prst="rect">
            <a:avLst/>
          </a:prstGeom>
          <a:noFill/>
          <a:ln/>
        </p:spPr>
        <p:txBody>
          <a:bodyPr wrap="square" lIns="0" tIns="0" rIns="0" bIns="0" rtlCol="0" anchor="ctr"/>
          <a:lstStyle/>
          <a:p>
            <a:pPr algn="ctr" indent="0" marL="0">
              <a:lnSpc>
                <a:spcPct val="100000"/>
              </a:lnSpc>
              <a:buNone/>
            </a:pPr>
            <a:r>
              <a:rPr lang="en-US" sz="1250" b="1" dirty="0">
                <a:solidFill>
                  <a:srgbClr val="17211F"/>
                </a:solidFill>
                <a:latin typeface="Calibri" pitchFamily="34" charset="0"/>
                <a:ea typeface="Calibri" pitchFamily="34" charset="-122"/>
                <a:cs typeface="Calibri" pitchFamily="34" charset="-120"/>
              </a:rPr>
              <a:t>React + Vite SPA</a:t>
            </a:r>
            <a:endParaRPr lang="en-US" sz="1250" dirty="0"/>
          </a:p>
          <a:p>
            <a:pPr algn="ctr" indent="0" marL="0">
              <a:lnSpc>
                <a:spcPct val="100000"/>
              </a:lnSpc>
              <a:buNone/>
            </a:pPr>
            <a:r>
              <a:rPr lang="en-US" sz="950" dirty="0">
                <a:solidFill>
                  <a:srgbClr val="5E6B68"/>
                </a:solidFill>
                <a:latin typeface="Courier New" pitchFamily="34" charset="0"/>
                <a:ea typeface="Courier New" pitchFamily="34" charset="-122"/>
                <a:cs typeface="Courier New" pitchFamily="34" charset="-120"/>
              </a:rPr>
              <a:t>application/</a:t>
            </a:r>
            <a:endParaRPr lang="en-US" sz="1250" dirty="0"/>
          </a:p>
        </p:txBody>
      </p:sp>
      <p:sp>
        <p:nvSpPr>
          <p:cNvPr id="12" name="Shape 10"/>
          <p:cNvSpPr/>
          <p:nvPr/>
        </p:nvSpPr>
        <p:spPr>
          <a:xfrm>
            <a:off x="5349240" y="2487168"/>
            <a:ext cx="457200" cy="0"/>
          </a:xfrm>
          <a:prstGeom prst="line">
            <a:avLst/>
          </a:prstGeom>
          <a:noFill/>
          <a:ln w="19050">
            <a:solidFill>
              <a:srgbClr val="5B7F79"/>
            </a:solidFill>
            <a:prstDash val="solid"/>
            <a:tailEnd type="triangle"/>
          </a:ln>
        </p:spPr>
      </p:sp>
      <p:sp>
        <p:nvSpPr>
          <p:cNvPr id="13" name="Shape 11"/>
          <p:cNvSpPr/>
          <p:nvPr/>
        </p:nvSpPr>
        <p:spPr>
          <a:xfrm>
            <a:off x="594360" y="3794760"/>
            <a:ext cx="4754880" cy="868680"/>
          </a:xfrm>
          <a:prstGeom prst="roundRect">
            <a:avLst>
              <a:gd name="adj" fmla="val 8421"/>
            </a:avLst>
          </a:prstGeom>
          <a:solidFill>
            <a:srgbClr val="FFFFFF"/>
          </a:solidFill>
          <a:ln w="12700">
            <a:solidFill>
              <a:srgbClr val="E4EAE8"/>
            </a:solidFill>
            <a:prstDash val="solid"/>
          </a:ln>
        </p:spPr>
      </p:sp>
      <p:sp>
        <p:nvSpPr>
          <p:cNvPr id="14" name="Text 12"/>
          <p:cNvSpPr txBox="1"/>
          <p:nvPr/>
        </p:nvSpPr>
        <p:spPr>
          <a:xfrm>
            <a:off x="685800" y="3794760"/>
            <a:ext cx="4572000" cy="868680"/>
          </a:xfrm>
          <a:prstGeom prst="rect">
            <a:avLst/>
          </a:prstGeom>
          <a:noFill/>
          <a:ln/>
        </p:spPr>
        <p:txBody>
          <a:bodyPr wrap="square" lIns="0" tIns="0" rIns="0" bIns="0" rtlCol="0" anchor="ctr"/>
          <a:lstStyle/>
          <a:p>
            <a:pPr algn="ctr" indent="0" marL="0">
              <a:lnSpc>
                <a:spcPct val="100000"/>
              </a:lnSpc>
              <a:buNone/>
            </a:pPr>
            <a:r>
              <a:rPr lang="en-US" sz="1200" b="1" dirty="0">
                <a:solidFill>
                  <a:srgbClr val="17211F"/>
                </a:solidFill>
                <a:latin typeface="Calibri" pitchFamily="34" charset="0"/>
                <a:ea typeface="Calibri" pitchFamily="34" charset="-122"/>
                <a:cs typeface="Calibri" pitchFamily="34" charset="-120"/>
              </a:rPr>
              <a:t>LOS / Salesforce      ·      LMS / collections feed</a:t>
            </a:r>
            <a:endParaRPr lang="en-US" sz="12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integration targets — Stage-1, Stage-2, override, outcome</a:t>
            </a:r>
            <a:endParaRPr lang="en-US" sz="1200" dirty="0"/>
          </a:p>
        </p:txBody>
      </p:sp>
      <p:sp>
        <p:nvSpPr>
          <p:cNvPr id="15" name="Shape 13"/>
          <p:cNvSpPr/>
          <p:nvPr/>
        </p:nvSpPr>
        <p:spPr>
          <a:xfrm>
            <a:off x="5349240" y="4224528"/>
            <a:ext cx="457200" cy="0"/>
          </a:xfrm>
          <a:prstGeom prst="line">
            <a:avLst/>
          </a:prstGeom>
          <a:noFill/>
          <a:ln w="19050">
            <a:solidFill>
              <a:srgbClr val="5B7F79"/>
            </a:solidFill>
            <a:prstDash val="solid"/>
            <a:tailEnd type="triangle"/>
          </a:ln>
        </p:spPr>
      </p:sp>
      <p:sp>
        <p:nvSpPr>
          <p:cNvPr id="16" name="Shape 14"/>
          <p:cNvSpPr/>
          <p:nvPr/>
        </p:nvSpPr>
        <p:spPr>
          <a:xfrm>
            <a:off x="5806440" y="2286000"/>
            <a:ext cx="2286000" cy="2377440"/>
          </a:xfrm>
          <a:prstGeom prst="roundRect">
            <a:avLst>
              <a:gd name="adj" fmla="val 3200"/>
            </a:avLst>
          </a:prstGeom>
          <a:solidFill>
            <a:srgbClr val="0C2D2A"/>
          </a:solidFill>
          <a:ln/>
          <a:effectLst>
            <a:outerShdw sx="100000" sy="100000" kx="0" ky="0" algn="bl" rotWithShape="0" blurRad="127000" dist="25400" dir="5400000">
              <a:srgbClr val="0C2D2A">
                <a:alpha val="10000"/>
              </a:srgbClr>
            </a:outerShdw>
          </a:effectLst>
        </p:spPr>
      </p:sp>
      <p:sp>
        <p:nvSpPr>
          <p:cNvPr id="17" name="Text 15"/>
          <p:cNvSpPr txBox="1"/>
          <p:nvPr/>
        </p:nvSpPr>
        <p:spPr>
          <a:xfrm>
            <a:off x="5897880" y="2286000"/>
            <a:ext cx="2103120" cy="2377440"/>
          </a:xfrm>
          <a:prstGeom prst="rect">
            <a:avLst/>
          </a:prstGeom>
          <a:noFill/>
          <a:ln/>
        </p:spPr>
        <p:txBody>
          <a:bodyPr wrap="square" lIns="0" tIns="0" rIns="0" bIns="0"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FastAPI pricing service</a:t>
            </a:r>
            <a:endParaRPr lang="en-US" sz="1250" dirty="0"/>
          </a:p>
          <a:p>
            <a:pPr algn="ctr" indent="0" marL="0">
              <a:lnSpc>
                <a:spcPct val="100000"/>
              </a:lnSpc>
              <a:buNone/>
            </a:pPr>
            <a:r>
              <a:rPr lang="en-US" sz="950" dirty="0">
                <a:solidFill>
                  <a:srgbClr val="A7C0BA"/>
                </a:solidFill>
                <a:latin typeface="Courier New" pitchFamily="34" charset="0"/>
                <a:ea typeface="Courier New" pitchFamily="34" charset="-122"/>
                <a:cs typeface="Courier New" pitchFamily="34" charset="-120"/>
              </a:rPr>
              <a:t>src/aavas/api</a:t>
            </a:r>
            <a:endParaRPr lang="en-US" sz="1250" dirty="0"/>
          </a:p>
          <a:p>
            <a:pPr algn="ctr" indent="0" marL="0">
              <a:lnSpc>
                <a:spcPct val="100000"/>
              </a:lnSpc>
              <a:buNone/>
            </a:pPr>
            <a:r>
              <a:rPr lang="en-US" sz="950" dirty="0">
                <a:solidFill>
                  <a:srgbClr val="A7C0BA"/>
                </a:solidFill>
                <a:latin typeface="Courier New" pitchFamily="34" charset="0"/>
                <a:ea typeface="Courier New" pitchFamily="34" charset="-122"/>
                <a:cs typeface="Courier New" pitchFamily="34" charset="-120"/>
              </a:rPr>
              <a:t>four POST endpoints</a:t>
            </a:r>
            <a:endParaRPr lang="en-US" sz="1250" dirty="0"/>
          </a:p>
        </p:txBody>
      </p:sp>
      <p:sp>
        <p:nvSpPr>
          <p:cNvPr id="18" name="Shape 16"/>
          <p:cNvSpPr/>
          <p:nvPr/>
        </p:nvSpPr>
        <p:spPr>
          <a:xfrm>
            <a:off x="8092440" y="3474720"/>
            <a:ext cx="320040" cy="0"/>
          </a:xfrm>
          <a:prstGeom prst="line">
            <a:avLst/>
          </a:prstGeom>
          <a:noFill/>
          <a:ln w="19050">
            <a:solidFill>
              <a:srgbClr val="5B7F79"/>
            </a:solidFill>
            <a:prstDash val="solid"/>
            <a:tailEnd type="triangle"/>
          </a:ln>
        </p:spPr>
      </p:sp>
      <p:sp>
        <p:nvSpPr>
          <p:cNvPr id="19" name="Shape 17"/>
          <p:cNvSpPr/>
          <p:nvPr/>
        </p:nvSpPr>
        <p:spPr>
          <a:xfrm>
            <a:off x="8412480" y="2286000"/>
            <a:ext cx="3154680" cy="2377440"/>
          </a:xfrm>
          <a:prstGeom prst="roundRect">
            <a:avLst>
              <a:gd name="adj" fmla="val 3077"/>
            </a:avLst>
          </a:prstGeom>
          <a:solidFill>
            <a:srgbClr val="0C2D2A"/>
          </a:solidFill>
          <a:ln/>
          <a:effectLst>
            <a:outerShdw sx="100000" sy="100000" kx="0" ky="0" algn="bl" rotWithShape="0" blurRad="127000" dist="25400" dir="5400000">
              <a:srgbClr val="0C2D2A">
                <a:alpha val="10000"/>
              </a:srgbClr>
            </a:outerShdw>
          </a:effectLst>
        </p:spPr>
      </p:sp>
      <p:sp>
        <p:nvSpPr>
          <p:cNvPr id="20" name="Text 18"/>
          <p:cNvSpPr txBox="1"/>
          <p:nvPr/>
        </p:nvSpPr>
        <p:spPr>
          <a:xfrm>
            <a:off x="8503920" y="2286000"/>
            <a:ext cx="2971800" cy="237744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PricingOrchestrator</a:t>
            </a:r>
            <a:endParaRPr lang="en-US" sz="1300" dirty="0"/>
          </a:p>
          <a:p>
            <a:pPr algn="ctr" indent="0" marL="0">
              <a:lnSpc>
                <a:spcPct val="100000"/>
              </a:lnSpc>
              <a:buNone/>
            </a:pPr>
            <a:r>
              <a:rPr lang="en-US" sz="950" dirty="0">
                <a:solidFill>
                  <a:srgbClr val="A7C0BA"/>
                </a:solidFill>
                <a:latin typeface="Calibri" pitchFamily="34" charset="0"/>
                <a:ea typeface="Calibri" pitchFamily="34" charset="-122"/>
                <a:cs typeface="Calibri" pitchFamily="34" charset="-120"/>
              </a:rPr>
              <a:t>10 agents over one</a:t>
            </a:r>
            <a:endParaRPr lang="en-US" sz="1300" dirty="0"/>
          </a:p>
          <a:p>
            <a:pPr algn="ctr" indent="0" marL="0">
              <a:lnSpc>
                <a:spcPct val="100000"/>
              </a:lnSpc>
              <a:buNone/>
            </a:pPr>
            <a:r>
              <a:rPr lang="en-US" sz="950" dirty="0">
                <a:solidFill>
                  <a:srgbClr val="A7C0BA"/>
                </a:solidFill>
                <a:latin typeface="Calibri" pitchFamily="34" charset="0"/>
                <a:ea typeface="Calibri" pitchFamily="34" charset="-122"/>
                <a:cs typeface="Calibri" pitchFamily="34" charset="-120"/>
              </a:rPr>
              <a:t>CustomerDigitalTwin</a:t>
            </a:r>
            <a:endParaRPr lang="en-US" sz="1300" dirty="0"/>
          </a:p>
        </p:txBody>
      </p:sp>
      <p:sp>
        <p:nvSpPr>
          <p:cNvPr id="21" name="Shape 19"/>
          <p:cNvSpPr/>
          <p:nvPr/>
        </p:nvSpPr>
        <p:spPr>
          <a:xfrm>
            <a:off x="594360" y="5029200"/>
            <a:ext cx="2606040" cy="822960"/>
          </a:xfrm>
          <a:prstGeom prst="roundRect">
            <a:avLst>
              <a:gd name="adj" fmla="val 8889"/>
            </a:avLst>
          </a:prstGeom>
          <a:solidFill>
            <a:srgbClr val="F1F4F3"/>
          </a:solidFill>
          <a:ln/>
          <a:effectLst>
            <a:outerShdw sx="100000" sy="100000" kx="0" ky="0" algn="bl" rotWithShape="0" blurRad="127000" dist="25400" dir="5400000">
              <a:srgbClr val="0C2D2A">
                <a:alpha val="10000"/>
              </a:srgbClr>
            </a:outerShdw>
          </a:effectLst>
        </p:spPr>
      </p:sp>
      <p:sp>
        <p:nvSpPr>
          <p:cNvPr id="22" name="Text 20"/>
          <p:cNvSpPr txBox="1"/>
          <p:nvPr/>
        </p:nvSpPr>
        <p:spPr>
          <a:xfrm>
            <a:off x="685800" y="5029200"/>
            <a:ext cx="2423160" cy="822960"/>
          </a:xfrm>
          <a:prstGeom prst="rect">
            <a:avLst/>
          </a:prstGeom>
          <a:noFill/>
          <a:ln/>
        </p:spPr>
        <p:txBody>
          <a:bodyPr wrap="square" lIns="0" tIns="0" rIns="0" bIns="0" rtlCol="0" anchor="ctr"/>
          <a:lstStyle/>
          <a:p>
            <a:pPr algn="ctr" indent="0" marL="0">
              <a:lnSpc>
                <a:spcPct val="100000"/>
              </a:lnSpc>
              <a:buNone/>
            </a:pPr>
            <a:r>
              <a:rPr lang="en-US" sz="1150" b="1" dirty="0">
                <a:solidFill>
                  <a:srgbClr val="17211F"/>
                </a:solidFill>
                <a:latin typeface="Calibri" pitchFamily="34" charset="0"/>
                <a:ea typeface="Calibri" pitchFamily="34" charset="-122"/>
                <a:cs typeface="Calibri" pitchFamily="34" charset="-120"/>
              </a:rPr>
              <a:t>6 model artefacts</a:t>
            </a:r>
            <a:endParaRPr lang="en-US" sz="1150" dirty="0"/>
          </a:p>
          <a:p>
            <a:pPr algn="ctr" indent="0" marL="0">
              <a:lnSpc>
                <a:spcPct val="100000"/>
              </a:lnSpc>
              <a:buNone/>
            </a:pPr>
            <a:r>
              <a:rPr lang="en-US" sz="850" dirty="0">
                <a:solidFill>
                  <a:srgbClr val="5E6B68"/>
                </a:solidFill>
                <a:latin typeface="Courier New" pitchFamily="34" charset="0"/>
                <a:ea typeface="Courier New" pitchFamily="34" charset="-122"/>
                <a:cs typeface="Courier New" pitchFamily="34" charset="-120"/>
              </a:rPr>
              <a:t>models/*.joblib + card</a:t>
            </a:r>
            <a:endParaRPr lang="en-US" sz="1150" dirty="0"/>
          </a:p>
        </p:txBody>
      </p:sp>
      <p:sp>
        <p:nvSpPr>
          <p:cNvPr id="23" name="Shape 21"/>
          <p:cNvSpPr/>
          <p:nvPr/>
        </p:nvSpPr>
        <p:spPr>
          <a:xfrm>
            <a:off x="3383280" y="5029200"/>
            <a:ext cx="2606040" cy="822960"/>
          </a:xfrm>
          <a:prstGeom prst="roundRect">
            <a:avLst>
              <a:gd name="adj" fmla="val 8889"/>
            </a:avLst>
          </a:prstGeom>
          <a:solidFill>
            <a:srgbClr val="F1F4F3"/>
          </a:solidFill>
          <a:ln/>
          <a:effectLst>
            <a:outerShdw sx="100000" sy="100000" kx="0" ky="0" algn="bl" rotWithShape="0" blurRad="127000" dist="25400" dir="5400000">
              <a:srgbClr val="0C2D2A">
                <a:alpha val="10000"/>
              </a:srgbClr>
            </a:outerShdw>
          </a:effectLst>
        </p:spPr>
      </p:sp>
      <p:sp>
        <p:nvSpPr>
          <p:cNvPr id="24" name="Text 22"/>
          <p:cNvSpPr txBox="1"/>
          <p:nvPr/>
        </p:nvSpPr>
        <p:spPr>
          <a:xfrm>
            <a:off x="3474720" y="5029200"/>
            <a:ext cx="2423160" cy="822960"/>
          </a:xfrm>
          <a:prstGeom prst="rect">
            <a:avLst/>
          </a:prstGeom>
          <a:noFill/>
          <a:ln/>
        </p:spPr>
        <p:txBody>
          <a:bodyPr wrap="square" lIns="0" tIns="0" rIns="0" bIns="0" rtlCol="0" anchor="ctr"/>
          <a:lstStyle/>
          <a:p>
            <a:pPr algn="ctr" indent="0" marL="0">
              <a:lnSpc>
                <a:spcPct val="100000"/>
              </a:lnSpc>
              <a:buNone/>
            </a:pPr>
            <a:r>
              <a:rPr lang="en-US" sz="1150" b="1" dirty="0">
                <a:solidFill>
                  <a:srgbClr val="17211F"/>
                </a:solidFill>
                <a:latin typeface="Calibri" pitchFamily="34" charset="0"/>
                <a:ea typeface="Calibri" pitchFamily="34" charset="-122"/>
                <a:cs typeface="Calibri" pitchFamily="34" charset="-120"/>
              </a:rPr>
              <a:t>Pricing policy</a:t>
            </a:r>
            <a:endParaRPr lang="en-US" sz="1150" dirty="0"/>
          </a:p>
          <a:p>
            <a:pPr algn="ctr" indent="0" marL="0">
              <a:lnSpc>
                <a:spcPct val="100000"/>
              </a:lnSpc>
              <a:buNone/>
            </a:pPr>
            <a:r>
              <a:rPr lang="en-US" sz="850" dirty="0">
                <a:solidFill>
                  <a:srgbClr val="5E6B68"/>
                </a:solidFill>
                <a:latin typeface="Courier New" pitchFamily="34" charset="0"/>
                <a:ea typeface="Courier New" pitchFamily="34" charset="-122"/>
                <a:cs typeface="Courier New" pitchFamily="34" charset="-120"/>
              </a:rPr>
              <a:t>config/pricing_policy.yaml</a:t>
            </a:r>
            <a:endParaRPr lang="en-US" sz="1150" dirty="0"/>
          </a:p>
        </p:txBody>
      </p:sp>
      <p:sp>
        <p:nvSpPr>
          <p:cNvPr id="25" name="Shape 23"/>
          <p:cNvSpPr/>
          <p:nvPr/>
        </p:nvSpPr>
        <p:spPr>
          <a:xfrm>
            <a:off x="6172200" y="5029200"/>
            <a:ext cx="2606040" cy="822960"/>
          </a:xfrm>
          <a:prstGeom prst="roundRect">
            <a:avLst>
              <a:gd name="adj" fmla="val 8889"/>
            </a:avLst>
          </a:prstGeom>
          <a:solidFill>
            <a:srgbClr val="F1F4F3"/>
          </a:solidFill>
          <a:ln/>
          <a:effectLst>
            <a:outerShdw sx="100000" sy="100000" kx="0" ky="0" algn="bl" rotWithShape="0" blurRad="127000" dist="25400" dir="5400000">
              <a:srgbClr val="0C2D2A">
                <a:alpha val="10000"/>
              </a:srgbClr>
            </a:outerShdw>
          </a:effectLst>
        </p:spPr>
      </p:sp>
      <p:sp>
        <p:nvSpPr>
          <p:cNvPr id="26" name="Text 24"/>
          <p:cNvSpPr txBox="1"/>
          <p:nvPr/>
        </p:nvSpPr>
        <p:spPr>
          <a:xfrm>
            <a:off x="6263640" y="5029200"/>
            <a:ext cx="2423160" cy="822960"/>
          </a:xfrm>
          <a:prstGeom prst="rect">
            <a:avLst/>
          </a:prstGeom>
          <a:noFill/>
          <a:ln/>
        </p:spPr>
        <p:txBody>
          <a:bodyPr wrap="square" lIns="0" tIns="0" rIns="0" bIns="0" rtlCol="0" anchor="ctr"/>
          <a:lstStyle/>
          <a:p>
            <a:pPr algn="ctr" indent="0" marL="0">
              <a:lnSpc>
                <a:spcPct val="100000"/>
              </a:lnSpc>
              <a:buNone/>
            </a:pPr>
            <a:r>
              <a:rPr lang="en-US" sz="1150" b="1" dirty="0">
                <a:solidFill>
                  <a:srgbClr val="17211F"/>
                </a:solidFill>
                <a:latin typeface="Calibri" pitchFamily="34" charset="0"/>
                <a:ea typeface="Calibri" pitchFamily="34" charset="-122"/>
                <a:cs typeface="Calibri" pitchFamily="34" charset="-120"/>
              </a:rPr>
              <a:t>Governance store</a:t>
            </a:r>
            <a:endParaRPr lang="en-US" sz="1150" dirty="0"/>
          </a:p>
          <a:p>
            <a:pPr algn="ctr" indent="0" marL="0">
              <a:lnSpc>
                <a:spcPct val="100000"/>
              </a:lnSpc>
              <a:buNone/>
            </a:pPr>
            <a:r>
              <a:rPr lang="en-US" sz="850" dirty="0">
                <a:solidFill>
                  <a:srgbClr val="5E6B68"/>
                </a:solidFill>
                <a:latin typeface="Courier New" pitchFamily="34" charset="0"/>
                <a:ea typeface="Courier New" pitchFamily="34" charset="-122"/>
                <a:cs typeface="Courier New" pitchFamily="34" charset="-120"/>
              </a:rPr>
              <a:t>SQLite / Postgres, append-only</a:t>
            </a:r>
            <a:endParaRPr lang="en-US" sz="1150" dirty="0"/>
          </a:p>
        </p:txBody>
      </p:sp>
      <p:sp>
        <p:nvSpPr>
          <p:cNvPr id="27" name="Shape 25"/>
          <p:cNvSpPr/>
          <p:nvPr/>
        </p:nvSpPr>
        <p:spPr>
          <a:xfrm>
            <a:off x="8961120" y="5029200"/>
            <a:ext cx="2606040" cy="822960"/>
          </a:xfrm>
          <a:prstGeom prst="roundRect">
            <a:avLst>
              <a:gd name="adj" fmla="val 8889"/>
            </a:avLst>
          </a:prstGeom>
          <a:solidFill>
            <a:srgbClr val="F1F4F3"/>
          </a:solidFill>
          <a:ln/>
          <a:effectLst>
            <a:outerShdw sx="100000" sy="100000" kx="0" ky="0" algn="bl" rotWithShape="0" blurRad="127000" dist="25400" dir="5400000">
              <a:srgbClr val="0C2D2A">
                <a:alpha val="10000"/>
              </a:srgbClr>
            </a:outerShdw>
          </a:effectLst>
        </p:spPr>
      </p:sp>
      <p:sp>
        <p:nvSpPr>
          <p:cNvPr id="28" name="Text 26"/>
          <p:cNvSpPr txBox="1"/>
          <p:nvPr/>
        </p:nvSpPr>
        <p:spPr>
          <a:xfrm>
            <a:off x="9052560" y="5029200"/>
            <a:ext cx="2423160" cy="822960"/>
          </a:xfrm>
          <a:prstGeom prst="rect">
            <a:avLst/>
          </a:prstGeom>
          <a:noFill/>
          <a:ln/>
        </p:spPr>
        <p:txBody>
          <a:bodyPr wrap="square" lIns="0" tIns="0" rIns="0" bIns="0" rtlCol="0" anchor="ctr"/>
          <a:lstStyle/>
          <a:p>
            <a:pPr algn="ctr" indent="0" marL="0">
              <a:lnSpc>
                <a:spcPct val="100000"/>
              </a:lnSpc>
              <a:buNone/>
            </a:pPr>
            <a:r>
              <a:rPr lang="en-US" sz="1150" b="1" dirty="0">
                <a:solidFill>
                  <a:srgbClr val="17211F"/>
                </a:solidFill>
                <a:latin typeface="Calibri" pitchFamily="34" charset="0"/>
                <a:ea typeface="Calibri" pitchFamily="34" charset="-122"/>
                <a:cs typeface="Calibri" pitchFamily="34" charset="-120"/>
              </a:rPr>
              <a:t>Knowledge store</a:t>
            </a:r>
            <a:endParaRPr lang="en-US" sz="1150" dirty="0"/>
          </a:p>
          <a:p>
            <a:pPr algn="ctr" indent="0" marL="0">
              <a:lnSpc>
                <a:spcPct val="100000"/>
              </a:lnSpc>
              <a:buNone/>
            </a:pPr>
            <a:r>
              <a:rPr lang="en-US" sz="850" dirty="0">
                <a:solidFill>
                  <a:srgbClr val="5E6B68"/>
                </a:solidFill>
                <a:latin typeface="Courier New" pitchFamily="34" charset="0"/>
                <a:ea typeface="Courier New" pitchFamily="34" charset="-122"/>
                <a:cs typeface="Courier New" pitchFamily="34" charset="-120"/>
              </a:rPr>
              <a:t>TF-IDF / pgvector</a:t>
            </a:r>
            <a:endParaRPr lang="en-US" sz="1150" dirty="0"/>
          </a:p>
        </p:txBody>
      </p:sp>
      <p:sp>
        <p:nvSpPr>
          <p:cNvPr id="29" name="Shape 27"/>
          <p:cNvSpPr/>
          <p:nvPr/>
        </p:nvSpPr>
        <p:spPr>
          <a:xfrm>
            <a:off x="9989820" y="4663440"/>
            <a:ext cx="0" cy="201168"/>
          </a:xfrm>
          <a:prstGeom prst="line">
            <a:avLst/>
          </a:prstGeom>
          <a:noFill/>
          <a:ln w="19050">
            <a:solidFill>
              <a:srgbClr val="5B7F79"/>
            </a:solidFill>
            <a:prstDash val="solid"/>
          </a:ln>
        </p:spPr>
      </p:sp>
      <p:sp>
        <p:nvSpPr>
          <p:cNvPr id="30" name="Shape 28"/>
          <p:cNvSpPr/>
          <p:nvPr/>
        </p:nvSpPr>
        <p:spPr>
          <a:xfrm>
            <a:off x="1897380" y="4864608"/>
            <a:ext cx="8366760" cy="0"/>
          </a:xfrm>
          <a:prstGeom prst="line">
            <a:avLst/>
          </a:prstGeom>
          <a:noFill/>
          <a:ln w="19050">
            <a:solidFill>
              <a:srgbClr val="5B7F79"/>
            </a:solidFill>
            <a:prstDash val="solid"/>
          </a:ln>
        </p:spPr>
      </p:sp>
      <p:sp>
        <p:nvSpPr>
          <p:cNvPr id="31" name="Shape 29"/>
          <p:cNvSpPr/>
          <p:nvPr/>
        </p:nvSpPr>
        <p:spPr>
          <a:xfrm>
            <a:off x="1897380" y="4864608"/>
            <a:ext cx="0" cy="164592"/>
          </a:xfrm>
          <a:prstGeom prst="line">
            <a:avLst/>
          </a:prstGeom>
          <a:noFill/>
          <a:ln w="19050">
            <a:solidFill>
              <a:srgbClr val="5B7F79"/>
            </a:solidFill>
            <a:prstDash val="solid"/>
            <a:tailEnd type="triangle"/>
          </a:ln>
        </p:spPr>
      </p:sp>
      <p:sp>
        <p:nvSpPr>
          <p:cNvPr id="32" name="Shape 30"/>
          <p:cNvSpPr/>
          <p:nvPr/>
        </p:nvSpPr>
        <p:spPr>
          <a:xfrm>
            <a:off x="4686300" y="4864608"/>
            <a:ext cx="0" cy="164592"/>
          </a:xfrm>
          <a:prstGeom prst="line">
            <a:avLst/>
          </a:prstGeom>
          <a:noFill/>
          <a:ln w="19050">
            <a:solidFill>
              <a:srgbClr val="5B7F79"/>
            </a:solidFill>
            <a:prstDash val="solid"/>
            <a:tailEnd type="triangle"/>
          </a:ln>
        </p:spPr>
      </p:sp>
      <p:sp>
        <p:nvSpPr>
          <p:cNvPr id="33" name="Shape 31"/>
          <p:cNvSpPr/>
          <p:nvPr/>
        </p:nvSpPr>
        <p:spPr>
          <a:xfrm>
            <a:off x="7475220" y="4864608"/>
            <a:ext cx="0" cy="164592"/>
          </a:xfrm>
          <a:prstGeom prst="line">
            <a:avLst/>
          </a:prstGeom>
          <a:noFill/>
          <a:ln w="19050">
            <a:solidFill>
              <a:srgbClr val="5B7F79"/>
            </a:solidFill>
            <a:prstDash val="solid"/>
            <a:tailEnd type="triangle"/>
          </a:ln>
        </p:spPr>
      </p:sp>
      <p:sp>
        <p:nvSpPr>
          <p:cNvPr id="34" name="Shape 32"/>
          <p:cNvSpPr/>
          <p:nvPr/>
        </p:nvSpPr>
        <p:spPr>
          <a:xfrm>
            <a:off x="10264140" y="4864608"/>
            <a:ext cx="0" cy="164592"/>
          </a:xfrm>
          <a:prstGeom prst="line">
            <a:avLst/>
          </a:prstGeom>
          <a:noFill/>
          <a:ln w="19050">
            <a:solidFill>
              <a:srgbClr val="5B7F79"/>
            </a:solidFill>
            <a:prstDash val="solid"/>
            <a:tailEnd type="triangle"/>
          </a:ln>
        </p:spPr>
      </p:sp>
      <p:sp>
        <p:nvSpPr>
          <p:cNvPr id="35" name="Text 33"/>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Only the pricing service is in this repo's runtime scope. The governance store is what the pricing committee reads for audit and override review.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Six layers, one import direction</a:t>
            </a:r>
            <a:endParaRPr lang="en-US" sz="3200" dirty="0"/>
          </a:p>
        </p:txBody>
      </p:sp>
      <p:sp>
        <p:nvSpPr>
          <p:cNvPr id="4" name="Shape 2"/>
          <p:cNvSpPr/>
          <p:nvPr/>
        </p:nvSpPr>
        <p:spPr>
          <a:xfrm>
            <a:off x="594360" y="1481328"/>
            <a:ext cx="960120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5" name="Text 3"/>
          <p:cNvSpPr txBox="1"/>
          <p:nvPr/>
        </p:nvSpPr>
        <p:spPr>
          <a:xfrm>
            <a:off x="822960" y="1481328"/>
            <a:ext cx="1371600" cy="658368"/>
          </a:xfrm>
          <a:prstGeom prst="rect">
            <a:avLst/>
          </a:prstGeom>
          <a:noFill/>
          <a:ln/>
        </p:spPr>
        <p:txBody>
          <a:bodyPr wrap="square" lIns="0" tIns="0" rIns="0" bIns="0" rtlCol="0" anchor="ctr"/>
          <a:lstStyle/>
          <a:p>
            <a:pPr indent="0" marL="0">
              <a:buNone/>
            </a:pPr>
            <a:r>
              <a:rPr lang="en-US" sz="1100" b="1" spc="150" kern="0" dirty="0">
                <a:solidFill>
                  <a:srgbClr val="5B7F79"/>
                </a:solidFill>
                <a:latin typeface="Calibri" pitchFamily="34" charset="0"/>
                <a:ea typeface="Calibri" pitchFamily="34" charset="-122"/>
                <a:cs typeface="Calibri" pitchFamily="34" charset="-120"/>
              </a:rPr>
              <a:t>CHANNEL</a:t>
            </a:r>
            <a:endParaRPr lang="en-US" sz="1100" dirty="0"/>
          </a:p>
        </p:txBody>
      </p:sp>
      <p:sp>
        <p:nvSpPr>
          <p:cNvPr id="6" name="Text 4"/>
          <p:cNvSpPr txBox="1"/>
          <p:nvPr/>
        </p:nvSpPr>
        <p:spPr>
          <a:xfrm>
            <a:off x="2286000" y="148132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17211F"/>
                </a:solidFill>
                <a:latin typeface="Courier New" pitchFamily="34" charset="0"/>
                <a:ea typeface="Courier New" pitchFamily="34" charset="-122"/>
                <a:cs typeface="Courier New" pitchFamily="34" charset="-120"/>
              </a:rPr>
              <a:t>application/  —  React 19 + Vite SPA</a:t>
            </a:r>
            <a:endParaRPr lang="en-US" sz="1050" dirty="0"/>
          </a:p>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customer portal · assessment workspace · model cards · learning review · audit · policy</a:t>
            </a:r>
            <a:endParaRPr lang="en-US" sz="1050" dirty="0"/>
          </a:p>
        </p:txBody>
      </p:sp>
      <p:sp>
        <p:nvSpPr>
          <p:cNvPr id="7" name="Shape 5"/>
          <p:cNvSpPr/>
          <p:nvPr/>
        </p:nvSpPr>
        <p:spPr>
          <a:xfrm>
            <a:off x="594360" y="2258568"/>
            <a:ext cx="960120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8" name="Text 6"/>
          <p:cNvSpPr txBox="1"/>
          <p:nvPr/>
        </p:nvSpPr>
        <p:spPr>
          <a:xfrm>
            <a:off x="822960" y="2258568"/>
            <a:ext cx="1371600" cy="658368"/>
          </a:xfrm>
          <a:prstGeom prst="rect">
            <a:avLst/>
          </a:prstGeom>
          <a:noFill/>
          <a:ln/>
        </p:spPr>
        <p:txBody>
          <a:bodyPr wrap="square" lIns="0" tIns="0" rIns="0" bIns="0" rtlCol="0" anchor="ctr"/>
          <a:lstStyle/>
          <a:p>
            <a:pPr indent="0" marL="0">
              <a:buNone/>
            </a:pPr>
            <a:r>
              <a:rPr lang="en-US" sz="1100" b="1" spc="150" kern="0" dirty="0">
                <a:solidFill>
                  <a:srgbClr val="5B7F79"/>
                </a:solidFill>
                <a:latin typeface="Calibri" pitchFamily="34" charset="0"/>
                <a:ea typeface="Calibri" pitchFamily="34" charset="-122"/>
                <a:cs typeface="Calibri" pitchFamily="34" charset="-120"/>
              </a:rPr>
              <a:t>API</a:t>
            </a:r>
            <a:endParaRPr lang="en-US" sz="1100" dirty="0"/>
          </a:p>
        </p:txBody>
      </p:sp>
      <p:sp>
        <p:nvSpPr>
          <p:cNvPr id="9" name="Text 7"/>
          <p:cNvSpPr txBox="1"/>
          <p:nvPr/>
        </p:nvSpPr>
        <p:spPr>
          <a:xfrm>
            <a:off x="2286000" y="225856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17211F"/>
                </a:solidFill>
                <a:latin typeface="Courier New" pitchFamily="34" charset="0"/>
                <a:ea typeface="Courier New" pitchFamily="34" charset="-122"/>
                <a:cs typeface="Courier New" pitchFamily="34" charset="-120"/>
              </a:rPr>
              <a:t>src/aavas/api  —  FastAPI</a:t>
            </a:r>
            <a:endParaRPr lang="en-US" sz="1050" dirty="0"/>
          </a:p>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stage1 · stage2 · override · outcome · health &amp; model cards · pydantic contracts</a:t>
            </a:r>
            <a:endParaRPr lang="en-US" sz="1050" dirty="0"/>
          </a:p>
        </p:txBody>
      </p:sp>
      <p:sp>
        <p:nvSpPr>
          <p:cNvPr id="10" name="Shape 8"/>
          <p:cNvSpPr/>
          <p:nvPr/>
        </p:nvSpPr>
        <p:spPr>
          <a:xfrm>
            <a:off x="594360" y="3035808"/>
            <a:ext cx="9601200" cy="658368"/>
          </a:xfrm>
          <a:prstGeom prst="roundRect">
            <a:avLst>
              <a:gd name="adj" fmla="val 8333"/>
            </a:avLst>
          </a:prstGeom>
          <a:solidFill>
            <a:srgbClr val="0C2D2A"/>
          </a:solidFill>
          <a:ln/>
          <a:effectLst>
            <a:outerShdw sx="100000" sy="100000" kx="0" ky="0" algn="bl" rotWithShape="0" blurRad="127000" dist="25400" dir="5400000">
              <a:srgbClr val="0C2D2A">
                <a:alpha val="10000"/>
              </a:srgbClr>
            </a:outerShdw>
          </a:effectLst>
        </p:spPr>
      </p:sp>
      <p:sp>
        <p:nvSpPr>
          <p:cNvPr id="11" name="Text 9"/>
          <p:cNvSpPr txBox="1"/>
          <p:nvPr/>
        </p:nvSpPr>
        <p:spPr>
          <a:xfrm>
            <a:off x="822960" y="3035808"/>
            <a:ext cx="1371600" cy="658368"/>
          </a:xfrm>
          <a:prstGeom prst="rect">
            <a:avLst/>
          </a:prstGeom>
          <a:noFill/>
          <a:ln/>
        </p:spPr>
        <p:txBody>
          <a:bodyPr wrap="square" lIns="0" tIns="0" rIns="0" bIns="0" rtlCol="0" anchor="ctr"/>
          <a:lstStyle/>
          <a:p>
            <a:pPr indent="0" marL="0">
              <a:buNone/>
            </a:pPr>
            <a:r>
              <a:rPr lang="en-US" sz="1100" b="1" spc="150" kern="0" dirty="0">
                <a:solidFill>
                  <a:srgbClr val="E9A13B"/>
                </a:solidFill>
                <a:latin typeface="Calibri" pitchFamily="34" charset="0"/>
                <a:ea typeface="Calibri" pitchFamily="34" charset="-122"/>
                <a:cs typeface="Calibri" pitchFamily="34" charset="-120"/>
              </a:rPr>
              <a:t>AGENT</a:t>
            </a:r>
            <a:endParaRPr lang="en-US" sz="1100" dirty="0"/>
          </a:p>
        </p:txBody>
      </p:sp>
      <p:sp>
        <p:nvSpPr>
          <p:cNvPr id="12" name="Text 10"/>
          <p:cNvSpPr txBox="1"/>
          <p:nvPr/>
        </p:nvSpPr>
        <p:spPr>
          <a:xfrm>
            <a:off x="2286000" y="303580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FFFFFF"/>
                </a:solidFill>
                <a:latin typeface="Courier New" pitchFamily="34" charset="0"/>
                <a:ea typeface="Courier New" pitchFamily="34" charset="-122"/>
                <a:cs typeface="Courier New" pitchFamily="34" charset="-120"/>
              </a:rPr>
              <a:t>src/aavas/agents  —  PricingOrchestrator</a:t>
            </a:r>
            <a:endParaRPr lang="en-US" sz="1050" dirty="0"/>
          </a:p>
          <a:p>
            <a:pPr indent="0" marL="0">
              <a:lnSpc>
                <a:spcPct val="105000"/>
              </a:lnSpc>
              <a:buNone/>
            </a:pPr>
            <a:r>
              <a:rPr lang="en-US" sz="1000" dirty="0">
                <a:solidFill>
                  <a:srgbClr val="A7C0BA"/>
                </a:solidFill>
                <a:latin typeface="Calibri" pitchFamily="34" charset="0"/>
                <a:ea typeface="Calibri" pitchFamily="34" charset="-122"/>
                <a:cs typeface="Calibri" pitchFamily="34" charset="-120"/>
              </a:rPr>
              <a:t>underwriting → risk → policy → sales → pricing → policy → conversion → explanation → log</a:t>
            </a:r>
            <a:endParaRPr lang="en-US" sz="1050" dirty="0"/>
          </a:p>
        </p:txBody>
      </p:sp>
      <p:sp>
        <p:nvSpPr>
          <p:cNvPr id="13" name="Shape 11"/>
          <p:cNvSpPr/>
          <p:nvPr/>
        </p:nvSpPr>
        <p:spPr>
          <a:xfrm>
            <a:off x="594360" y="3813048"/>
            <a:ext cx="960120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4" name="Text 12"/>
          <p:cNvSpPr txBox="1"/>
          <p:nvPr/>
        </p:nvSpPr>
        <p:spPr>
          <a:xfrm>
            <a:off x="822960" y="3813048"/>
            <a:ext cx="1371600" cy="658368"/>
          </a:xfrm>
          <a:prstGeom prst="rect">
            <a:avLst/>
          </a:prstGeom>
          <a:noFill/>
          <a:ln/>
        </p:spPr>
        <p:txBody>
          <a:bodyPr wrap="square" lIns="0" tIns="0" rIns="0" bIns="0" rtlCol="0" anchor="ctr"/>
          <a:lstStyle/>
          <a:p>
            <a:pPr indent="0" marL="0">
              <a:buNone/>
            </a:pPr>
            <a:r>
              <a:rPr lang="en-US" sz="1100" b="1" spc="150" kern="0" dirty="0">
                <a:solidFill>
                  <a:srgbClr val="5B7F79"/>
                </a:solidFill>
                <a:latin typeface="Calibri" pitchFamily="34" charset="0"/>
                <a:ea typeface="Calibri" pitchFamily="34" charset="-122"/>
                <a:cs typeface="Calibri" pitchFamily="34" charset="-120"/>
              </a:rPr>
              <a:t>CAPABILITY</a:t>
            </a:r>
            <a:endParaRPr lang="en-US" sz="1100" dirty="0"/>
          </a:p>
        </p:txBody>
      </p:sp>
      <p:sp>
        <p:nvSpPr>
          <p:cNvPr id="15" name="Text 13"/>
          <p:cNvSpPr txBox="1"/>
          <p:nvPr/>
        </p:nvSpPr>
        <p:spPr>
          <a:xfrm>
            <a:off x="2286000" y="381304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17211F"/>
                </a:solidFill>
                <a:latin typeface="Courier New" pitchFamily="34" charset="0"/>
                <a:ea typeface="Courier New" pitchFamily="34" charset="-122"/>
                <a:cs typeface="Courier New" pitchFamily="34" charset="-120"/>
              </a:rPr>
              <a:t>models · optimization · xai · knowledge</a:t>
            </a:r>
            <a:endParaRPr lang="en-US" sz="1050" dirty="0"/>
          </a:p>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six artefacts · constraints, scenarios, yield, optimizer · SHAP / ablation · vector store</a:t>
            </a:r>
            <a:endParaRPr lang="en-US" sz="1050" dirty="0"/>
          </a:p>
        </p:txBody>
      </p:sp>
      <p:sp>
        <p:nvSpPr>
          <p:cNvPr id="16" name="Shape 14"/>
          <p:cNvSpPr/>
          <p:nvPr/>
        </p:nvSpPr>
        <p:spPr>
          <a:xfrm>
            <a:off x="594360" y="4590288"/>
            <a:ext cx="960120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7" name="Text 15"/>
          <p:cNvSpPr txBox="1"/>
          <p:nvPr/>
        </p:nvSpPr>
        <p:spPr>
          <a:xfrm>
            <a:off x="822960" y="4590288"/>
            <a:ext cx="1371600" cy="658368"/>
          </a:xfrm>
          <a:prstGeom prst="rect">
            <a:avLst/>
          </a:prstGeom>
          <a:noFill/>
          <a:ln/>
        </p:spPr>
        <p:txBody>
          <a:bodyPr wrap="square" lIns="0" tIns="0" rIns="0" bIns="0" rtlCol="0" anchor="ctr"/>
          <a:lstStyle/>
          <a:p>
            <a:pPr indent="0" marL="0">
              <a:buNone/>
            </a:pPr>
            <a:r>
              <a:rPr lang="en-US" sz="1100" b="1" spc="150" kern="0" dirty="0">
                <a:solidFill>
                  <a:srgbClr val="5B7F79"/>
                </a:solidFill>
                <a:latin typeface="Calibri" pitchFamily="34" charset="0"/>
                <a:ea typeface="Calibri" pitchFamily="34" charset="-122"/>
                <a:cs typeface="Calibri" pitchFamily="34" charset="-120"/>
              </a:rPr>
              <a:t>PLATFORM</a:t>
            </a:r>
            <a:endParaRPr lang="en-US" sz="1100" dirty="0"/>
          </a:p>
        </p:txBody>
      </p:sp>
      <p:sp>
        <p:nvSpPr>
          <p:cNvPr id="18" name="Text 16"/>
          <p:cNvSpPr txBox="1"/>
          <p:nvPr/>
        </p:nvSpPr>
        <p:spPr>
          <a:xfrm>
            <a:off x="2286000" y="459028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17211F"/>
                </a:solidFill>
                <a:latin typeface="Courier New" pitchFamily="34" charset="0"/>
                <a:ea typeface="Courier New" pitchFamily="34" charset="-122"/>
                <a:cs typeface="Courier New" pitchFamily="34" charset="-120"/>
              </a:rPr>
              <a:t>features · ingestion · governance · learning</a:t>
            </a:r>
            <a:endParaRPr lang="en-US" sz="1050" dirty="0"/>
          </a:p>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feature contracts · schema &amp; split · store, audit, decision log · outcome, drift, retrain</a:t>
            </a:r>
            <a:endParaRPr lang="en-US" sz="1050" dirty="0"/>
          </a:p>
        </p:txBody>
      </p:sp>
      <p:sp>
        <p:nvSpPr>
          <p:cNvPr id="19" name="Shape 17"/>
          <p:cNvSpPr/>
          <p:nvPr/>
        </p:nvSpPr>
        <p:spPr>
          <a:xfrm>
            <a:off x="594360" y="5367528"/>
            <a:ext cx="9601200" cy="658368"/>
          </a:xfrm>
          <a:prstGeom prst="roundRect">
            <a:avLst>
              <a:gd name="adj" fmla="val 8333"/>
            </a:avLst>
          </a:prstGeom>
          <a:solidFill>
            <a:srgbClr val="E4EAE8"/>
          </a:solidFill>
          <a:ln/>
          <a:effectLst>
            <a:outerShdw sx="100000" sy="100000" kx="0" ky="0" algn="bl" rotWithShape="0" blurRad="127000" dist="25400" dir="5400000">
              <a:srgbClr val="0C2D2A">
                <a:alpha val="10000"/>
              </a:srgbClr>
            </a:outerShdw>
          </a:effectLst>
        </p:spPr>
      </p:sp>
      <p:sp>
        <p:nvSpPr>
          <p:cNvPr id="20" name="Text 18"/>
          <p:cNvSpPr txBox="1"/>
          <p:nvPr/>
        </p:nvSpPr>
        <p:spPr>
          <a:xfrm>
            <a:off x="822960" y="5367528"/>
            <a:ext cx="1371600" cy="658368"/>
          </a:xfrm>
          <a:prstGeom prst="rect">
            <a:avLst/>
          </a:prstGeom>
          <a:noFill/>
          <a:ln/>
        </p:spPr>
        <p:txBody>
          <a:bodyPr wrap="square" lIns="0" tIns="0" rIns="0" bIns="0" rtlCol="0" anchor="ctr"/>
          <a:lstStyle/>
          <a:p>
            <a:pPr indent="0" marL="0">
              <a:buNone/>
            </a:pPr>
            <a:r>
              <a:rPr lang="en-US" sz="1100" b="1" spc="150" kern="0" dirty="0">
                <a:solidFill>
                  <a:srgbClr val="5B7F79"/>
                </a:solidFill>
                <a:latin typeface="Calibri" pitchFamily="34" charset="0"/>
                <a:ea typeface="Calibri" pitchFamily="34" charset="-122"/>
                <a:cs typeface="Calibri" pitchFamily="34" charset="-120"/>
              </a:rPr>
              <a:t>DATA</a:t>
            </a:r>
            <a:endParaRPr lang="en-US" sz="1100" dirty="0"/>
          </a:p>
        </p:txBody>
      </p:sp>
      <p:sp>
        <p:nvSpPr>
          <p:cNvPr id="21" name="Text 19"/>
          <p:cNvSpPr txBox="1"/>
          <p:nvPr/>
        </p:nvSpPr>
        <p:spPr>
          <a:xfrm>
            <a:off x="2286000" y="5367528"/>
            <a:ext cx="7726680" cy="658368"/>
          </a:xfrm>
          <a:prstGeom prst="rect">
            <a:avLst/>
          </a:prstGeom>
          <a:noFill/>
          <a:ln/>
        </p:spPr>
        <p:txBody>
          <a:bodyPr wrap="square" lIns="0" tIns="0" rIns="0" bIns="0" rtlCol="0" anchor="ctr"/>
          <a:lstStyle/>
          <a:p>
            <a:pPr indent="0" marL="0">
              <a:lnSpc>
                <a:spcPct val="105000"/>
              </a:lnSpc>
              <a:buNone/>
            </a:pPr>
            <a:r>
              <a:rPr lang="en-US" sz="1050" b="1" dirty="0">
                <a:solidFill>
                  <a:srgbClr val="17211F"/>
                </a:solidFill>
                <a:latin typeface="Courier New" pitchFamily="34" charset="0"/>
                <a:ea typeface="Courier New" pitchFamily="34" charset="-122"/>
                <a:cs typeface="Courier New" pitchFamily="34" charset="-120"/>
              </a:rPr>
              <a:t>config · data · models · governance db · reports</a:t>
            </a:r>
            <a:endParaRPr lang="en-US" sz="1050" dirty="0"/>
          </a:p>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policy &amp; feature YAML · raw + processed · joblib + model cards · XAI briefs</a:t>
            </a:r>
            <a:endParaRPr lang="en-US" sz="1050" dirty="0"/>
          </a:p>
        </p:txBody>
      </p:sp>
      <p:sp>
        <p:nvSpPr>
          <p:cNvPr id="22" name="Text 20"/>
          <p:cNvSpPr txBox="1"/>
          <p:nvPr/>
        </p:nvSpPr>
        <p:spPr>
          <a:xfrm>
            <a:off x="10195560" y="1481328"/>
            <a:ext cx="1280160" cy="502920"/>
          </a:xfrm>
          <a:prstGeom prst="rect">
            <a:avLst/>
          </a:prstGeom>
          <a:noFill/>
          <a:ln/>
        </p:spPr>
        <p:txBody>
          <a:bodyPr wrap="square" lIns="0" tIns="0" rIns="0" bIns="0" rtlCol="0" anchor="ctr"/>
          <a:lstStyle/>
          <a:p>
            <a:pPr algn="ctr" indent="0" marL="0">
              <a:buNone/>
            </a:pPr>
            <a:r>
              <a:rPr lang="en-US" sz="950" dirty="0">
                <a:solidFill>
                  <a:srgbClr val="5E6B68"/>
                </a:solidFill>
                <a:latin typeface="Calibri" pitchFamily="34" charset="0"/>
                <a:ea typeface="Calibri" pitchFamily="34" charset="-122"/>
                <a:cs typeface="Calibri" pitchFamily="34" charset="-120"/>
              </a:rPr>
              <a:t>imports flow</a:t>
            </a:r>
            <a:endParaRPr lang="en-US" sz="950" dirty="0"/>
          </a:p>
          <a:p>
            <a:pPr algn="ctr" indent="0" marL="0">
              <a:buNone/>
            </a:pPr>
            <a:r>
              <a:rPr lang="en-US" sz="950" dirty="0">
                <a:solidFill>
                  <a:srgbClr val="5E6B68"/>
                </a:solidFill>
                <a:latin typeface="Calibri" pitchFamily="34" charset="0"/>
                <a:ea typeface="Calibri" pitchFamily="34" charset="-122"/>
                <a:cs typeface="Calibri" pitchFamily="34" charset="-120"/>
              </a:rPr>
              <a:t>downward only</a:t>
            </a:r>
            <a:endParaRPr lang="en-US" sz="950" dirty="0"/>
          </a:p>
        </p:txBody>
      </p:sp>
      <p:sp>
        <p:nvSpPr>
          <p:cNvPr id="23" name="Shape 21"/>
          <p:cNvSpPr/>
          <p:nvPr/>
        </p:nvSpPr>
        <p:spPr>
          <a:xfrm>
            <a:off x="10835640" y="2148840"/>
            <a:ext cx="0" cy="3474720"/>
          </a:xfrm>
          <a:prstGeom prst="line">
            <a:avLst/>
          </a:prstGeom>
          <a:noFill/>
          <a:ln w="25400">
            <a:solidFill>
              <a:srgbClr val="E9A13B"/>
            </a:solidFill>
            <a:prstDash val="solid"/>
            <a:tailEnd type="triangle"/>
          </a:ln>
        </p:spPr>
      </p:sp>
      <p:sp>
        <p:nvSpPr>
          <p:cNvPr id="24" name="Text 22"/>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No platform module imports an agent; no agent imports the API. The rule is enforced structurally, not by convention.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The agent pipeline — the order is load-bearing</a:t>
            </a:r>
            <a:endParaRPr lang="en-US" sz="3200" dirty="0"/>
          </a:p>
        </p:txBody>
      </p:sp>
      <p:sp>
        <p:nvSpPr>
          <p:cNvPr id="4" name="Shape 2"/>
          <p:cNvSpPr/>
          <p:nvPr/>
        </p:nvSpPr>
        <p:spPr>
          <a:xfrm>
            <a:off x="594360" y="1481328"/>
            <a:ext cx="5349240" cy="621792"/>
          </a:xfrm>
          <a:prstGeom prst="roundRect">
            <a:avLst>
              <a:gd name="adj" fmla="val 8824"/>
            </a:avLst>
          </a:prstGeom>
          <a:solidFill>
            <a:srgbClr val="F1F4F3"/>
          </a:solidFill>
          <a:ln/>
          <a:effectLst>
            <a:outerShdw sx="100000" sy="100000" kx="0" ky="0" algn="bl" rotWithShape="0" blurRad="127000" dist="25400" dir="5400000">
              <a:srgbClr val="0C2D2A">
                <a:alpha val="10000"/>
              </a:srgbClr>
            </a:outerShdw>
          </a:effectLst>
        </p:spPr>
      </p:sp>
      <p:sp>
        <p:nvSpPr>
          <p:cNvPr id="5" name="Shape 3"/>
          <p:cNvSpPr/>
          <p:nvPr/>
        </p:nvSpPr>
        <p:spPr>
          <a:xfrm>
            <a:off x="758952" y="1600200"/>
            <a:ext cx="384048" cy="384048"/>
          </a:xfrm>
          <a:prstGeom prst="ellipse">
            <a:avLst/>
          </a:prstGeom>
          <a:solidFill>
            <a:srgbClr val="E9A13B"/>
          </a:solidFill>
          <a:ln/>
        </p:spPr>
      </p:sp>
      <p:sp>
        <p:nvSpPr>
          <p:cNvPr id="6" name="Text 4"/>
          <p:cNvSpPr txBox="1"/>
          <p:nvPr/>
        </p:nvSpPr>
        <p:spPr>
          <a:xfrm>
            <a:off x="758952" y="1600200"/>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0</a:t>
            </a:r>
            <a:endParaRPr lang="en-US" sz="1200" dirty="0"/>
          </a:p>
        </p:txBody>
      </p:sp>
      <p:sp>
        <p:nvSpPr>
          <p:cNvPr id="7" name="Text 5"/>
          <p:cNvSpPr txBox="1"/>
          <p:nvPr/>
        </p:nvSpPr>
        <p:spPr>
          <a:xfrm>
            <a:off x="1252728" y="1481328"/>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Underwriting</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Builds the CustomerDigitalTwin; infers the real stage from the evidence</a:t>
            </a:r>
            <a:endParaRPr lang="en-US" sz="1200" dirty="0"/>
          </a:p>
        </p:txBody>
      </p:sp>
      <p:sp>
        <p:nvSpPr>
          <p:cNvPr id="8" name="Shape 6"/>
          <p:cNvSpPr/>
          <p:nvPr/>
        </p:nvSpPr>
        <p:spPr>
          <a:xfrm>
            <a:off x="594360" y="2203704"/>
            <a:ext cx="5349240" cy="621792"/>
          </a:xfrm>
          <a:prstGeom prst="roundRect">
            <a:avLst>
              <a:gd name="adj" fmla="val 8824"/>
            </a:avLst>
          </a:prstGeom>
          <a:solidFill>
            <a:srgbClr val="F1F4F3"/>
          </a:solidFill>
          <a:ln/>
          <a:effectLst>
            <a:outerShdw sx="100000" sy="100000" kx="0" ky="0" algn="bl" rotWithShape="0" blurRad="127000" dist="25400" dir="5400000">
              <a:srgbClr val="0C2D2A">
                <a:alpha val="10000"/>
              </a:srgbClr>
            </a:outerShdw>
          </a:effectLst>
        </p:spPr>
      </p:sp>
      <p:sp>
        <p:nvSpPr>
          <p:cNvPr id="9" name="Shape 7"/>
          <p:cNvSpPr/>
          <p:nvPr/>
        </p:nvSpPr>
        <p:spPr>
          <a:xfrm>
            <a:off x="758952" y="2322576"/>
            <a:ext cx="384048" cy="384048"/>
          </a:xfrm>
          <a:prstGeom prst="ellipse">
            <a:avLst/>
          </a:prstGeom>
          <a:solidFill>
            <a:srgbClr val="E9A13B"/>
          </a:solidFill>
          <a:ln/>
        </p:spPr>
      </p:sp>
      <p:sp>
        <p:nvSpPr>
          <p:cNvPr id="10" name="Text 8"/>
          <p:cNvSpPr txBox="1"/>
          <p:nvPr/>
        </p:nvSpPr>
        <p:spPr>
          <a:xfrm>
            <a:off x="758952" y="2322576"/>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252728" y="2203704"/>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Risk</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PD → grade → expected loss %, breakeven rate</a:t>
            </a:r>
            <a:endParaRPr lang="en-US" sz="1200" dirty="0"/>
          </a:p>
        </p:txBody>
      </p:sp>
      <p:sp>
        <p:nvSpPr>
          <p:cNvPr id="12" name="Shape 10"/>
          <p:cNvSpPr/>
          <p:nvPr/>
        </p:nvSpPr>
        <p:spPr>
          <a:xfrm>
            <a:off x="594360" y="2926080"/>
            <a:ext cx="5349240" cy="621792"/>
          </a:xfrm>
          <a:prstGeom prst="roundRect">
            <a:avLst>
              <a:gd name="adj" fmla="val 8824"/>
            </a:avLst>
          </a:prstGeom>
          <a:solidFill>
            <a:srgbClr val="F1F4F3"/>
          </a:solidFill>
          <a:ln/>
          <a:effectLst>
            <a:outerShdw sx="100000" sy="100000" kx="0" ky="0" algn="bl" rotWithShape="0" blurRad="127000" dist="25400" dir="5400000">
              <a:srgbClr val="0C2D2A">
                <a:alpha val="10000"/>
              </a:srgbClr>
            </a:outerShdw>
          </a:effectLst>
        </p:spPr>
      </p:sp>
      <p:sp>
        <p:nvSpPr>
          <p:cNvPr id="13" name="Shape 11"/>
          <p:cNvSpPr/>
          <p:nvPr/>
        </p:nvSpPr>
        <p:spPr>
          <a:xfrm>
            <a:off x="758952" y="3044952"/>
            <a:ext cx="384048" cy="384048"/>
          </a:xfrm>
          <a:prstGeom prst="ellipse">
            <a:avLst/>
          </a:prstGeom>
          <a:solidFill>
            <a:srgbClr val="E9A13B"/>
          </a:solidFill>
          <a:ln/>
        </p:spPr>
      </p:sp>
      <p:sp>
        <p:nvSpPr>
          <p:cNvPr id="14" name="Text 12"/>
          <p:cNvSpPr txBox="1"/>
          <p:nvPr/>
        </p:nvSpPr>
        <p:spPr>
          <a:xfrm>
            <a:off x="758952" y="3044952"/>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252728" y="2926080"/>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Policy — envelope</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Card rate, permissible band, affordability cap (FOIR)</a:t>
            </a:r>
            <a:endParaRPr lang="en-US" sz="1200" dirty="0"/>
          </a:p>
        </p:txBody>
      </p:sp>
      <p:sp>
        <p:nvSpPr>
          <p:cNvPr id="16" name="Shape 14"/>
          <p:cNvSpPr/>
          <p:nvPr/>
        </p:nvSpPr>
        <p:spPr>
          <a:xfrm>
            <a:off x="594360" y="3648456"/>
            <a:ext cx="5349240" cy="621792"/>
          </a:xfrm>
          <a:prstGeom prst="roundRect">
            <a:avLst>
              <a:gd name="adj" fmla="val 8824"/>
            </a:avLst>
          </a:prstGeom>
          <a:solidFill>
            <a:srgbClr val="F1F4F3"/>
          </a:solidFill>
          <a:ln/>
          <a:effectLst>
            <a:outerShdw sx="100000" sy="100000" kx="0" ky="0" algn="bl" rotWithShape="0" blurRad="127000" dist="25400" dir="5400000">
              <a:srgbClr val="0C2D2A">
                <a:alpha val="10000"/>
              </a:srgbClr>
            </a:outerShdw>
          </a:effectLst>
        </p:spPr>
      </p:sp>
      <p:sp>
        <p:nvSpPr>
          <p:cNvPr id="17" name="Shape 15"/>
          <p:cNvSpPr/>
          <p:nvPr/>
        </p:nvSpPr>
        <p:spPr>
          <a:xfrm>
            <a:off x="758952" y="3767328"/>
            <a:ext cx="384048" cy="384048"/>
          </a:xfrm>
          <a:prstGeom prst="ellipse">
            <a:avLst/>
          </a:prstGeom>
          <a:solidFill>
            <a:srgbClr val="E9A13B"/>
          </a:solidFill>
          <a:ln/>
        </p:spPr>
      </p:sp>
      <p:sp>
        <p:nvSpPr>
          <p:cNvPr id="18" name="Text 16"/>
          <p:cNvSpPr txBox="1"/>
          <p:nvPr/>
        </p:nvSpPr>
        <p:spPr>
          <a:xfrm>
            <a:off x="758952" y="3767328"/>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252728" y="3648456"/>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Sales context</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Competitor gap, target pressure, override risk, evidence status</a:t>
            </a:r>
            <a:endParaRPr lang="en-US" sz="1200" dirty="0"/>
          </a:p>
        </p:txBody>
      </p:sp>
      <p:sp>
        <p:nvSpPr>
          <p:cNvPr id="20" name="Shape 18"/>
          <p:cNvSpPr/>
          <p:nvPr/>
        </p:nvSpPr>
        <p:spPr>
          <a:xfrm>
            <a:off x="594360" y="4370832"/>
            <a:ext cx="5349240" cy="621792"/>
          </a:xfrm>
          <a:prstGeom prst="roundRect">
            <a:avLst>
              <a:gd name="adj" fmla="val 8824"/>
            </a:avLst>
          </a:prstGeom>
          <a:solidFill>
            <a:srgbClr val="F1F4F3"/>
          </a:solidFill>
          <a:ln/>
          <a:effectLst>
            <a:outerShdw sx="100000" sy="100000" kx="0" ky="0" algn="bl" rotWithShape="0" blurRad="127000" dist="25400" dir="5400000">
              <a:srgbClr val="0C2D2A">
                <a:alpha val="10000"/>
              </a:srgbClr>
            </a:outerShdw>
          </a:effectLst>
        </p:spPr>
      </p:sp>
      <p:sp>
        <p:nvSpPr>
          <p:cNvPr id="21" name="Shape 19"/>
          <p:cNvSpPr/>
          <p:nvPr/>
        </p:nvSpPr>
        <p:spPr>
          <a:xfrm>
            <a:off x="758952" y="4489704"/>
            <a:ext cx="384048" cy="384048"/>
          </a:xfrm>
          <a:prstGeom prst="ellipse">
            <a:avLst/>
          </a:prstGeom>
          <a:solidFill>
            <a:srgbClr val="E9A13B"/>
          </a:solidFill>
          <a:ln/>
        </p:spPr>
      </p:sp>
      <p:sp>
        <p:nvSpPr>
          <p:cNvPr id="22" name="Text 20"/>
          <p:cNvSpPr txBox="1"/>
          <p:nvPr/>
        </p:nvSpPr>
        <p:spPr>
          <a:xfrm>
            <a:off x="758952" y="4489704"/>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252728" y="4370832"/>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Pricing</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Anchor → scenario grid → scored table → recommendation</a:t>
            </a:r>
            <a:endParaRPr lang="en-US" sz="1200" dirty="0"/>
          </a:p>
        </p:txBody>
      </p:sp>
      <p:sp>
        <p:nvSpPr>
          <p:cNvPr id="24" name="Shape 22"/>
          <p:cNvSpPr/>
          <p:nvPr/>
        </p:nvSpPr>
        <p:spPr>
          <a:xfrm>
            <a:off x="6217920" y="1481328"/>
            <a:ext cx="5349240" cy="621792"/>
          </a:xfrm>
          <a:prstGeom prst="roundRect">
            <a:avLst>
              <a:gd name="adj" fmla="val 8824"/>
            </a:avLst>
          </a:prstGeom>
          <a:solidFill>
            <a:srgbClr val="FFFFFF"/>
          </a:solidFill>
          <a:ln w="12700">
            <a:solidFill>
              <a:srgbClr val="E4EAE8"/>
            </a:solidFill>
            <a:prstDash val="solid"/>
          </a:ln>
        </p:spPr>
      </p:sp>
      <p:sp>
        <p:nvSpPr>
          <p:cNvPr id="25" name="Shape 23"/>
          <p:cNvSpPr/>
          <p:nvPr/>
        </p:nvSpPr>
        <p:spPr>
          <a:xfrm>
            <a:off x="6382512" y="1600200"/>
            <a:ext cx="384048" cy="384048"/>
          </a:xfrm>
          <a:prstGeom prst="ellipse">
            <a:avLst/>
          </a:prstGeom>
          <a:solidFill>
            <a:srgbClr val="5B7F79"/>
          </a:solidFill>
          <a:ln/>
        </p:spPr>
      </p:sp>
      <p:sp>
        <p:nvSpPr>
          <p:cNvPr id="26" name="Text 24"/>
          <p:cNvSpPr txBox="1"/>
          <p:nvPr/>
        </p:nvSpPr>
        <p:spPr>
          <a:xfrm>
            <a:off x="6382512" y="1600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6876288" y="1481328"/>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Policy — enforce</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Re-validates and clamps the chosen price, and flags it</a:t>
            </a:r>
            <a:endParaRPr lang="en-US" sz="1200" dirty="0"/>
          </a:p>
        </p:txBody>
      </p:sp>
      <p:sp>
        <p:nvSpPr>
          <p:cNvPr id="28" name="Shape 26"/>
          <p:cNvSpPr/>
          <p:nvPr/>
        </p:nvSpPr>
        <p:spPr>
          <a:xfrm>
            <a:off x="6217920" y="2203704"/>
            <a:ext cx="5349240" cy="621792"/>
          </a:xfrm>
          <a:prstGeom prst="roundRect">
            <a:avLst>
              <a:gd name="adj" fmla="val 8824"/>
            </a:avLst>
          </a:prstGeom>
          <a:solidFill>
            <a:srgbClr val="FFFFFF"/>
          </a:solidFill>
          <a:ln w="12700">
            <a:solidFill>
              <a:srgbClr val="E4EAE8"/>
            </a:solidFill>
            <a:prstDash val="solid"/>
          </a:ln>
        </p:spPr>
      </p:sp>
      <p:sp>
        <p:nvSpPr>
          <p:cNvPr id="29" name="Shape 27"/>
          <p:cNvSpPr/>
          <p:nvPr/>
        </p:nvSpPr>
        <p:spPr>
          <a:xfrm>
            <a:off x="6382512" y="2322576"/>
            <a:ext cx="384048" cy="384048"/>
          </a:xfrm>
          <a:prstGeom prst="ellipse">
            <a:avLst/>
          </a:prstGeom>
          <a:solidFill>
            <a:srgbClr val="5B7F79"/>
          </a:solidFill>
          <a:ln/>
        </p:spPr>
      </p:sp>
      <p:sp>
        <p:nvSpPr>
          <p:cNvPr id="30" name="Text 28"/>
          <p:cNvSpPr txBox="1"/>
          <p:nvPr/>
        </p:nvSpPr>
        <p:spPr>
          <a:xfrm>
            <a:off x="6382512" y="23225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6876288" y="2203704"/>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Sales context again</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Re-read against the price actually being offered</a:t>
            </a:r>
            <a:endParaRPr lang="en-US" sz="1200" dirty="0"/>
          </a:p>
        </p:txBody>
      </p:sp>
      <p:sp>
        <p:nvSpPr>
          <p:cNvPr id="32" name="Shape 30"/>
          <p:cNvSpPr/>
          <p:nvPr/>
        </p:nvSpPr>
        <p:spPr>
          <a:xfrm>
            <a:off x="6217920" y="2926080"/>
            <a:ext cx="5349240" cy="621792"/>
          </a:xfrm>
          <a:prstGeom prst="roundRect">
            <a:avLst>
              <a:gd name="adj" fmla="val 8824"/>
            </a:avLst>
          </a:prstGeom>
          <a:solidFill>
            <a:srgbClr val="FFFFFF"/>
          </a:solidFill>
          <a:ln w="12700">
            <a:solidFill>
              <a:srgbClr val="E4EAE8"/>
            </a:solidFill>
            <a:prstDash val="solid"/>
          </a:ln>
        </p:spPr>
      </p:sp>
      <p:sp>
        <p:nvSpPr>
          <p:cNvPr id="33" name="Shape 31"/>
          <p:cNvSpPr/>
          <p:nvPr/>
        </p:nvSpPr>
        <p:spPr>
          <a:xfrm>
            <a:off x="6382512" y="3044952"/>
            <a:ext cx="384048" cy="384048"/>
          </a:xfrm>
          <a:prstGeom prst="ellipse">
            <a:avLst/>
          </a:prstGeom>
          <a:solidFill>
            <a:srgbClr val="5B7F79"/>
          </a:solidFill>
          <a:ln/>
        </p:spPr>
      </p:sp>
      <p:sp>
        <p:nvSpPr>
          <p:cNvPr id="34" name="Text 32"/>
          <p:cNvSpPr txBox="1"/>
          <p:nvPr/>
        </p:nvSpPr>
        <p:spPr>
          <a:xfrm>
            <a:off x="6382512" y="30449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5" name="Text 33"/>
          <p:cNvSpPr txBox="1"/>
          <p:nvPr/>
        </p:nvSpPr>
        <p:spPr>
          <a:xfrm>
            <a:off x="6876288" y="2926080"/>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Conversion</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Elasticity, negotiation table, rate for 70% / 50% conversion</a:t>
            </a:r>
            <a:endParaRPr lang="en-US" sz="1200" dirty="0"/>
          </a:p>
        </p:txBody>
      </p:sp>
      <p:sp>
        <p:nvSpPr>
          <p:cNvPr id="36" name="Shape 34"/>
          <p:cNvSpPr/>
          <p:nvPr/>
        </p:nvSpPr>
        <p:spPr>
          <a:xfrm>
            <a:off x="6217920" y="3648456"/>
            <a:ext cx="5349240" cy="621792"/>
          </a:xfrm>
          <a:prstGeom prst="roundRect">
            <a:avLst>
              <a:gd name="adj" fmla="val 8824"/>
            </a:avLst>
          </a:prstGeom>
          <a:solidFill>
            <a:srgbClr val="FFFFFF"/>
          </a:solidFill>
          <a:ln w="12700">
            <a:solidFill>
              <a:srgbClr val="E4EAE8"/>
            </a:solidFill>
            <a:prstDash val="solid"/>
          </a:ln>
        </p:spPr>
      </p:sp>
      <p:sp>
        <p:nvSpPr>
          <p:cNvPr id="37" name="Shape 35"/>
          <p:cNvSpPr/>
          <p:nvPr/>
        </p:nvSpPr>
        <p:spPr>
          <a:xfrm>
            <a:off x="6382512" y="3767328"/>
            <a:ext cx="384048" cy="384048"/>
          </a:xfrm>
          <a:prstGeom prst="ellipse">
            <a:avLst/>
          </a:prstGeom>
          <a:solidFill>
            <a:srgbClr val="5B7F79"/>
          </a:solidFill>
          <a:ln/>
        </p:spPr>
      </p:sp>
      <p:sp>
        <p:nvSpPr>
          <p:cNvPr id="38" name="Text 36"/>
          <p:cNvSpPr txBox="1"/>
          <p:nvPr/>
        </p:nvSpPr>
        <p:spPr>
          <a:xfrm>
            <a:off x="6382512" y="37673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9" name="Text 37"/>
          <p:cNvSpPr txBox="1"/>
          <p:nvPr/>
        </p:nvSpPr>
        <p:spPr>
          <a:xfrm>
            <a:off x="6876288" y="3648456"/>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Explanation</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Reason codes, commercial-vs-risk split, value decomposition</a:t>
            </a:r>
            <a:endParaRPr lang="en-US" sz="1200" dirty="0"/>
          </a:p>
        </p:txBody>
      </p:sp>
      <p:sp>
        <p:nvSpPr>
          <p:cNvPr id="40" name="Shape 38"/>
          <p:cNvSpPr/>
          <p:nvPr/>
        </p:nvSpPr>
        <p:spPr>
          <a:xfrm>
            <a:off x="6217920" y="4370832"/>
            <a:ext cx="5349240" cy="621792"/>
          </a:xfrm>
          <a:prstGeom prst="roundRect">
            <a:avLst>
              <a:gd name="adj" fmla="val 8824"/>
            </a:avLst>
          </a:prstGeom>
          <a:solidFill>
            <a:srgbClr val="FFFFFF"/>
          </a:solidFill>
          <a:ln w="12700">
            <a:solidFill>
              <a:srgbClr val="E4EAE8"/>
            </a:solidFill>
            <a:prstDash val="solid"/>
          </a:ln>
        </p:spPr>
      </p:sp>
      <p:sp>
        <p:nvSpPr>
          <p:cNvPr id="41" name="Shape 39"/>
          <p:cNvSpPr/>
          <p:nvPr/>
        </p:nvSpPr>
        <p:spPr>
          <a:xfrm>
            <a:off x="6382512" y="4489704"/>
            <a:ext cx="384048" cy="384048"/>
          </a:xfrm>
          <a:prstGeom prst="ellipse">
            <a:avLst/>
          </a:prstGeom>
          <a:solidFill>
            <a:srgbClr val="5B7F79"/>
          </a:solidFill>
          <a:ln/>
        </p:spPr>
      </p:sp>
      <p:sp>
        <p:nvSpPr>
          <p:cNvPr id="42" name="Text 40"/>
          <p:cNvSpPr txBox="1"/>
          <p:nvPr/>
        </p:nvSpPr>
        <p:spPr>
          <a:xfrm>
            <a:off x="6382512" y="44897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3" name="Text 41"/>
          <p:cNvSpPr txBox="1"/>
          <p:nvPr/>
        </p:nvSpPr>
        <p:spPr>
          <a:xfrm>
            <a:off x="6876288" y="4370832"/>
            <a:ext cx="4572000" cy="621792"/>
          </a:xfrm>
          <a:prstGeom prst="rect">
            <a:avLst/>
          </a:prstGeom>
          <a:noFill/>
          <a:ln/>
        </p:spPr>
        <p:txBody>
          <a:bodyPr wrap="square" lIns="0" tIns="0" rIns="0" bIns="0" rtlCol="0" anchor="ctr"/>
          <a:lstStyle/>
          <a:p>
            <a:pPr indent="0" marL="0">
              <a:lnSpc>
                <a:spcPct val="100000"/>
              </a:lnSpc>
              <a:buNone/>
            </a:pPr>
            <a:r>
              <a:rPr lang="en-US" sz="1200" b="1" dirty="0">
                <a:solidFill>
                  <a:srgbClr val="17211F"/>
                </a:solidFill>
                <a:latin typeface="Calibri" pitchFamily="34" charset="0"/>
                <a:ea typeface="Calibri" pitchFamily="34" charset="-122"/>
                <a:cs typeface="Calibri" pitchFamily="34" charset="-120"/>
              </a:rPr>
              <a:t>Decision log</a:t>
            </a:r>
            <a:endParaRPr lang="en-US" sz="1200" dirty="0"/>
          </a:p>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Append-only record + audit entry — nothing is returned unrecorded</a:t>
            </a:r>
            <a:endParaRPr lang="en-US" sz="1200" dirty="0"/>
          </a:p>
        </p:txBody>
      </p:sp>
      <p:sp>
        <p:nvSpPr>
          <p:cNvPr id="44" name="Shape 42"/>
          <p:cNvSpPr/>
          <p:nvPr/>
        </p:nvSpPr>
        <p:spPr>
          <a:xfrm>
            <a:off x="594360" y="5193792"/>
            <a:ext cx="10972800" cy="868680"/>
          </a:xfrm>
          <a:prstGeom prst="roundRect">
            <a:avLst>
              <a:gd name="adj" fmla="val 6316"/>
            </a:avLst>
          </a:prstGeom>
          <a:solidFill>
            <a:srgbClr val="0C2D2A"/>
          </a:solidFill>
          <a:ln/>
          <a:effectLst>
            <a:outerShdw sx="100000" sy="100000" kx="0" ky="0" algn="bl" rotWithShape="0" blurRad="127000" dist="25400" dir="5400000">
              <a:srgbClr val="0C2D2A">
                <a:alpha val="10000"/>
              </a:srgbClr>
            </a:outerShdw>
          </a:effectLst>
        </p:spPr>
      </p:sp>
      <p:sp>
        <p:nvSpPr>
          <p:cNvPr id="45" name="Text 43"/>
          <p:cNvSpPr txBox="1"/>
          <p:nvPr/>
        </p:nvSpPr>
        <p:spPr>
          <a:xfrm>
            <a:off x="914400" y="5193792"/>
            <a:ext cx="10332720" cy="868680"/>
          </a:xfrm>
          <a:prstGeom prst="rect">
            <a:avLst/>
          </a:prstGeom>
          <a:noFill/>
          <a:ln/>
        </p:spPr>
        <p:txBody>
          <a:bodyPr wrap="square" lIns="0" tIns="0" rIns="0" bIns="0" rtlCol="0" anchor="ctr"/>
          <a:lstStyle/>
          <a:p>
            <a:pPr indent="0" marL="0">
              <a:lnSpc>
                <a:spcPct val="105000"/>
              </a:lnSpc>
              <a:buNone/>
            </a:pPr>
            <a:r>
              <a:rPr lang="en-US" sz="1200" b="1" dirty="0">
                <a:solidFill>
                  <a:srgbClr val="E9A13B"/>
                </a:solidFill>
                <a:latin typeface="Calibri" pitchFamily="34" charset="0"/>
                <a:ea typeface="Calibri" pitchFamily="34" charset="-122"/>
                <a:cs typeface="Calibri" pitchFamily="34" charset="-120"/>
              </a:rPr>
              <a:t>Why this order.  </a:t>
            </a:r>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Risk runs first because the grade it assigns is what the policy card rate is built from. Policy runs twice — once to define where the optimizer may search, once to clamp what it chose. Conversion runs after pricing because it needs the final price as its centre point.</a:t>
            </a:r>
            <a:endParaRPr lang="en-US" sz="1200" dirty="0"/>
          </a:p>
        </p:txBody>
      </p:sp>
      <p:sp>
        <p:nvSpPr>
          <p:cNvPr id="46" name="Text 44"/>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The learning agent is deliberately not in the request path: it runs on captured overrides and outcomes, and produces proposals capped at ±15 bps.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ARCHITECTURE · THE DECISION KERNEL</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A constrained search, not a model output</a:t>
            </a:r>
            <a:endParaRPr lang="en-US" sz="3200" dirty="0"/>
          </a:p>
        </p:txBody>
      </p:sp>
      <p:sp>
        <p:nvSpPr>
          <p:cNvPr id="4" name="Shape 2"/>
          <p:cNvSpPr/>
          <p:nvPr/>
        </p:nvSpPr>
        <p:spPr>
          <a:xfrm>
            <a:off x="594360" y="1463040"/>
            <a:ext cx="10881360" cy="804672"/>
          </a:xfrm>
          <a:prstGeom prst="roundRect">
            <a:avLst>
              <a:gd name="adj" fmla="val 6818"/>
            </a:avLst>
          </a:prstGeom>
          <a:solidFill>
            <a:srgbClr val="F1F4F3"/>
          </a:solidFill>
          <a:ln/>
          <a:effectLst>
            <a:outerShdw sx="100000" sy="100000" kx="0" ky="0" algn="bl" rotWithShape="0" blurRad="127000" dist="25400" dir="5400000">
              <a:srgbClr val="0C2D2A">
                <a:alpha val="10000"/>
              </a:srgbClr>
            </a:outerShdw>
          </a:effectLst>
        </p:spPr>
      </p:sp>
      <p:sp>
        <p:nvSpPr>
          <p:cNvPr id="5" name="Shape 3"/>
          <p:cNvSpPr/>
          <p:nvPr/>
        </p:nvSpPr>
        <p:spPr>
          <a:xfrm>
            <a:off x="868680" y="1673352"/>
            <a:ext cx="384048" cy="384048"/>
          </a:xfrm>
          <a:prstGeom prst="ellipse">
            <a:avLst/>
          </a:prstGeom>
          <a:solidFill>
            <a:srgbClr val="5B7F79"/>
          </a:solidFill>
          <a:ln/>
        </p:spPr>
      </p:sp>
      <p:sp>
        <p:nvSpPr>
          <p:cNvPr id="6" name="Text 4"/>
          <p:cNvSpPr txBox="1"/>
          <p:nvPr/>
        </p:nvSpPr>
        <p:spPr>
          <a:xfrm>
            <a:off x="868680"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17320" y="1463040"/>
            <a:ext cx="2286000" cy="804672"/>
          </a:xfrm>
          <a:prstGeom prst="rect">
            <a:avLst/>
          </a:prstGeom>
          <a:noFill/>
          <a:ln/>
        </p:spPr>
        <p:txBody>
          <a:bodyPr wrap="square" lIns="0" tIns="0" rIns="0" bIns="0" rtlCol="0" anchor="ctr"/>
          <a:lstStyle/>
          <a:p>
            <a:pPr indent="0" marL="0">
              <a:lnSpc>
                <a:spcPct val="105000"/>
              </a:lnSpc>
              <a:buNone/>
            </a:pPr>
            <a:r>
              <a:rPr lang="en-US" sz="1300" b="1" dirty="0">
                <a:solidFill>
                  <a:srgbClr val="17211F"/>
                </a:solidFill>
                <a:latin typeface="Calibri" pitchFamily="34" charset="0"/>
                <a:ea typeface="Calibri" pitchFamily="34" charset="-122"/>
                <a:cs typeface="Calibri" pitchFamily="34" charset="-120"/>
              </a:rPr>
              <a:t>Policy envelope</a:t>
            </a:r>
            <a:endParaRPr lang="en-US" sz="1300" dirty="0"/>
          </a:p>
          <a:p>
            <a:pPr indent="0" marL="0">
              <a:lnSpc>
                <a:spcPct val="105000"/>
              </a:lnSpc>
              <a:buNone/>
            </a:pPr>
            <a:r>
              <a:rPr lang="en-US" sz="900" dirty="0">
                <a:solidFill>
                  <a:srgbClr val="5B7F79"/>
                </a:solidFill>
                <a:latin typeface="Courier New" pitchFamily="34" charset="0"/>
                <a:ea typeface="Courier New" pitchFamily="34" charset="-122"/>
                <a:cs typeface="Courier New" pitchFamily="34" charset="-120"/>
              </a:rPr>
              <a:t>constraints.py</a:t>
            </a:r>
            <a:endParaRPr lang="en-US" sz="1300" dirty="0"/>
          </a:p>
        </p:txBody>
      </p:sp>
      <p:sp>
        <p:nvSpPr>
          <p:cNvPr id="8" name="Text 6"/>
          <p:cNvSpPr txBox="1"/>
          <p:nvPr/>
        </p:nvSpPr>
        <p:spPr>
          <a:xfrm>
            <a:off x="3840480" y="1463040"/>
            <a:ext cx="7452360" cy="804672"/>
          </a:xfrm>
          <a:prstGeom prst="rect">
            <a:avLst/>
          </a:prstGeom>
          <a:noFill/>
          <a:ln/>
        </p:spPr>
        <p:txBody>
          <a:bodyPr wrap="square" lIns="0" tIns="0" rIns="0" bIns="0" rtlCol="0" anchor="ctr"/>
          <a:lstStyle/>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card rate = floor + segment + grade + LTV + property + deviations</a:t>
            </a:r>
            <a:endParaRPr lang="en-US" sz="1000" dirty="0"/>
          </a:p>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band = [card−60, card+100] ∩ [floor, ceiling] ∩ max affordable rate</a:t>
            </a:r>
            <a:endParaRPr lang="en-US" sz="1000" dirty="0"/>
          </a:p>
        </p:txBody>
      </p:sp>
      <p:sp>
        <p:nvSpPr>
          <p:cNvPr id="9" name="Shape 7"/>
          <p:cNvSpPr/>
          <p:nvPr/>
        </p:nvSpPr>
        <p:spPr>
          <a:xfrm>
            <a:off x="1060704" y="2267712"/>
            <a:ext cx="0" cy="109728"/>
          </a:xfrm>
          <a:prstGeom prst="line">
            <a:avLst/>
          </a:prstGeom>
          <a:noFill/>
          <a:ln w="19050">
            <a:solidFill>
              <a:srgbClr val="5B7F79"/>
            </a:solidFill>
            <a:prstDash val="solid"/>
            <a:tailEnd type="triangle"/>
          </a:ln>
        </p:spPr>
      </p:sp>
      <p:sp>
        <p:nvSpPr>
          <p:cNvPr id="10" name="Shape 8"/>
          <p:cNvSpPr/>
          <p:nvPr/>
        </p:nvSpPr>
        <p:spPr>
          <a:xfrm>
            <a:off x="594360" y="2377440"/>
            <a:ext cx="10881360" cy="804672"/>
          </a:xfrm>
          <a:prstGeom prst="roundRect">
            <a:avLst>
              <a:gd name="adj" fmla="val 6818"/>
            </a:avLst>
          </a:prstGeom>
          <a:solidFill>
            <a:srgbClr val="F1F4F3"/>
          </a:solidFill>
          <a:ln/>
          <a:effectLst>
            <a:outerShdw sx="100000" sy="100000" kx="0" ky="0" algn="bl" rotWithShape="0" blurRad="127000" dist="25400" dir="5400000">
              <a:srgbClr val="0C2D2A">
                <a:alpha val="10000"/>
              </a:srgbClr>
            </a:outerShdw>
          </a:effectLst>
        </p:spPr>
      </p:sp>
      <p:sp>
        <p:nvSpPr>
          <p:cNvPr id="11" name="Shape 9"/>
          <p:cNvSpPr/>
          <p:nvPr/>
        </p:nvSpPr>
        <p:spPr>
          <a:xfrm>
            <a:off x="868680" y="2587752"/>
            <a:ext cx="384048" cy="384048"/>
          </a:xfrm>
          <a:prstGeom prst="ellipse">
            <a:avLst/>
          </a:prstGeom>
          <a:solidFill>
            <a:srgbClr val="5B7F79"/>
          </a:solidFill>
          <a:ln/>
        </p:spPr>
      </p:sp>
      <p:sp>
        <p:nvSpPr>
          <p:cNvPr id="12" name="Text 10"/>
          <p:cNvSpPr txBox="1"/>
          <p:nvPr/>
        </p:nvSpPr>
        <p:spPr>
          <a:xfrm>
            <a:off x="868680" y="2587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417320" y="2377440"/>
            <a:ext cx="2286000" cy="804672"/>
          </a:xfrm>
          <a:prstGeom prst="rect">
            <a:avLst/>
          </a:prstGeom>
          <a:noFill/>
          <a:ln/>
        </p:spPr>
        <p:txBody>
          <a:bodyPr wrap="square" lIns="0" tIns="0" rIns="0" bIns="0" rtlCol="0" anchor="ctr"/>
          <a:lstStyle/>
          <a:p>
            <a:pPr indent="0" marL="0">
              <a:lnSpc>
                <a:spcPct val="105000"/>
              </a:lnSpc>
              <a:buNone/>
            </a:pPr>
            <a:r>
              <a:rPr lang="en-US" sz="1300" b="1" dirty="0">
                <a:solidFill>
                  <a:srgbClr val="17211F"/>
                </a:solidFill>
                <a:latin typeface="Calibri" pitchFamily="34" charset="0"/>
                <a:ea typeface="Calibri" pitchFamily="34" charset="-122"/>
                <a:cs typeface="Calibri" pitchFamily="34" charset="-120"/>
              </a:rPr>
              <a:t>Scenario grid</a:t>
            </a:r>
            <a:endParaRPr lang="en-US" sz="1300" dirty="0"/>
          </a:p>
          <a:p>
            <a:pPr indent="0" marL="0">
              <a:lnSpc>
                <a:spcPct val="105000"/>
              </a:lnSpc>
              <a:buNone/>
            </a:pPr>
            <a:r>
              <a:rPr lang="en-US" sz="900" dirty="0">
                <a:solidFill>
                  <a:srgbClr val="5B7F79"/>
                </a:solidFill>
                <a:latin typeface="Courier New" pitchFamily="34" charset="0"/>
                <a:ea typeface="Courier New" pitchFamily="34" charset="-122"/>
                <a:cs typeface="Courier New" pitchFamily="34" charset="-120"/>
              </a:rPr>
              <a:t>scenario_generator.py</a:t>
            </a:r>
            <a:endParaRPr lang="en-US" sz="1300" dirty="0"/>
          </a:p>
        </p:txBody>
      </p:sp>
      <p:sp>
        <p:nvSpPr>
          <p:cNvPr id="14" name="Text 12"/>
          <p:cNvSpPr txBox="1"/>
          <p:nvPr/>
        </p:nvSpPr>
        <p:spPr>
          <a:xfrm>
            <a:off x="3840480" y="2377440"/>
            <a:ext cx="7452360" cy="804672"/>
          </a:xfrm>
          <a:prstGeom prst="rect">
            <a:avLst/>
          </a:prstGeom>
          <a:noFill/>
          <a:ln/>
        </p:spPr>
        <p:txBody>
          <a:bodyPr wrap="square" lIns="0" tIns="0" rIns="0" bIns="0" rtlCol="0" anchor="ctr"/>
          <a:lstStyle/>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5 bps grid across the band, plus folded-in anchors: card rate, Stage-2</a:t>
            </a:r>
            <a:endParaRPr lang="en-US" sz="1000" dirty="0"/>
          </a:p>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anchor, competitor match, anticipated human rate — then trimmed</a:t>
            </a:r>
            <a:endParaRPr lang="en-US" sz="1000" dirty="0"/>
          </a:p>
        </p:txBody>
      </p:sp>
      <p:sp>
        <p:nvSpPr>
          <p:cNvPr id="15" name="Shape 13"/>
          <p:cNvSpPr/>
          <p:nvPr/>
        </p:nvSpPr>
        <p:spPr>
          <a:xfrm>
            <a:off x="1060704" y="3182112"/>
            <a:ext cx="0" cy="109728"/>
          </a:xfrm>
          <a:prstGeom prst="line">
            <a:avLst/>
          </a:prstGeom>
          <a:noFill/>
          <a:ln w="19050">
            <a:solidFill>
              <a:srgbClr val="5B7F79"/>
            </a:solidFill>
            <a:prstDash val="solid"/>
            <a:tailEnd type="triangle"/>
          </a:ln>
        </p:spPr>
      </p:sp>
      <p:sp>
        <p:nvSpPr>
          <p:cNvPr id="16" name="Shape 14"/>
          <p:cNvSpPr/>
          <p:nvPr/>
        </p:nvSpPr>
        <p:spPr>
          <a:xfrm>
            <a:off x="594360" y="3291840"/>
            <a:ext cx="10881360" cy="804672"/>
          </a:xfrm>
          <a:prstGeom prst="roundRect">
            <a:avLst>
              <a:gd name="adj" fmla="val 6818"/>
            </a:avLst>
          </a:prstGeom>
          <a:solidFill>
            <a:srgbClr val="F1F4F3"/>
          </a:solidFill>
          <a:ln/>
          <a:effectLst>
            <a:outerShdw sx="100000" sy="100000" kx="0" ky="0" algn="bl" rotWithShape="0" blurRad="127000" dist="25400" dir="5400000">
              <a:srgbClr val="0C2D2A">
                <a:alpha val="10000"/>
              </a:srgbClr>
            </a:outerShdw>
          </a:effectLst>
        </p:spPr>
      </p:sp>
      <p:sp>
        <p:nvSpPr>
          <p:cNvPr id="17" name="Shape 15"/>
          <p:cNvSpPr/>
          <p:nvPr/>
        </p:nvSpPr>
        <p:spPr>
          <a:xfrm>
            <a:off x="868680" y="3502152"/>
            <a:ext cx="384048" cy="384048"/>
          </a:xfrm>
          <a:prstGeom prst="ellipse">
            <a:avLst/>
          </a:prstGeom>
          <a:solidFill>
            <a:srgbClr val="5B7F79"/>
          </a:solidFill>
          <a:ln/>
        </p:spPr>
      </p:sp>
      <p:sp>
        <p:nvSpPr>
          <p:cNvPr id="18" name="Text 16"/>
          <p:cNvSpPr txBox="1"/>
          <p:nvPr/>
        </p:nvSpPr>
        <p:spPr>
          <a:xfrm>
            <a:off x="868680" y="35021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417320" y="3291840"/>
            <a:ext cx="2286000" cy="804672"/>
          </a:xfrm>
          <a:prstGeom prst="rect">
            <a:avLst/>
          </a:prstGeom>
          <a:noFill/>
          <a:ln/>
        </p:spPr>
        <p:txBody>
          <a:bodyPr wrap="square" lIns="0" tIns="0" rIns="0" bIns="0" rtlCol="0" anchor="ctr"/>
          <a:lstStyle/>
          <a:p>
            <a:pPr indent="0" marL="0">
              <a:lnSpc>
                <a:spcPct val="105000"/>
              </a:lnSpc>
              <a:buNone/>
            </a:pPr>
            <a:r>
              <a:rPr lang="en-US" sz="1300" b="1" dirty="0">
                <a:solidFill>
                  <a:srgbClr val="17211F"/>
                </a:solidFill>
                <a:latin typeface="Calibri" pitchFamily="34" charset="0"/>
                <a:ea typeface="Calibri" pitchFamily="34" charset="-122"/>
                <a:cs typeface="Calibri" pitchFamily="34" charset="-120"/>
              </a:rPr>
              <a:t>Vectorised scoring</a:t>
            </a:r>
            <a:endParaRPr lang="en-US" sz="1300" dirty="0"/>
          </a:p>
          <a:p>
            <a:pPr indent="0" marL="0">
              <a:lnSpc>
                <a:spcPct val="105000"/>
              </a:lnSpc>
              <a:buNone/>
            </a:pPr>
            <a:r>
              <a:rPr lang="en-US" sz="900" dirty="0">
                <a:solidFill>
                  <a:srgbClr val="5B7F79"/>
                </a:solidFill>
                <a:latin typeface="Courier New" pitchFamily="34" charset="0"/>
                <a:ea typeface="Courier New" pitchFamily="34" charset="-122"/>
                <a:cs typeface="Courier New" pitchFamily="34" charset="-120"/>
              </a:rPr>
              <a:t>price_optimizer.py</a:t>
            </a:r>
            <a:endParaRPr lang="en-US" sz="1300" dirty="0"/>
          </a:p>
        </p:txBody>
      </p:sp>
      <p:sp>
        <p:nvSpPr>
          <p:cNvPr id="20" name="Text 18"/>
          <p:cNvSpPr txBox="1"/>
          <p:nvPr/>
        </p:nvSpPr>
        <p:spPr>
          <a:xfrm>
            <a:off x="3840480" y="3291840"/>
            <a:ext cx="7452360" cy="804672"/>
          </a:xfrm>
          <a:prstGeom prst="rect">
            <a:avLst/>
          </a:prstGeom>
          <a:noFill/>
          <a:ln/>
        </p:spPr>
        <p:txBody>
          <a:bodyPr wrap="square" lIns="0" tIns="0" rIns="0" bIns="0" rtlCol="0" anchor="ctr"/>
          <a:lstStyle/>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one pass per model over the whole grid:</a:t>
            </a:r>
            <a:endParaRPr lang="en-US" sz="1000" dirty="0"/>
          </a:p>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P(conversion | rate) and P(BT-out | rate) → expected life</a:t>
            </a:r>
            <a:endParaRPr lang="en-US" sz="1000" dirty="0"/>
          </a:p>
        </p:txBody>
      </p:sp>
      <p:sp>
        <p:nvSpPr>
          <p:cNvPr id="21" name="Shape 19"/>
          <p:cNvSpPr/>
          <p:nvPr/>
        </p:nvSpPr>
        <p:spPr>
          <a:xfrm>
            <a:off x="1060704" y="4096512"/>
            <a:ext cx="0" cy="109728"/>
          </a:xfrm>
          <a:prstGeom prst="line">
            <a:avLst/>
          </a:prstGeom>
          <a:noFill/>
          <a:ln w="19050">
            <a:solidFill>
              <a:srgbClr val="5B7F79"/>
            </a:solidFill>
            <a:prstDash val="solid"/>
            <a:tailEnd type="triangle"/>
          </a:ln>
        </p:spPr>
      </p:sp>
      <p:sp>
        <p:nvSpPr>
          <p:cNvPr id="22" name="Shape 20"/>
          <p:cNvSpPr/>
          <p:nvPr/>
        </p:nvSpPr>
        <p:spPr>
          <a:xfrm>
            <a:off x="594360" y="4206240"/>
            <a:ext cx="10881360" cy="804672"/>
          </a:xfrm>
          <a:prstGeom prst="roundRect">
            <a:avLst>
              <a:gd name="adj" fmla="val 6818"/>
            </a:avLst>
          </a:prstGeom>
          <a:solidFill>
            <a:srgbClr val="F1F4F3"/>
          </a:solidFill>
          <a:ln/>
          <a:effectLst>
            <a:outerShdw sx="100000" sy="100000" kx="0" ky="0" algn="bl" rotWithShape="0" blurRad="127000" dist="25400" dir="5400000">
              <a:srgbClr val="0C2D2A">
                <a:alpha val="10000"/>
              </a:srgbClr>
            </a:outerShdw>
          </a:effectLst>
        </p:spPr>
      </p:sp>
      <p:sp>
        <p:nvSpPr>
          <p:cNvPr id="23" name="Shape 21"/>
          <p:cNvSpPr/>
          <p:nvPr/>
        </p:nvSpPr>
        <p:spPr>
          <a:xfrm>
            <a:off x="868680" y="4416552"/>
            <a:ext cx="384048" cy="384048"/>
          </a:xfrm>
          <a:prstGeom prst="ellipse">
            <a:avLst/>
          </a:prstGeom>
          <a:solidFill>
            <a:srgbClr val="5B7F79"/>
          </a:solidFill>
          <a:ln/>
        </p:spPr>
      </p:sp>
      <p:sp>
        <p:nvSpPr>
          <p:cNvPr id="24" name="Text 22"/>
          <p:cNvSpPr txBox="1"/>
          <p:nvPr/>
        </p:nvSpPr>
        <p:spPr>
          <a:xfrm>
            <a:off x="868680" y="4416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417320" y="4206240"/>
            <a:ext cx="2286000" cy="804672"/>
          </a:xfrm>
          <a:prstGeom prst="rect">
            <a:avLst/>
          </a:prstGeom>
          <a:noFill/>
          <a:ln/>
        </p:spPr>
        <p:txBody>
          <a:bodyPr wrap="square" lIns="0" tIns="0" rIns="0" bIns="0" rtlCol="0" anchor="ctr"/>
          <a:lstStyle/>
          <a:p>
            <a:pPr indent="0" marL="0">
              <a:lnSpc>
                <a:spcPct val="105000"/>
              </a:lnSpc>
              <a:buNone/>
            </a:pPr>
            <a:r>
              <a:rPr lang="en-US" sz="1300" b="1" dirty="0">
                <a:solidFill>
                  <a:srgbClr val="17211F"/>
                </a:solidFill>
                <a:latin typeface="Calibri" pitchFamily="34" charset="0"/>
                <a:ea typeface="Calibri" pitchFamily="34" charset="-122"/>
                <a:cs typeface="Calibri" pitchFamily="34" charset="-120"/>
              </a:rPr>
              <a:t>Rupee economics</a:t>
            </a:r>
            <a:endParaRPr lang="en-US" sz="1300" dirty="0"/>
          </a:p>
          <a:p>
            <a:pPr indent="0" marL="0">
              <a:lnSpc>
                <a:spcPct val="105000"/>
              </a:lnSpc>
              <a:buNone/>
            </a:pPr>
            <a:r>
              <a:rPr lang="en-US" sz="900" dirty="0">
                <a:solidFill>
                  <a:srgbClr val="5B7F79"/>
                </a:solidFill>
                <a:latin typeface="Courier New" pitchFamily="34" charset="0"/>
                <a:ea typeface="Courier New" pitchFamily="34" charset="-122"/>
                <a:cs typeface="Courier New" pitchFamily="34" charset="-120"/>
              </a:rPr>
              <a:t>yield_calculator.py</a:t>
            </a:r>
            <a:endParaRPr lang="en-US" sz="1300" dirty="0"/>
          </a:p>
        </p:txBody>
      </p:sp>
      <p:sp>
        <p:nvSpPr>
          <p:cNvPr id="26" name="Text 24"/>
          <p:cNvSpPr txBox="1"/>
          <p:nvPr/>
        </p:nvSpPr>
        <p:spPr>
          <a:xfrm>
            <a:off x="3840480" y="4206240"/>
            <a:ext cx="7452360" cy="804672"/>
          </a:xfrm>
          <a:prstGeom prst="rect">
            <a:avLst/>
          </a:prstGeom>
          <a:noFill/>
          <a:ln/>
        </p:spPr>
        <p:txBody>
          <a:bodyPr wrap="square" lIns="0" tIns="0" rIns="0" bIns="0" rtlCol="0" anchor="ctr"/>
          <a:lstStyle/>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gross spread → net margin → lifetime value → expected value</a:t>
            </a:r>
            <a:endParaRPr lang="en-US" sz="1000" dirty="0"/>
          </a:p>
          <a:p>
            <a:pPr indent="0" marL="0">
              <a:lnSpc>
                <a:spcPct val="115000"/>
              </a:lnSpc>
              <a:buNone/>
            </a:pPr>
            <a:r>
              <a:rPr lang="en-US" sz="1000" dirty="0">
                <a:solidFill>
                  <a:srgbClr val="5E6B68"/>
                </a:solidFill>
                <a:latin typeface="Courier New" pitchFamily="34" charset="0"/>
                <a:ea typeface="Courier New" pitchFamily="34" charset="-122"/>
                <a:cs typeface="Courier New" pitchFamily="34" charset="-120"/>
              </a:rPr>
              <a:t>= P(conversion) × lifetime value</a:t>
            </a:r>
            <a:endParaRPr lang="en-US" sz="1000" dirty="0"/>
          </a:p>
        </p:txBody>
      </p:sp>
      <p:sp>
        <p:nvSpPr>
          <p:cNvPr id="27" name="Shape 25"/>
          <p:cNvSpPr/>
          <p:nvPr/>
        </p:nvSpPr>
        <p:spPr>
          <a:xfrm>
            <a:off x="1060704" y="5010912"/>
            <a:ext cx="0" cy="109728"/>
          </a:xfrm>
          <a:prstGeom prst="line">
            <a:avLst/>
          </a:prstGeom>
          <a:noFill/>
          <a:ln w="19050">
            <a:solidFill>
              <a:srgbClr val="5B7F79"/>
            </a:solidFill>
            <a:prstDash val="solid"/>
            <a:tailEnd type="triangle"/>
          </a:ln>
        </p:spPr>
      </p:sp>
      <p:sp>
        <p:nvSpPr>
          <p:cNvPr id="28" name="Shape 26"/>
          <p:cNvSpPr/>
          <p:nvPr/>
        </p:nvSpPr>
        <p:spPr>
          <a:xfrm>
            <a:off x="594360" y="5120640"/>
            <a:ext cx="10881360" cy="804672"/>
          </a:xfrm>
          <a:prstGeom prst="roundRect">
            <a:avLst>
              <a:gd name="adj" fmla="val 6818"/>
            </a:avLst>
          </a:prstGeom>
          <a:solidFill>
            <a:srgbClr val="0C2D2A"/>
          </a:solidFill>
          <a:ln/>
          <a:effectLst>
            <a:outerShdw sx="100000" sy="100000" kx="0" ky="0" algn="bl" rotWithShape="0" blurRad="127000" dist="25400" dir="5400000">
              <a:srgbClr val="0C2D2A">
                <a:alpha val="10000"/>
              </a:srgbClr>
            </a:outerShdw>
          </a:effectLst>
        </p:spPr>
      </p:sp>
      <p:sp>
        <p:nvSpPr>
          <p:cNvPr id="29" name="Shape 27"/>
          <p:cNvSpPr/>
          <p:nvPr/>
        </p:nvSpPr>
        <p:spPr>
          <a:xfrm>
            <a:off x="868680" y="5330952"/>
            <a:ext cx="384048" cy="384048"/>
          </a:xfrm>
          <a:prstGeom prst="ellipse">
            <a:avLst/>
          </a:prstGeom>
          <a:solidFill>
            <a:srgbClr val="E9A13B"/>
          </a:solidFill>
          <a:ln/>
        </p:spPr>
      </p:sp>
      <p:sp>
        <p:nvSpPr>
          <p:cNvPr id="30" name="Text 28"/>
          <p:cNvSpPr txBox="1"/>
          <p:nvPr/>
        </p:nvSpPr>
        <p:spPr>
          <a:xfrm>
            <a:off x="868680" y="5330952"/>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417320" y="5120640"/>
            <a:ext cx="2286000" cy="804672"/>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Choose and report</a:t>
            </a:r>
            <a:endParaRPr lang="en-US" sz="1300" dirty="0"/>
          </a:p>
          <a:p>
            <a:pPr indent="0" marL="0">
              <a:lnSpc>
                <a:spcPct val="105000"/>
              </a:lnSpc>
              <a:buNone/>
            </a:pPr>
            <a:r>
              <a:rPr lang="en-US" sz="900" dirty="0">
                <a:solidFill>
                  <a:srgbClr val="E9A13B"/>
                </a:solidFill>
                <a:latin typeface="Courier New" pitchFamily="34" charset="0"/>
                <a:ea typeface="Courier New" pitchFamily="34" charset="-122"/>
                <a:cs typeface="Courier New" pitchFamily="34" charset="-120"/>
              </a:rPr>
              <a:t>optimize()</a:t>
            </a:r>
            <a:endParaRPr lang="en-US" sz="1300" dirty="0"/>
          </a:p>
        </p:txBody>
      </p:sp>
      <p:sp>
        <p:nvSpPr>
          <p:cNvPr id="32" name="Text 30"/>
          <p:cNvSpPr txBox="1"/>
          <p:nvPr/>
        </p:nvSpPr>
        <p:spPr>
          <a:xfrm>
            <a:off x="3840480" y="5120640"/>
            <a:ext cx="7452360" cy="804672"/>
          </a:xfrm>
          <a:prstGeom prst="rect">
            <a:avLst/>
          </a:prstGeom>
          <a:noFill/>
          <a:ln/>
        </p:spPr>
        <p:txBody>
          <a:bodyPr wrap="square" lIns="0" tIns="0" rIns="0" bIns="0" rtlCol="0" anchor="ctr"/>
          <a:lstStyle/>
          <a:p>
            <a:pPr indent="0" marL="0">
              <a:lnSpc>
                <a:spcPct val="115000"/>
              </a:lnSpc>
              <a:buNone/>
            </a:pPr>
            <a:r>
              <a:rPr lang="en-US" sz="1000" dirty="0">
                <a:solidFill>
                  <a:srgbClr val="A7C0BA"/>
                </a:solidFill>
                <a:latin typeface="Courier New" pitchFamily="34" charset="0"/>
                <a:ea typeface="Courier New" pitchFamily="34" charset="-122"/>
                <a:cs typeface="Courier New" pitchFamily="34" charset="-120"/>
              </a:rPr>
              <a:t>reject below min conversion / above max BT-out; take max expected value;</a:t>
            </a:r>
            <a:endParaRPr lang="en-US" sz="1000" dirty="0"/>
          </a:p>
          <a:p>
            <a:pPr indent="0" marL="0">
              <a:lnSpc>
                <a:spcPct val="115000"/>
              </a:lnSpc>
              <a:buNone/>
            </a:pPr>
            <a:r>
              <a:rPr lang="en-US" sz="1000" dirty="0">
                <a:solidFill>
                  <a:srgbClr val="A7C0BA"/>
                </a:solidFill>
                <a:latin typeface="Courier New" pitchFamily="34" charset="0"/>
                <a:ea typeface="Courier New" pitchFamily="34" charset="-122"/>
                <a:cs typeface="Courier New" pitchFamily="34" charset="-120"/>
              </a:rPr>
              <a:t>tie-break to the LOWER rate; report the binding constraint</a:t>
            </a:r>
            <a:endParaRPr lang="en-US" sz="1000" dirty="0"/>
          </a:p>
        </p:txBody>
      </p:sp>
      <p:sp>
        <p:nvSpPr>
          <p:cNvPr id="33" name="Text 31"/>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constraints.card_rate() is called by the synthetic generator, the policy agent and the scenario generator — so the history the models learn from and the rules enforced at runtime cannot drift apart.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RESULT 1 OF 4</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Price uplift is not yield</a:t>
            </a:r>
            <a:endParaRPr lang="en-US" sz="3200" dirty="0"/>
          </a:p>
        </p:txBody>
      </p:sp>
      <p:graphicFrame>
        <p:nvGraphicFramePr>
          <p:cNvPr id="4" name="Chart 0" descr=""/>
          <p:cNvGraphicFramePr/>
          <p:nvPr/>
        </p:nvGraphicFramePr>
        <p:xfrm>
          <a:off x="502920" y="1481328"/>
          <a:ext cx="672084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481328"/>
            <a:ext cx="4023360" cy="3794760"/>
          </a:xfrm>
          <a:prstGeom prst="roundRect">
            <a:avLst>
              <a:gd name="adj" fmla="val 1446"/>
            </a:avLst>
          </a:prstGeom>
          <a:solidFill>
            <a:srgbClr val="F1F4F3"/>
          </a:solidFill>
          <a:ln/>
          <a:effectLst>
            <a:outerShdw sx="100000" sy="100000" kx="0" ky="0" algn="bl" rotWithShape="0" blurRad="127000" dist="25400" dir="5400000">
              <a:srgbClr val="0C2D2A">
                <a:alpha val="10000"/>
              </a:srgbClr>
            </a:outerShdw>
          </a:effectLst>
        </p:spPr>
      </p:sp>
      <p:sp>
        <p:nvSpPr>
          <p:cNvPr id="6" name="Text 3"/>
          <p:cNvSpPr txBox="1"/>
          <p:nvPr/>
        </p:nvSpPr>
        <p:spPr>
          <a:xfrm>
            <a:off x="7790688" y="1609344"/>
            <a:ext cx="3566160" cy="320040"/>
          </a:xfrm>
          <a:prstGeom prst="rect">
            <a:avLst/>
          </a:prstGeom>
          <a:noFill/>
          <a:ln/>
        </p:spPr>
        <p:txBody>
          <a:bodyPr wrap="square" lIns="0" tIns="0" rIns="0" bIns="0" rtlCol="0" anchor="ctr"/>
          <a:lstStyle/>
          <a:p>
            <a:pPr indent="0" marL="0">
              <a:buNone/>
            </a:pPr>
            <a:r>
              <a:rPr lang="en-US" sz="1100" b="1" dirty="0">
                <a:solidFill>
                  <a:srgbClr val="5B7F79"/>
                </a:solidFill>
                <a:latin typeface="Calibri" pitchFamily="34" charset="0"/>
                <a:ea typeface="Calibri" pitchFamily="34" charset="-122"/>
                <a:cs typeface="Calibri" pitchFamily="34" charset="-120"/>
              </a:rPr>
              <a:t>What the same file does as the rate rises</a:t>
            </a:r>
            <a:endParaRPr lang="en-US" sz="1100" dirty="0"/>
          </a:p>
        </p:txBody>
      </p:sp>
      <p:sp>
        <p:nvSpPr>
          <p:cNvPr id="7" name="Text 4"/>
          <p:cNvSpPr txBox="1"/>
          <p:nvPr/>
        </p:nvSpPr>
        <p:spPr>
          <a:xfrm>
            <a:off x="7790688" y="1965960"/>
            <a:ext cx="777240" cy="329184"/>
          </a:xfrm>
          <a:prstGeom prst="rect">
            <a:avLst/>
          </a:prstGeom>
          <a:noFill/>
          <a:ln/>
        </p:spPr>
        <p:txBody>
          <a:bodyPr wrap="square" lIns="0" tIns="0" rIns="0" bIns="0" rtlCol="0" anchor="ctr"/>
          <a:lstStyle/>
          <a:p>
            <a:pPr algn="l" indent="0" marL="0">
              <a:buNone/>
            </a:pPr>
            <a:r>
              <a:rPr lang="en-US" sz="950" b="1" dirty="0">
                <a:solidFill>
                  <a:srgbClr val="5E6B68"/>
                </a:solidFill>
                <a:latin typeface="Courier New" pitchFamily="34" charset="0"/>
                <a:ea typeface="Courier New" pitchFamily="34" charset="-122"/>
                <a:cs typeface="Courier New" pitchFamily="34" charset="-120"/>
              </a:rPr>
              <a:t>rate</a:t>
            </a:r>
            <a:endParaRPr lang="en-US" sz="950" dirty="0"/>
          </a:p>
        </p:txBody>
      </p:sp>
      <p:sp>
        <p:nvSpPr>
          <p:cNvPr id="8" name="Text 5"/>
          <p:cNvSpPr txBox="1"/>
          <p:nvPr/>
        </p:nvSpPr>
        <p:spPr>
          <a:xfrm>
            <a:off x="8631936" y="1965960"/>
            <a:ext cx="777240" cy="329184"/>
          </a:xfrm>
          <a:prstGeom prst="rect">
            <a:avLst/>
          </a:prstGeom>
          <a:noFill/>
          <a:ln/>
        </p:spPr>
        <p:txBody>
          <a:bodyPr wrap="square" lIns="0" tIns="0" rIns="0" bIns="0" rtlCol="0" anchor="ctr"/>
          <a:lstStyle/>
          <a:p>
            <a:pPr algn="r" indent="0" marL="0">
              <a:buNone/>
            </a:pPr>
            <a:r>
              <a:rPr lang="en-US" sz="950" b="1" dirty="0">
                <a:solidFill>
                  <a:srgbClr val="5E6B68"/>
                </a:solidFill>
                <a:latin typeface="Courier New" pitchFamily="34" charset="0"/>
                <a:ea typeface="Courier New" pitchFamily="34" charset="-122"/>
                <a:cs typeface="Courier New" pitchFamily="34" charset="-120"/>
              </a:rPr>
              <a:t>conv.</a:t>
            </a:r>
            <a:endParaRPr lang="en-US" sz="950" dirty="0"/>
          </a:p>
        </p:txBody>
      </p:sp>
      <p:sp>
        <p:nvSpPr>
          <p:cNvPr id="9" name="Text 6"/>
          <p:cNvSpPr txBox="1"/>
          <p:nvPr/>
        </p:nvSpPr>
        <p:spPr>
          <a:xfrm>
            <a:off x="9473184" y="1965960"/>
            <a:ext cx="658368" cy="329184"/>
          </a:xfrm>
          <a:prstGeom prst="rect">
            <a:avLst/>
          </a:prstGeom>
          <a:noFill/>
          <a:ln/>
        </p:spPr>
        <p:txBody>
          <a:bodyPr wrap="square" lIns="0" tIns="0" rIns="0" bIns="0" rtlCol="0" anchor="ctr"/>
          <a:lstStyle/>
          <a:p>
            <a:pPr algn="r" indent="0" marL="0">
              <a:buNone/>
            </a:pPr>
            <a:r>
              <a:rPr lang="en-US" sz="950" b="1" dirty="0">
                <a:solidFill>
                  <a:srgbClr val="5E6B68"/>
                </a:solidFill>
                <a:latin typeface="Courier New" pitchFamily="34" charset="0"/>
                <a:ea typeface="Courier New" pitchFamily="34" charset="-122"/>
                <a:cs typeface="Courier New" pitchFamily="34" charset="-120"/>
              </a:rPr>
              <a:t>life</a:t>
            </a:r>
            <a:endParaRPr lang="en-US" sz="950" dirty="0"/>
          </a:p>
        </p:txBody>
      </p:sp>
      <p:sp>
        <p:nvSpPr>
          <p:cNvPr id="10" name="Text 7"/>
          <p:cNvSpPr txBox="1"/>
          <p:nvPr/>
        </p:nvSpPr>
        <p:spPr>
          <a:xfrm>
            <a:off x="10195560" y="1965960"/>
            <a:ext cx="1207008" cy="329184"/>
          </a:xfrm>
          <a:prstGeom prst="rect">
            <a:avLst/>
          </a:prstGeom>
          <a:noFill/>
          <a:ln/>
        </p:spPr>
        <p:txBody>
          <a:bodyPr wrap="square" lIns="0" tIns="0" rIns="0" bIns="0" rtlCol="0" anchor="ctr"/>
          <a:lstStyle/>
          <a:p>
            <a:pPr algn="r" indent="0" marL="0">
              <a:buNone/>
            </a:pPr>
            <a:r>
              <a:rPr lang="en-US" sz="950" b="1" dirty="0">
                <a:solidFill>
                  <a:srgbClr val="5E6B68"/>
                </a:solidFill>
                <a:latin typeface="Courier New" pitchFamily="34" charset="0"/>
                <a:ea typeface="Courier New" pitchFamily="34" charset="-122"/>
                <a:cs typeface="Courier New" pitchFamily="34" charset="-120"/>
              </a:rPr>
              <a:t>EV (Rs)</a:t>
            </a:r>
            <a:endParaRPr lang="en-US" sz="950" dirty="0"/>
          </a:p>
        </p:txBody>
      </p:sp>
      <p:sp>
        <p:nvSpPr>
          <p:cNvPr id="11" name="Text 8"/>
          <p:cNvSpPr txBox="1"/>
          <p:nvPr/>
        </p:nvSpPr>
        <p:spPr>
          <a:xfrm>
            <a:off x="7790688" y="2331720"/>
            <a:ext cx="777240" cy="329184"/>
          </a:xfrm>
          <a:prstGeom prst="rect">
            <a:avLst/>
          </a:prstGeom>
          <a:noFill/>
          <a:ln/>
        </p:spPr>
        <p:txBody>
          <a:bodyPr wrap="square" lIns="0" tIns="0" rIns="0" bIns="0" rtlCol="0" anchor="ctr"/>
          <a:lstStyle/>
          <a:p>
            <a:pPr algn="l" indent="0" marL="0">
              <a:buNone/>
            </a:pPr>
            <a:r>
              <a:rPr lang="en-US" sz="1050" dirty="0">
                <a:solidFill>
                  <a:srgbClr val="17211F"/>
                </a:solidFill>
                <a:latin typeface="Courier New" pitchFamily="34" charset="0"/>
                <a:ea typeface="Courier New" pitchFamily="34" charset="-122"/>
                <a:cs typeface="Courier New" pitchFamily="34" charset="-120"/>
              </a:rPr>
              <a:t>12.04</a:t>
            </a:r>
            <a:endParaRPr lang="en-US" sz="1050" dirty="0"/>
          </a:p>
        </p:txBody>
      </p:sp>
      <p:sp>
        <p:nvSpPr>
          <p:cNvPr id="12" name="Text 9"/>
          <p:cNvSpPr txBox="1"/>
          <p:nvPr/>
        </p:nvSpPr>
        <p:spPr>
          <a:xfrm>
            <a:off x="8631936" y="2331720"/>
            <a:ext cx="777240"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0.869</a:t>
            </a:r>
            <a:endParaRPr lang="en-US" sz="1050" dirty="0"/>
          </a:p>
        </p:txBody>
      </p:sp>
      <p:sp>
        <p:nvSpPr>
          <p:cNvPr id="13" name="Text 10"/>
          <p:cNvSpPr txBox="1"/>
          <p:nvPr/>
        </p:nvSpPr>
        <p:spPr>
          <a:xfrm>
            <a:off x="9473184" y="2331720"/>
            <a:ext cx="65836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8.00</a:t>
            </a:r>
            <a:endParaRPr lang="en-US" sz="1050" dirty="0"/>
          </a:p>
        </p:txBody>
      </p:sp>
      <p:sp>
        <p:nvSpPr>
          <p:cNvPr id="14" name="Text 11"/>
          <p:cNvSpPr txBox="1"/>
          <p:nvPr/>
        </p:nvSpPr>
        <p:spPr>
          <a:xfrm>
            <a:off x="10195560" y="2331720"/>
            <a:ext cx="120700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1,65,398</a:t>
            </a:r>
            <a:endParaRPr lang="en-US" sz="1050" dirty="0"/>
          </a:p>
        </p:txBody>
      </p:sp>
      <p:sp>
        <p:nvSpPr>
          <p:cNvPr id="15" name="Text 12"/>
          <p:cNvSpPr txBox="1"/>
          <p:nvPr/>
        </p:nvSpPr>
        <p:spPr>
          <a:xfrm>
            <a:off x="7790688" y="2697480"/>
            <a:ext cx="777240" cy="329184"/>
          </a:xfrm>
          <a:prstGeom prst="rect">
            <a:avLst/>
          </a:prstGeom>
          <a:noFill/>
          <a:ln/>
        </p:spPr>
        <p:txBody>
          <a:bodyPr wrap="square" lIns="0" tIns="0" rIns="0" bIns="0" rtlCol="0" anchor="ctr"/>
          <a:lstStyle/>
          <a:p>
            <a:pPr algn="l" indent="0" marL="0">
              <a:buNone/>
            </a:pPr>
            <a:r>
              <a:rPr lang="en-US" sz="1050" dirty="0">
                <a:solidFill>
                  <a:srgbClr val="17211F"/>
                </a:solidFill>
                <a:latin typeface="Courier New" pitchFamily="34" charset="0"/>
                <a:ea typeface="Courier New" pitchFamily="34" charset="-122"/>
                <a:cs typeface="Courier New" pitchFamily="34" charset="-120"/>
              </a:rPr>
              <a:t>12.24</a:t>
            </a:r>
            <a:endParaRPr lang="en-US" sz="1050" dirty="0"/>
          </a:p>
        </p:txBody>
      </p:sp>
      <p:sp>
        <p:nvSpPr>
          <p:cNvPr id="16" name="Text 13"/>
          <p:cNvSpPr txBox="1"/>
          <p:nvPr/>
        </p:nvSpPr>
        <p:spPr>
          <a:xfrm>
            <a:off x="8631936" y="2697480"/>
            <a:ext cx="777240"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0.854</a:t>
            </a:r>
            <a:endParaRPr lang="en-US" sz="1050" dirty="0"/>
          </a:p>
        </p:txBody>
      </p:sp>
      <p:sp>
        <p:nvSpPr>
          <p:cNvPr id="17" name="Text 14"/>
          <p:cNvSpPr txBox="1"/>
          <p:nvPr/>
        </p:nvSpPr>
        <p:spPr>
          <a:xfrm>
            <a:off x="9473184" y="2697480"/>
            <a:ext cx="65836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8.00</a:t>
            </a:r>
            <a:endParaRPr lang="en-US" sz="1050" dirty="0"/>
          </a:p>
        </p:txBody>
      </p:sp>
      <p:sp>
        <p:nvSpPr>
          <p:cNvPr id="18" name="Text 15"/>
          <p:cNvSpPr txBox="1"/>
          <p:nvPr/>
        </p:nvSpPr>
        <p:spPr>
          <a:xfrm>
            <a:off x="10195560" y="2697480"/>
            <a:ext cx="120700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1,73,454</a:t>
            </a:r>
            <a:endParaRPr lang="en-US" sz="1050" dirty="0"/>
          </a:p>
        </p:txBody>
      </p:sp>
      <p:sp>
        <p:nvSpPr>
          <p:cNvPr id="19" name="Text 16"/>
          <p:cNvSpPr txBox="1"/>
          <p:nvPr/>
        </p:nvSpPr>
        <p:spPr>
          <a:xfrm>
            <a:off x="7790688" y="3063240"/>
            <a:ext cx="777240" cy="329184"/>
          </a:xfrm>
          <a:prstGeom prst="rect">
            <a:avLst/>
          </a:prstGeom>
          <a:noFill/>
          <a:ln/>
        </p:spPr>
        <p:txBody>
          <a:bodyPr wrap="square" lIns="0" tIns="0" rIns="0" bIns="0" rtlCol="0" anchor="ctr"/>
          <a:lstStyle/>
          <a:p>
            <a:pPr algn="l" indent="0" marL="0">
              <a:buNone/>
            </a:pPr>
            <a:r>
              <a:rPr lang="en-US" sz="1050" dirty="0">
                <a:solidFill>
                  <a:srgbClr val="17211F"/>
                </a:solidFill>
                <a:latin typeface="Courier New" pitchFamily="34" charset="0"/>
                <a:ea typeface="Courier New" pitchFamily="34" charset="-122"/>
                <a:cs typeface="Courier New" pitchFamily="34" charset="-120"/>
              </a:rPr>
              <a:t>12.54</a:t>
            </a:r>
            <a:endParaRPr lang="en-US" sz="1050" dirty="0"/>
          </a:p>
        </p:txBody>
      </p:sp>
      <p:sp>
        <p:nvSpPr>
          <p:cNvPr id="20" name="Text 17"/>
          <p:cNvSpPr txBox="1"/>
          <p:nvPr/>
        </p:nvSpPr>
        <p:spPr>
          <a:xfrm>
            <a:off x="8631936" y="3063240"/>
            <a:ext cx="777240"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0.783</a:t>
            </a:r>
            <a:endParaRPr lang="en-US" sz="1050" dirty="0"/>
          </a:p>
        </p:txBody>
      </p:sp>
      <p:sp>
        <p:nvSpPr>
          <p:cNvPr id="21" name="Text 18"/>
          <p:cNvSpPr txBox="1"/>
          <p:nvPr/>
        </p:nvSpPr>
        <p:spPr>
          <a:xfrm>
            <a:off x="9473184" y="3063240"/>
            <a:ext cx="65836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8.00</a:t>
            </a:r>
            <a:endParaRPr lang="en-US" sz="1050" dirty="0"/>
          </a:p>
        </p:txBody>
      </p:sp>
      <p:sp>
        <p:nvSpPr>
          <p:cNvPr id="22" name="Text 19"/>
          <p:cNvSpPr txBox="1"/>
          <p:nvPr/>
        </p:nvSpPr>
        <p:spPr>
          <a:xfrm>
            <a:off x="10195560" y="3063240"/>
            <a:ext cx="120700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1,73,889</a:t>
            </a:r>
            <a:endParaRPr lang="en-US" sz="1050" dirty="0"/>
          </a:p>
        </p:txBody>
      </p:sp>
      <p:sp>
        <p:nvSpPr>
          <p:cNvPr id="23" name="Shape 20"/>
          <p:cNvSpPr/>
          <p:nvPr/>
        </p:nvSpPr>
        <p:spPr>
          <a:xfrm>
            <a:off x="7680960" y="3410712"/>
            <a:ext cx="3749040" cy="365760"/>
          </a:xfrm>
          <a:prstGeom prst="roundRect">
            <a:avLst>
              <a:gd name="adj" fmla="val 12500"/>
            </a:avLst>
          </a:prstGeom>
          <a:solidFill>
            <a:srgbClr val="E9A13B"/>
          </a:solidFill>
          <a:ln/>
        </p:spPr>
      </p:sp>
      <p:sp>
        <p:nvSpPr>
          <p:cNvPr id="24" name="Text 21"/>
          <p:cNvSpPr txBox="1"/>
          <p:nvPr/>
        </p:nvSpPr>
        <p:spPr>
          <a:xfrm>
            <a:off x="7790688" y="3429000"/>
            <a:ext cx="777240" cy="329184"/>
          </a:xfrm>
          <a:prstGeom prst="rect">
            <a:avLst/>
          </a:prstGeom>
          <a:noFill/>
          <a:ln/>
        </p:spPr>
        <p:txBody>
          <a:bodyPr wrap="square" lIns="0" tIns="0" rIns="0" bIns="0" rtlCol="0" anchor="ctr"/>
          <a:lstStyle/>
          <a:p>
            <a:pPr algn="l" indent="0" marL="0">
              <a:buNone/>
            </a:pPr>
            <a:r>
              <a:rPr lang="en-US" sz="1050" b="1" dirty="0">
                <a:solidFill>
                  <a:srgbClr val="0C2D2A"/>
                </a:solidFill>
                <a:latin typeface="Courier New" pitchFamily="34" charset="0"/>
                <a:ea typeface="Courier New" pitchFamily="34" charset="-122"/>
                <a:cs typeface="Courier New" pitchFamily="34" charset="-120"/>
              </a:rPr>
              <a:t>12.79</a:t>
            </a:r>
            <a:endParaRPr lang="en-US" sz="1050" dirty="0"/>
          </a:p>
        </p:txBody>
      </p:sp>
      <p:sp>
        <p:nvSpPr>
          <p:cNvPr id="25" name="Text 22"/>
          <p:cNvSpPr txBox="1"/>
          <p:nvPr/>
        </p:nvSpPr>
        <p:spPr>
          <a:xfrm>
            <a:off x="8631936" y="3429000"/>
            <a:ext cx="777240" cy="329184"/>
          </a:xfrm>
          <a:prstGeom prst="rect">
            <a:avLst/>
          </a:prstGeom>
          <a:noFill/>
          <a:ln/>
        </p:spPr>
        <p:txBody>
          <a:bodyPr wrap="square" lIns="0" tIns="0" rIns="0" bIns="0" rtlCol="0" anchor="ctr"/>
          <a:lstStyle/>
          <a:p>
            <a:pPr algn="r" indent="0" marL="0">
              <a:buNone/>
            </a:pPr>
            <a:r>
              <a:rPr lang="en-US" sz="1050" b="1" dirty="0">
                <a:solidFill>
                  <a:srgbClr val="0C2D2A"/>
                </a:solidFill>
                <a:latin typeface="Courier New" pitchFamily="34" charset="0"/>
                <a:ea typeface="Courier New" pitchFamily="34" charset="-122"/>
                <a:cs typeface="Courier New" pitchFamily="34" charset="-120"/>
              </a:rPr>
              <a:t>0.737</a:t>
            </a:r>
            <a:endParaRPr lang="en-US" sz="1050" dirty="0"/>
          </a:p>
        </p:txBody>
      </p:sp>
      <p:sp>
        <p:nvSpPr>
          <p:cNvPr id="26" name="Text 23"/>
          <p:cNvSpPr txBox="1"/>
          <p:nvPr/>
        </p:nvSpPr>
        <p:spPr>
          <a:xfrm>
            <a:off x="9473184" y="3429000"/>
            <a:ext cx="658368" cy="329184"/>
          </a:xfrm>
          <a:prstGeom prst="rect">
            <a:avLst/>
          </a:prstGeom>
          <a:noFill/>
          <a:ln/>
        </p:spPr>
        <p:txBody>
          <a:bodyPr wrap="square" lIns="0" tIns="0" rIns="0" bIns="0" rtlCol="0" anchor="ctr"/>
          <a:lstStyle/>
          <a:p>
            <a:pPr algn="r" indent="0" marL="0">
              <a:buNone/>
            </a:pPr>
            <a:r>
              <a:rPr lang="en-US" sz="1050" b="1" dirty="0">
                <a:solidFill>
                  <a:srgbClr val="0C2D2A"/>
                </a:solidFill>
                <a:latin typeface="Courier New" pitchFamily="34" charset="0"/>
                <a:ea typeface="Courier New" pitchFamily="34" charset="-122"/>
                <a:cs typeface="Courier New" pitchFamily="34" charset="-120"/>
              </a:rPr>
              <a:t>8.00</a:t>
            </a:r>
            <a:endParaRPr lang="en-US" sz="1050" dirty="0"/>
          </a:p>
        </p:txBody>
      </p:sp>
      <p:sp>
        <p:nvSpPr>
          <p:cNvPr id="27" name="Text 24"/>
          <p:cNvSpPr txBox="1"/>
          <p:nvPr/>
        </p:nvSpPr>
        <p:spPr>
          <a:xfrm>
            <a:off x="10195560" y="3429000"/>
            <a:ext cx="1207008" cy="329184"/>
          </a:xfrm>
          <a:prstGeom prst="rect">
            <a:avLst/>
          </a:prstGeom>
          <a:noFill/>
          <a:ln/>
        </p:spPr>
        <p:txBody>
          <a:bodyPr wrap="square" lIns="0" tIns="0" rIns="0" bIns="0" rtlCol="0" anchor="ctr"/>
          <a:lstStyle/>
          <a:p>
            <a:pPr algn="r" indent="0" marL="0">
              <a:buNone/>
            </a:pPr>
            <a:r>
              <a:rPr lang="en-US" sz="1050" b="1" dirty="0">
                <a:solidFill>
                  <a:srgbClr val="0C2D2A"/>
                </a:solidFill>
                <a:latin typeface="Courier New" pitchFamily="34" charset="0"/>
                <a:ea typeface="Courier New" pitchFamily="34" charset="-122"/>
                <a:cs typeface="Courier New" pitchFamily="34" charset="-120"/>
              </a:rPr>
              <a:t>1,75,456</a:t>
            </a:r>
            <a:endParaRPr lang="en-US" sz="1050" dirty="0"/>
          </a:p>
        </p:txBody>
      </p:sp>
      <p:sp>
        <p:nvSpPr>
          <p:cNvPr id="28" name="Text 25"/>
          <p:cNvSpPr txBox="1"/>
          <p:nvPr/>
        </p:nvSpPr>
        <p:spPr>
          <a:xfrm>
            <a:off x="7790688" y="3794760"/>
            <a:ext cx="777240" cy="329184"/>
          </a:xfrm>
          <a:prstGeom prst="rect">
            <a:avLst/>
          </a:prstGeom>
          <a:noFill/>
          <a:ln/>
        </p:spPr>
        <p:txBody>
          <a:bodyPr wrap="square" lIns="0" tIns="0" rIns="0" bIns="0" rtlCol="0" anchor="ctr"/>
          <a:lstStyle/>
          <a:p>
            <a:pPr algn="l" indent="0" marL="0">
              <a:buNone/>
            </a:pPr>
            <a:r>
              <a:rPr lang="en-US" sz="1050" dirty="0">
                <a:solidFill>
                  <a:srgbClr val="17211F"/>
                </a:solidFill>
                <a:latin typeface="Courier New" pitchFamily="34" charset="0"/>
                <a:ea typeface="Courier New" pitchFamily="34" charset="-122"/>
                <a:cs typeface="Courier New" pitchFamily="34" charset="-120"/>
              </a:rPr>
              <a:t>13.39</a:t>
            </a:r>
            <a:endParaRPr lang="en-US" sz="1050" dirty="0"/>
          </a:p>
        </p:txBody>
      </p:sp>
      <p:sp>
        <p:nvSpPr>
          <p:cNvPr id="29" name="Text 26"/>
          <p:cNvSpPr txBox="1"/>
          <p:nvPr/>
        </p:nvSpPr>
        <p:spPr>
          <a:xfrm>
            <a:off x="8631936" y="3794760"/>
            <a:ext cx="777240"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0.573</a:t>
            </a:r>
            <a:endParaRPr lang="en-US" sz="1050" dirty="0"/>
          </a:p>
        </p:txBody>
      </p:sp>
      <p:sp>
        <p:nvSpPr>
          <p:cNvPr id="30" name="Text 27"/>
          <p:cNvSpPr txBox="1"/>
          <p:nvPr/>
        </p:nvSpPr>
        <p:spPr>
          <a:xfrm>
            <a:off x="9473184" y="3794760"/>
            <a:ext cx="65836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6.89</a:t>
            </a:r>
            <a:endParaRPr lang="en-US" sz="1050" dirty="0"/>
          </a:p>
        </p:txBody>
      </p:sp>
      <p:sp>
        <p:nvSpPr>
          <p:cNvPr id="31" name="Text 28"/>
          <p:cNvSpPr txBox="1"/>
          <p:nvPr/>
        </p:nvSpPr>
        <p:spPr>
          <a:xfrm>
            <a:off x="10195560" y="3794760"/>
            <a:ext cx="120700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1,46,506</a:t>
            </a:r>
            <a:endParaRPr lang="en-US" sz="1050" dirty="0"/>
          </a:p>
        </p:txBody>
      </p:sp>
      <p:sp>
        <p:nvSpPr>
          <p:cNvPr id="32" name="Text 29"/>
          <p:cNvSpPr txBox="1"/>
          <p:nvPr/>
        </p:nvSpPr>
        <p:spPr>
          <a:xfrm>
            <a:off x="7790688" y="4160520"/>
            <a:ext cx="777240" cy="329184"/>
          </a:xfrm>
          <a:prstGeom prst="rect">
            <a:avLst/>
          </a:prstGeom>
          <a:noFill/>
          <a:ln/>
        </p:spPr>
        <p:txBody>
          <a:bodyPr wrap="square" lIns="0" tIns="0" rIns="0" bIns="0" rtlCol="0" anchor="ctr"/>
          <a:lstStyle/>
          <a:p>
            <a:pPr algn="l" indent="0" marL="0">
              <a:buNone/>
            </a:pPr>
            <a:r>
              <a:rPr lang="en-US" sz="1050" dirty="0">
                <a:solidFill>
                  <a:srgbClr val="17211F"/>
                </a:solidFill>
                <a:latin typeface="Courier New" pitchFamily="34" charset="0"/>
                <a:ea typeface="Courier New" pitchFamily="34" charset="-122"/>
                <a:cs typeface="Courier New" pitchFamily="34" charset="-120"/>
              </a:rPr>
              <a:t>13.59</a:t>
            </a:r>
            <a:endParaRPr lang="en-US" sz="1050" dirty="0"/>
          </a:p>
        </p:txBody>
      </p:sp>
      <p:sp>
        <p:nvSpPr>
          <p:cNvPr id="33" name="Text 30"/>
          <p:cNvSpPr txBox="1"/>
          <p:nvPr/>
        </p:nvSpPr>
        <p:spPr>
          <a:xfrm>
            <a:off x="8631936" y="4160520"/>
            <a:ext cx="777240"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0.371</a:t>
            </a:r>
            <a:endParaRPr lang="en-US" sz="1050" dirty="0"/>
          </a:p>
        </p:txBody>
      </p:sp>
      <p:sp>
        <p:nvSpPr>
          <p:cNvPr id="34" name="Text 31"/>
          <p:cNvSpPr txBox="1"/>
          <p:nvPr/>
        </p:nvSpPr>
        <p:spPr>
          <a:xfrm>
            <a:off x="9473184" y="4160520"/>
            <a:ext cx="65836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5.14</a:t>
            </a:r>
            <a:endParaRPr lang="en-US" sz="1050" dirty="0"/>
          </a:p>
        </p:txBody>
      </p:sp>
      <p:sp>
        <p:nvSpPr>
          <p:cNvPr id="35" name="Text 32"/>
          <p:cNvSpPr txBox="1"/>
          <p:nvPr/>
        </p:nvSpPr>
        <p:spPr>
          <a:xfrm>
            <a:off x="10195560" y="4160520"/>
            <a:ext cx="1207008" cy="329184"/>
          </a:xfrm>
          <a:prstGeom prst="rect">
            <a:avLst/>
          </a:prstGeom>
          <a:noFill/>
          <a:ln/>
        </p:spPr>
        <p:txBody>
          <a:bodyPr wrap="square" lIns="0" tIns="0" rIns="0" bIns="0" rtlCol="0" anchor="ctr"/>
          <a:lstStyle/>
          <a:p>
            <a:pPr algn="r" indent="0" marL="0">
              <a:buNone/>
            </a:pPr>
            <a:r>
              <a:rPr lang="en-US" sz="1050" dirty="0">
                <a:solidFill>
                  <a:srgbClr val="17211F"/>
                </a:solidFill>
                <a:latin typeface="Courier New" pitchFamily="34" charset="0"/>
                <a:ea typeface="Courier New" pitchFamily="34" charset="-122"/>
                <a:cs typeface="Courier New" pitchFamily="34" charset="-120"/>
              </a:rPr>
              <a:t>82,947</a:t>
            </a:r>
            <a:endParaRPr lang="en-US" sz="1050" dirty="0"/>
          </a:p>
        </p:txBody>
      </p:sp>
      <p:sp>
        <p:nvSpPr>
          <p:cNvPr id="36" name="Text 33"/>
          <p:cNvSpPr txBox="1"/>
          <p:nvPr/>
        </p:nvSpPr>
        <p:spPr>
          <a:xfrm>
            <a:off x="7790688" y="4590288"/>
            <a:ext cx="3566160" cy="621792"/>
          </a:xfrm>
          <a:prstGeom prst="rect">
            <a:avLst/>
          </a:prstGeom>
          <a:noFill/>
          <a:ln/>
        </p:spPr>
        <p:txBody>
          <a:bodyPr wrap="square" lIns="0" tIns="0" rIns="0" bIns="0" rtlCol="0" anchor="t"/>
          <a:lstStyle/>
          <a:p>
            <a:pPr indent="0" marL="0">
              <a:lnSpc>
                <a:spcPct val="105000"/>
              </a:lnSpc>
              <a:buNone/>
            </a:pPr>
            <a:r>
              <a:rPr lang="en-US" sz="1050" dirty="0">
                <a:solidFill>
                  <a:srgbClr val="5E6B68"/>
                </a:solidFill>
                <a:latin typeface="Calibri" pitchFamily="34" charset="0"/>
                <a:ea typeface="Calibri" pitchFamily="34" charset="-122"/>
                <a:cs typeface="Calibri" pitchFamily="34" charset="-120"/>
              </a:rPr>
              <a:t>Contractual yield rises the whole way. Expected value does not — above ~13.4% the customer stops converting and the survivors leave early, so expected life collapses from 8.0 years to 5.1.</a:t>
            </a:r>
            <a:endParaRPr lang="en-US" sz="1050" dirty="0"/>
          </a:p>
        </p:txBody>
      </p:sp>
      <p:sp>
        <p:nvSpPr>
          <p:cNvPr id="37" name="Shape 34"/>
          <p:cNvSpPr/>
          <p:nvPr/>
        </p:nvSpPr>
        <p:spPr>
          <a:xfrm>
            <a:off x="502920" y="5440680"/>
            <a:ext cx="11064240" cy="731520"/>
          </a:xfrm>
          <a:prstGeom prst="roundRect">
            <a:avLst>
              <a:gd name="adj" fmla="val 7500"/>
            </a:avLst>
          </a:prstGeom>
          <a:solidFill>
            <a:srgbClr val="0C2D2A"/>
          </a:solidFill>
          <a:ln/>
          <a:effectLst>
            <a:outerShdw sx="100000" sy="100000" kx="0" ky="0" algn="bl" rotWithShape="0" blurRad="127000" dist="25400" dir="5400000">
              <a:srgbClr val="0C2D2A">
                <a:alpha val="10000"/>
              </a:srgbClr>
            </a:outerShdw>
          </a:effectLst>
        </p:spPr>
      </p:sp>
      <p:sp>
        <p:nvSpPr>
          <p:cNvPr id="38" name="Text 35"/>
          <p:cNvSpPr txBox="1"/>
          <p:nvPr/>
        </p:nvSpPr>
        <p:spPr>
          <a:xfrm>
            <a:off x="777240" y="5440680"/>
            <a:ext cx="10607040" cy="731520"/>
          </a:xfrm>
          <a:prstGeom prst="rect">
            <a:avLst/>
          </a:prstGeom>
          <a:noFill/>
          <a:ln/>
        </p:spPr>
        <p:txBody>
          <a:bodyPr wrap="square" lIns="0" tIns="0" rIns="0" bIns="0" rtlCol="0" anchor="ctr"/>
          <a:lstStyle/>
          <a:p>
            <a:pPr indent="0" marL="0">
              <a:buNone/>
            </a:pPr>
            <a:r>
              <a:rPr lang="en-US" sz="1500" b="1" dirty="0">
                <a:solidFill>
                  <a:srgbClr val="E9A13B"/>
                </a:solidFill>
                <a:latin typeface="Calibri" pitchFamily="34" charset="0"/>
                <a:ea typeface="Calibri" pitchFamily="34" charset="-122"/>
                <a:cs typeface="Calibri" pitchFamily="34" charset="-120"/>
              </a:rPr>
              <a:t>−9.6 pts</a:t>
            </a:r>
            <a:pPr indent="0" marL="0">
              <a:buNone/>
            </a:pPr>
            <a:r>
              <a:rPr lang="en-US" sz="1200" dirty="0">
                <a:solidFill>
                  <a:srgbClr val="A7C0BA"/>
                </a:solidFill>
                <a:latin typeface="Calibri" pitchFamily="34" charset="0"/>
                <a:ea typeface="Calibri" pitchFamily="34" charset="-122"/>
                <a:cs typeface="Calibri" pitchFamily="34" charset="-120"/>
              </a:rPr>
              <a:t> conversion per +25 bps     ·     </a:t>
            </a:r>
            <a:pPr indent="0" marL="0">
              <a:buNone/>
            </a:pPr>
            <a:r>
              <a:rPr lang="en-US" sz="1500" b="1" dirty="0">
                <a:solidFill>
                  <a:srgbClr val="E9A13B"/>
                </a:solidFill>
                <a:latin typeface="Calibri" pitchFamily="34" charset="0"/>
                <a:ea typeface="Calibri" pitchFamily="34" charset="-122"/>
                <a:cs typeface="Calibri" pitchFamily="34" charset="-120"/>
              </a:rPr>
              <a:t>8.0 → 5.1 yrs</a:t>
            </a:r>
            <a:pPr indent="0" marL="0">
              <a:buNone/>
            </a:pPr>
            <a:r>
              <a:rPr lang="en-US" sz="1200" dirty="0">
                <a:solidFill>
                  <a:srgbClr val="A7C0BA"/>
                </a:solidFill>
                <a:latin typeface="Calibri" pitchFamily="34" charset="0"/>
                <a:ea typeface="Calibri" pitchFamily="34" charset="-122"/>
                <a:cs typeface="Calibri" pitchFamily="34" charset="-120"/>
              </a:rPr>
              <a:t> expected life at the ceiling     ·     </a:t>
            </a:r>
            <a:pPr indent="0" marL="0">
              <a:buNone/>
            </a:pPr>
            <a:r>
              <a:rPr lang="en-US" sz="1500" b="1" dirty="0">
                <a:solidFill>
                  <a:srgbClr val="E9A13B"/>
                </a:solidFill>
                <a:latin typeface="Calibri" pitchFamily="34" charset="0"/>
                <a:ea typeface="Calibri" pitchFamily="34" charset="-122"/>
                <a:cs typeface="Calibri" pitchFamily="34" charset="-120"/>
              </a:rPr>
              <a:t>Rs 92,509</a:t>
            </a:r>
            <a:pPr indent="0" marL="0">
              <a:buNone/>
            </a:pPr>
            <a:r>
              <a:rPr lang="en-US" sz="1200" dirty="0">
                <a:solidFill>
                  <a:srgbClr val="A7C0BA"/>
                </a:solidFill>
                <a:latin typeface="Calibri" pitchFamily="34" charset="0"/>
                <a:ea typeface="Calibri" pitchFamily="34" charset="-122"/>
                <a:cs typeface="Calibri" pitchFamily="34" charset="-120"/>
              </a:rPr>
              <a:t> peak-to-ceiling gap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RESULT 2 OF 4</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The guard-rails that make the search safe</a:t>
            </a:r>
            <a:endParaRPr lang="en-US" sz="3200" dirty="0"/>
          </a:p>
        </p:txBody>
      </p:sp>
      <p:sp>
        <p:nvSpPr>
          <p:cNvPr id="4" name="Shape 2"/>
          <p:cNvSpPr/>
          <p:nvPr/>
        </p:nvSpPr>
        <p:spPr>
          <a:xfrm>
            <a:off x="594360" y="1417320"/>
            <a:ext cx="6766560" cy="2011680"/>
          </a:xfrm>
          <a:prstGeom prst="roundRect">
            <a:avLst>
              <a:gd name="adj" fmla="val 2727"/>
            </a:avLst>
          </a:prstGeom>
          <a:solidFill>
            <a:srgbClr val="F1F4F3"/>
          </a:solidFill>
          <a:ln/>
          <a:effectLst>
            <a:outerShdw sx="100000" sy="100000" kx="0" ky="0" algn="bl" rotWithShape="0" blurRad="127000" dist="25400" dir="5400000">
              <a:srgbClr val="0C2D2A">
                <a:alpha val="10000"/>
              </a:srgbClr>
            </a:outerShdw>
          </a:effectLst>
        </p:spPr>
      </p:sp>
      <p:sp>
        <p:nvSpPr>
          <p:cNvPr id="5" name="Text 3"/>
          <p:cNvSpPr txBox="1"/>
          <p:nvPr/>
        </p:nvSpPr>
        <p:spPr>
          <a:xfrm>
            <a:off x="914400" y="1554480"/>
            <a:ext cx="6126480" cy="347472"/>
          </a:xfrm>
          <a:prstGeom prst="rect">
            <a:avLst/>
          </a:prstGeom>
          <a:noFill/>
          <a:ln/>
        </p:spPr>
        <p:txBody>
          <a:bodyPr wrap="square" lIns="0" tIns="0" rIns="0" bIns="0" rtlCol="0" anchor="t"/>
          <a:lstStyle/>
          <a:p>
            <a:pPr indent="0" marL="0">
              <a:buNone/>
            </a:pPr>
            <a:r>
              <a:rPr lang="en-US" sz="1600" b="1" dirty="0">
                <a:solidFill>
                  <a:srgbClr val="17211F"/>
                </a:solidFill>
                <a:latin typeface="Calibri" pitchFamily="34" charset="0"/>
                <a:ea typeface="Calibri" pitchFamily="34" charset="-122"/>
                <a:cs typeface="Calibri" pitchFamily="34" charset="-120"/>
              </a:rPr>
              <a:t>The extrapolation guard</a:t>
            </a:r>
            <a:endParaRPr lang="en-US" sz="1600" dirty="0"/>
          </a:p>
        </p:txBody>
      </p:sp>
      <p:sp>
        <p:nvSpPr>
          <p:cNvPr id="6" name="Text 4"/>
          <p:cNvSpPr txBox="1"/>
          <p:nvPr/>
        </p:nvSpPr>
        <p:spPr>
          <a:xfrm>
            <a:off x="914400" y="1938528"/>
            <a:ext cx="6126480" cy="914400"/>
          </a:xfrm>
          <a:prstGeom prst="rect">
            <a:avLst/>
          </a:prstGeom>
          <a:noFill/>
          <a:ln/>
        </p:spPr>
        <p:txBody>
          <a:bodyPr wrap="square" lIns="0" tIns="0" rIns="0" bIns="0" rtlCol="0" anchor="t"/>
          <a:lstStyle/>
          <a:p>
            <a:pPr indent="0" marL="0">
              <a:lnSpc>
                <a:spcPct val="105000"/>
              </a:lnSpc>
              <a:buNone/>
            </a:pPr>
            <a:r>
              <a:rPr lang="en-US" sz="1100" dirty="0">
                <a:solidFill>
                  <a:srgbClr val="5E6B68"/>
                </a:solidFill>
                <a:latin typeface="Calibri" pitchFamily="34" charset="0"/>
                <a:ea typeface="Calibri" pitchFamily="34" charset="-122"/>
                <a:cs typeface="Calibri" pitchFamily="34" charset="-120"/>
              </a:rPr>
              <a:t>A monotone gradient-boosted model is piecewise constant outside its training range: ask it about a rate no customer was ever offered and it confidently returns the last value it saw. Expected value then climbs again near the ceiling — a pure artefact that would push the optimizer to the product ceiling.</a:t>
            </a:r>
            <a:endParaRPr lang="en-US" sz="1100" dirty="0"/>
          </a:p>
        </p:txBody>
      </p:sp>
      <p:sp>
        <p:nvSpPr>
          <p:cNvPr id="7" name="Shape 5"/>
          <p:cNvSpPr/>
          <p:nvPr/>
        </p:nvSpPr>
        <p:spPr>
          <a:xfrm>
            <a:off x="914400" y="2871216"/>
            <a:ext cx="6126480" cy="420624"/>
          </a:xfrm>
          <a:prstGeom prst="roundRect">
            <a:avLst>
              <a:gd name="adj" fmla="val 10870"/>
            </a:avLst>
          </a:prstGeom>
          <a:solidFill>
            <a:srgbClr val="FFFFFF"/>
          </a:solidFill>
          <a:ln/>
        </p:spPr>
      </p:sp>
      <p:sp>
        <p:nvSpPr>
          <p:cNvPr id="8" name="Text 6"/>
          <p:cNvSpPr txBox="1"/>
          <p:nvPr/>
        </p:nvSpPr>
        <p:spPr>
          <a:xfrm>
            <a:off x="1051560" y="2871216"/>
            <a:ext cx="5852160" cy="420624"/>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upper end trimmed from 16.50% to 13.73%</a:t>
            </a:r>
            <a:endParaRPr lang="en-US" sz="1150" dirty="0"/>
          </a:p>
        </p:txBody>
      </p:sp>
      <p:sp>
        <p:nvSpPr>
          <p:cNvPr id="9" name="Shape 7"/>
          <p:cNvSpPr/>
          <p:nvPr/>
        </p:nvSpPr>
        <p:spPr>
          <a:xfrm>
            <a:off x="7635240" y="1417320"/>
            <a:ext cx="3840480" cy="2011680"/>
          </a:xfrm>
          <a:prstGeom prst="roundRect">
            <a:avLst>
              <a:gd name="adj" fmla="val 2727"/>
            </a:avLst>
          </a:prstGeom>
          <a:solidFill>
            <a:srgbClr val="0C2D2A"/>
          </a:solidFill>
          <a:ln/>
          <a:effectLst>
            <a:outerShdw sx="100000" sy="100000" kx="0" ky="0" algn="bl" rotWithShape="0" blurRad="127000" dist="25400" dir="5400000">
              <a:srgbClr val="0C2D2A">
                <a:alpha val="10000"/>
              </a:srgbClr>
            </a:outerShdw>
          </a:effectLst>
        </p:spPr>
      </p:sp>
      <p:sp>
        <p:nvSpPr>
          <p:cNvPr id="10" name="Text 8"/>
          <p:cNvSpPr txBox="1"/>
          <p:nvPr/>
        </p:nvSpPr>
        <p:spPr>
          <a:xfrm>
            <a:off x="7909560" y="1554480"/>
            <a:ext cx="3291840" cy="50292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Violations of the monotone price constraint, across the grid</a:t>
            </a:r>
            <a:endParaRPr lang="en-US" sz="1050" dirty="0"/>
          </a:p>
        </p:txBody>
      </p:sp>
      <p:sp>
        <p:nvSpPr>
          <p:cNvPr id="11" name="Text 9"/>
          <p:cNvSpPr txBox="1"/>
          <p:nvPr/>
        </p:nvSpPr>
        <p:spPr>
          <a:xfrm>
            <a:off x="7909560" y="2057400"/>
            <a:ext cx="3291840" cy="749808"/>
          </a:xfrm>
          <a:prstGeom prst="rect">
            <a:avLst/>
          </a:prstGeom>
          <a:noFill/>
          <a:ln/>
        </p:spPr>
        <p:txBody>
          <a:bodyPr wrap="square" lIns="0" tIns="0" rIns="0" bIns="0" rtlCol="0" anchor="ctr"/>
          <a:lstStyle/>
          <a:p>
            <a:pPr indent="0" marL="0">
              <a:buNone/>
            </a:pPr>
            <a:r>
              <a:rPr lang="en-US" sz="5000" b="1" dirty="0">
                <a:solidFill>
                  <a:srgbClr val="E9A13B"/>
                </a:solidFill>
                <a:latin typeface="Cambria" pitchFamily="34" charset="0"/>
                <a:ea typeface="Cambria" pitchFamily="34" charset="-122"/>
                <a:cs typeface="Cambria" pitchFamily="34" charset="-120"/>
              </a:rPr>
              <a:t>0%</a:t>
            </a:r>
            <a:endParaRPr lang="en-US" sz="5000" dirty="0"/>
          </a:p>
        </p:txBody>
      </p:sp>
      <p:sp>
        <p:nvSpPr>
          <p:cNvPr id="12" name="Text 10"/>
          <p:cNvSpPr txBox="1"/>
          <p:nvPr/>
        </p:nvSpPr>
        <p:spPr>
          <a:xfrm>
            <a:off x="7909560" y="2816352"/>
            <a:ext cx="3291840" cy="502920"/>
          </a:xfrm>
          <a:prstGeom prst="rect">
            <a:avLst/>
          </a:prstGeom>
          <a:noFill/>
          <a:ln/>
        </p:spPr>
        <p:txBody>
          <a:bodyPr wrap="square" lIns="0" tIns="0" rIns="0" bIns="0" rtlCol="0" anchor="t"/>
          <a:lstStyle/>
          <a:p>
            <a:pPr indent="0" marL="0">
              <a:lnSpc>
                <a:spcPct val="100000"/>
              </a:lnSpc>
              <a:buNone/>
            </a:pPr>
            <a:r>
              <a:rPr lang="en-US" sz="1000" dirty="0">
                <a:solidFill>
                  <a:srgbClr val="A7C0BA"/>
                </a:solidFill>
                <a:latin typeface="Calibri" pitchFamily="34" charset="0"/>
                <a:ea typeface="Calibri" pitchFamily="34" charset="-122"/>
                <a:cs typeface="Calibri" pitchFamily="34" charset="-120"/>
              </a:rPr>
              <a:t>Conversion is non-increasing in price and in competitor gap; prepayment non-decreasing.</a:t>
            </a:r>
            <a:endParaRPr lang="en-US" sz="1000" dirty="0"/>
          </a:p>
        </p:txBody>
      </p:sp>
      <p:sp>
        <p:nvSpPr>
          <p:cNvPr id="13" name="Shape 11"/>
          <p:cNvSpPr/>
          <p:nvPr/>
        </p:nvSpPr>
        <p:spPr>
          <a:xfrm>
            <a:off x="594360" y="3703320"/>
            <a:ext cx="5349240" cy="914400"/>
          </a:xfrm>
          <a:prstGeom prst="roundRect">
            <a:avLst>
              <a:gd name="adj" fmla="val 6000"/>
            </a:avLst>
          </a:prstGeom>
          <a:solidFill>
            <a:srgbClr val="F1F4F3"/>
          </a:solidFill>
          <a:ln/>
          <a:effectLst>
            <a:outerShdw sx="100000" sy="100000" kx="0" ky="0" algn="bl" rotWithShape="0" blurRad="127000" dist="25400" dir="5400000">
              <a:srgbClr val="0C2D2A">
                <a:alpha val="10000"/>
              </a:srgbClr>
            </a:outerShdw>
          </a:effectLst>
        </p:spPr>
      </p:sp>
      <p:sp>
        <p:nvSpPr>
          <p:cNvPr id="14" name="Shape 12"/>
          <p:cNvSpPr/>
          <p:nvPr/>
        </p:nvSpPr>
        <p:spPr>
          <a:xfrm>
            <a:off x="777240" y="3840480"/>
            <a:ext cx="329184" cy="329184"/>
          </a:xfrm>
          <a:prstGeom prst="ellipse">
            <a:avLst/>
          </a:prstGeom>
          <a:solidFill>
            <a:srgbClr val="E9A13B"/>
          </a:solidFill>
          <a:ln/>
        </p:spPr>
      </p:sp>
      <p:sp>
        <p:nvSpPr>
          <p:cNvPr id="15" name="Text 13"/>
          <p:cNvSpPr txBox="1"/>
          <p:nvPr/>
        </p:nvSpPr>
        <p:spPr>
          <a:xfrm>
            <a:off x="777240" y="3840480"/>
            <a:ext cx="329184" cy="329184"/>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1216152" y="3803904"/>
            <a:ext cx="4572000" cy="731520"/>
          </a:xfrm>
          <a:prstGeom prst="rect">
            <a:avLst/>
          </a:prstGeom>
          <a:noFill/>
          <a:ln/>
        </p:spPr>
        <p:txBody>
          <a:bodyPr wrap="square" lIns="0" tIns="0" rIns="0" bIns="0" rtlCol="0" anchor="t"/>
          <a:lstStyle/>
          <a:p>
            <a:pPr indent="0" marL="0">
              <a:lnSpc>
                <a:spcPct val="105000"/>
              </a:lnSpc>
              <a:buNone/>
            </a:pPr>
            <a:r>
              <a:rPr lang="en-US" sz="1200" b="1" dirty="0">
                <a:solidFill>
                  <a:srgbClr val="17211F"/>
                </a:solidFill>
                <a:latin typeface="Calibri" pitchFamily="34" charset="0"/>
                <a:ea typeface="Calibri" pitchFamily="34" charset="-122"/>
                <a:cs typeface="Calibri" pitchFamily="34" charset="-120"/>
              </a:rPr>
              <a:t>Minimum conversion probability</a:t>
            </a:r>
            <a:endParaRPr lang="en-US" sz="1200" dirty="0"/>
          </a:p>
          <a:p>
            <a:pPr indent="0" marL="0">
              <a:lnSpc>
                <a:spcPct val="105000"/>
              </a:lnSpc>
              <a:buNone/>
            </a:pPr>
            <a:r>
              <a:rPr lang="en-US" sz="950" dirty="0">
                <a:solidFill>
                  <a:srgbClr val="5E6B68"/>
                </a:solidFill>
                <a:latin typeface="Calibri" pitchFamily="34" charset="0"/>
                <a:ea typeface="Calibri" pitchFamily="34" charset="-122"/>
                <a:cs typeface="Calibri" pitchFamily="34" charset="-120"/>
              </a:rPr>
              <a:t>Do not win the price and lose the customer. Scenarios below the floor are rejected outright.</a:t>
            </a:r>
            <a:endParaRPr lang="en-US" sz="1200" dirty="0"/>
          </a:p>
        </p:txBody>
      </p:sp>
      <p:sp>
        <p:nvSpPr>
          <p:cNvPr id="17" name="Shape 15"/>
          <p:cNvSpPr/>
          <p:nvPr/>
        </p:nvSpPr>
        <p:spPr>
          <a:xfrm>
            <a:off x="6217920" y="3703320"/>
            <a:ext cx="5349240" cy="914400"/>
          </a:xfrm>
          <a:prstGeom prst="roundRect">
            <a:avLst>
              <a:gd name="adj" fmla="val 6000"/>
            </a:avLst>
          </a:prstGeom>
          <a:solidFill>
            <a:srgbClr val="F1F4F3"/>
          </a:solidFill>
          <a:ln/>
          <a:effectLst>
            <a:outerShdw sx="100000" sy="100000" kx="0" ky="0" algn="bl" rotWithShape="0" blurRad="127000" dist="25400" dir="5400000">
              <a:srgbClr val="0C2D2A">
                <a:alpha val="10000"/>
              </a:srgbClr>
            </a:outerShdw>
          </a:effectLst>
        </p:spPr>
      </p:sp>
      <p:sp>
        <p:nvSpPr>
          <p:cNvPr id="18" name="Shape 16"/>
          <p:cNvSpPr/>
          <p:nvPr/>
        </p:nvSpPr>
        <p:spPr>
          <a:xfrm>
            <a:off x="6400800" y="3840480"/>
            <a:ext cx="329184" cy="329184"/>
          </a:xfrm>
          <a:prstGeom prst="ellipse">
            <a:avLst/>
          </a:prstGeom>
          <a:solidFill>
            <a:srgbClr val="E9A13B"/>
          </a:solidFill>
          <a:ln/>
        </p:spPr>
      </p:sp>
      <p:sp>
        <p:nvSpPr>
          <p:cNvPr id="19" name="Text 17"/>
          <p:cNvSpPr txBox="1"/>
          <p:nvPr/>
        </p:nvSpPr>
        <p:spPr>
          <a:xfrm>
            <a:off x="6400800" y="3840480"/>
            <a:ext cx="329184" cy="329184"/>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2</a:t>
            </a:r>
            <a:endParaRPr lang="en-US" sz="1200" dirty="0"/>
          </a:p>
        </p:txBody>
      </p:sp>
      <p:sp>
        <p:nvSpPr>
          <p:cNvPr id="20" name="Text 18"/>
          <p:cNvSpPr txBox="1"/>
          <p:nvPr/>
        </p:nvSpPr>
        <p:spPr>
          <a:xfrm>
            <a:off x="6839712" y="3803904"/>
            <a:ext cx="4572000" cy="731520"/>
          </a:xfrm>
          <a:prstGeom prst="rect">
            <a:avLst/>
          </a:prstGeom>
          <a:noFill/>
          <a:ln/>
        </p:spPr>
        <p:txBody>
          <a:bodyPr wrap="square" lIns="0" tIns="0" rIns="0" bIns="0" rtlCol="0" anchor="t"/>
          <a:lstStyle/>
          <a:p>
            <a:pPr indent="0" marL="0">
              <a:lnSpc>
                <a:spcPct val="105000"/>
              </a:lnSpc>
              <a:buNone/>
            </a:pPr>
            <a:r>
              <a:rPr lang="en-US" sz="1200" b="1" dirty="0">
                <a:solidFill>
                  <a:srgbClr val="17211F"/>
                </a:solidFill>
                <a:latin typeface="Calibri" pitchFamily="34" charset="0"/>
                <a:ea typeface="Calibri" pitchFamily="34" charset="-122"/>
                <a:cs typeface="Calibri" pitchFamily="34" charset="-120"/>
              </a:rPr>
              <a:t>Maximum balance-transfer probability</a:t>
            </a:r>
            <a:endParaRPr lang="en-US" sz="1200" dirty="0"/>
          </a:p>
          <a:p>
            <a:pPr indent="0" marL="0">
              <a:lnSpc>
                <a:spcPct val="105000"/>
              </a:lnSpc>
              <a:buNone/>
            </a:pPr>
            <a:r>
              <a:rPr lang="en-US" sz="950" dirty="0">
                <a:solidFill>
                  <a:srgbClr val="5E6B68"/>
                </a:solidFill>
                <a:latin typeface="Calibri" pitchFamily="34" charset="0"/>
                <a:ea typeface="Calibri" pitchFamily="34" charset="-122"/>
                <a:cs typeface="Calibri" pitchFamily="34" charset="-120"/>
              </a:rPr>
              <a:t>Do not book a loan that leaves. Priced-in BT risk caps the top of the search.</a:t>
            </a:r>
            <a:endParaRPr lang="en-US" sz="1200" dirty="0"/>
          </a:p>
        </p:txBody>
      </p:sp>
      <p:sp>
        <p:nvSpPr>
          <p:cNvPr id="21" name="Shape 19"/>
          <p:cNvSpPr/>
          <p:nvPr/>
        </p:nvSpPr>
        <p:spPr>
          <a:xfrm>
            <a:off x="594360" y="4892040"/>
            <a:ext cx="5349240" cy="914400"/>
          </a:xfrm>
          <a:prstGeom prst="roundRect">
            <a:avLst>
              <a:gd name="adj" fmla="val 6000"/>
            </a:avLst>
          </a:prstGeom>
          <a:solidFill>
            <a:srgbClr val="F1F4F3"/>
          </a:solidFill>
          <a:ln/>
          <a:effectLst>
            <a:outerShdw sx="100000" sy="100000" kx="0" ky="0" algn="bl" rotWithShape="0" blurRad="127000" dist="25400" dir="5400000">
              <a:srgbClr val="0C2D2A">
                <a:alpha val="10000"/>
              </a:srgbClr>
            </a:outerShdw>
          </a:effectLst>
        </p:spPr>
      </p:sp>
      <p:sp>
        <p:nvSpPr>
          <p:cNvPr id="22" name="Shape 20"/>
          <p:cNvSpPr/>
          <p:nvPr/>
        </p:nvSpPr>
        <p:spPr>
          <a:xfrm>
            <a:off x="777240" y="5029200"/>
            <a:ext cx="329184" cy="329184"/>
          </a:xfrm>
          <a:prstGeom prst="ellipse">
            <a:avLst/>
          </a:prstGeom>
          <a:solidFill>
            <a:srgbClr val="E9A13B"/>
          </a:solidFill>
          <a:ln/>
        </p:spPr>
      </p:sp>
      <p:sp>
        <p:nvSpPr>
          <p:cNvPr id="23" name="Text 21"/>
          <p:cNvSpPr txBox="1"/>
          <p:nvPr/>
        </p:nvSpPr>
        <p:spPr>
          <a:xfrm>
            <a:off x="777240" y="5029200"/>
            <a:ext cx="329184" cy="329184"/>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216152" y="4992624"/>
            <a:ext cx="4572000" cy="731520"/>
          </a:xfrm>
          <a:prstGeom prst="rect">
            <a:avLst/>
          </a:prstGeom>
          <a:noFill/>
          <a:ln/>
        </p:spPr>
        <p:txBody>
          <a:bodyPr wrap="square" lIns="0" tIns="0" rIns="0" bIns="0" rtlCol="0" anchor="t"/>
          <a:lstStyle/>
          <a:p>
            <a:pPr indent="0" marL="0">
              <a:lnSpc>
                <a:spcPct val="105000"/>
              </a:lnSpc>
              <a:buNone/>
            </a:pPr>
            <a:r>
              <a:rPr lang="en-US" sz="1200" b="1" dirty="0">
                <a:solidFill>
                  <a:srgbClr val="17211F"/>
                </a:solidFill>
                <a:latin typeface="Calibri" pitchFamily="34" charset="0"/>
                <a:ea typeface="Calibri" pitchFamily="34" charset="-122"/>
                <a:cs typeface="Calibri" pitchFamily="34" charset="-120"/>
              </a:rPr>
              <a:t>EV tolerance tie-break</a:t>
            </a:r>
            <a:endParaRPr lang="en-US" sz="1200" dirty="0"/>
          </a:p>
          <a:p>
            <a:pPr indent="0" marL="0">
              <a:lnSpc>
                <a:spcPct val="105000"/>
              </a:lnSpc>
              <a:buNone/>
            </a:pPr>
            <a:r>
              <a:rPr lang="en-US" sz="950" dirty="0">
                <a:solidFill>
                  <a:srgbClr val="5E6B68"/>
                </a:solidFill>
                <a:latin typeface="Calibri" pitchFamily="34" charset="0"/>
                <a:ea typeface="Calibri" pitchFamily="34" charset="-122"/>
                <a:cs typeface="Calibri" pitchFamily="34" charset="-120"/>
              </a:rPr>
              <a:t>Where two prices are economically indistinguishable, the customer gets the lower one — and upward drift, one bp at a time, stops.</a:t>
            </a:r>
            <a:endParaRPr lang="en-US" sz="1200" dirty="0"/>
          </a:p>
        </p:txBody>
      </p:sp>
      <p:sp>
        <p:nvSpPr>
          <p:cNvPr id="25" name="Shape 23"/>
          <p:cNvSpPr/>
          <p:nvPr/>
        </p:nvSpPr>
        <p:spPr>
          <a:xfrm>
            <a:off x="6217920" y="4892040"/>
            <a:ext cx="5349240" cy="914400"/>
          </a:xfrm>
          <a:prstGeom prst="roundRect">
            <a:avLst>
              <a:gd name="adj" fmla="val 6000"/>
            </a:avLst>
          </a:prstGeom>
          <a:solidFill>
            <a:srgbClr val="F1F4F3"/>
          </a:solidFill>
          <a:ln/>
          <a:effectLst>
            <a:outerShdw sx="100000" sy="100000" kx="0" ky="0" algn="bl" rotWithShape="0" blurRad="127000" dist="25400" dir="5400000">
              <a:srgbClr val="0C2D2A">
                <a:alpha val="10000"/>
              </a:srgbClr>
            </a:outerShdw>
          </a:effectLst>
        </p:spPr>
      </p:sp>
      <p:sp>
        <p:nvSpPr>
          <p:cNvPr id="26" name="Shape 24"/>
          <p:cNvSpPr/>
          <p:nvPr/>
        </p:nvSpPr>
        <p:spPr>
          <a:xfrm>
            <a:off x="6400800" y="5029200"/>
            <a:ext cx="329184" cy="329184"/>
          </a:xfrm>
          <a:prstGeom prst="ellipse">
            <a:avLst/>
          </a:prstGeom>
          <a:solidFill>
            <a:srgbClr val="E9A13B"/>
          </a:solidFill>
          <a:ln/>
        </p:spPr>
      </p:sp>
      <p:sp>
        <p:nvSpPr>
          <p:cNvPr id="27" name="Text 25"/>
          <p:cNvSpPr txBox="1"/>
          <p:nvPr/>
        </p:nvSpPr>
        <p:spPr>
          <a:xfrm>
            <a:off x="6400800" y="5029200"/>
            <a:ext cx="329184" cy="329184"/>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39712" y="4992624"/>
            <a:ext cx="4572000" cy="731520"/>
          </a:xfrm>
          <a:prstGeom prst="rect">
            <a:avLst/>
          </a:prstGeom>
          <a:noFill/>
          <a:ln/>
        </p:spPr>
        <p:txBody>
          <a:bodyPr wrap="square" lIns="0" tIns="0" rIns="0" bIns="0" rtlCol="0" anchor="t"/>
          <a:lstStyle/>
          <a:p>
            <a:pPr indent="0" marL="0">
              <a:lnSpc>
                <a:spcPct val="105000"/>
              </a:lnSpc>
              <a:buNone/>
            </a:pPr>
            <a:r>
              <a:rPr lang="en-US" sz="1200" b="1" dirty="0">
                <a:solidFill>
                  <a:srgbClr val="17211F"/>
                </a:solidFill>
                <a:latin typeface="Calibri" pitchFamily="34" charset="0"/>
                <a:ea typeface="Calibri" pitchFamily="34" charset="-122"/>
                <a:cs typeface="Calibri" pitchFamily="34" charset="-120"/>
              </a:rPr>
              <a:t>Affordability, solved not assumed</a:t>
            </a:r>
            <a:endParaRPr lang="en-US" sz="1200" dirty="0"/>
          </a:p>
          <a:p>
            <a:pPr indent="0" marL="0">
              <a:lnSpc>
                <a:spcPct val="105000"/>
              </a:lnSpc>
              <a:buNone/>
            </a:pPr>
            <a:r>
              <a:rPr lang="en-US" sz="950" dirty="0">
                <a:solidFill>
                  <a:srgbClr val="5E6B68"/>
                </a:solidFill>
                <a:latin typeface="Calibri" pitchFamily="34" charset="0"/>
                <a:ea typeface="Calibri" pitchFamily="34" charset="-122"/>
                <a:cs typeface="Calibri" pitchFamily="34" charset="-120"/>
              </a:rPr>
              <a:t>Raising the price raises the EMI. The band's upper end is solved against the FOIR cap, and the record says when affordability rather than policy binds.</a:t>
            </a:r>
            <a:endParaRPr lang="en-US" sz="1200" dirty="0"/>
          </a:p>
        </p:txBody>
      </p:sp>
      <p:sp>
        <p:nvSpPr>
          <p:cNvPr id="29" name="Text 27"/>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Every guard-rail lives in config/pricing_policy.yaml — Credit and Product change behaviour by editing YAML, and the version is stamped on every decision.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RESULT 3 OF 4</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Six models, each with a written limitation</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0881360" cy="914400"/>
        </p:xfrm>
        <a:graphic>
          <a:graphicData uri="http://schemas.openxmlformats.org/drawingml/2006/table">
            <a:tbl>
              <a:tblPr/>
              <a:tblGrid>
                <a:gridCol w="1325880"/>
                <a:gridCol w="2148840"/>
                <a:gridCol w="3474720"/>
                <a:gridCol w="39319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Headline metric</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stage1</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sanctioned_rate q10/q50/q90</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Pre-assessment band, eligibility, confidence</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80.4% coverage · 74 bps width · 23.1 bps median MAE</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stage2</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sanctioned_rate</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Anchor + search window; SHAP base for reason codes</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11.7 bps MAE · 90.3% within 25 bps</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conversion</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disbursed</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P(convert | rate) for every scenario; elasticity</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AUC 0.700 · calibration gap 0.002 · −9.6 pts / +25 bps</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prepayment</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bt_out_24m</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BT-out probability → behavioural life</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AUC 0.643 · base rate 15.3%</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risk</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defaulted</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Lifetime PD → annual PD → grade → expected loss</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AUC 0.697</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indent="0" marL="0">
                        <a:buNone/>
                      </a:pPr>
                      <a:r>
                        <a:rPr lang="en-US" sz="1100" b="1" dirty="0">
                          <a:solidFill>
                            <a:srgbClr val="0C2D2A"/>
                          </a:solidFill>
                          <a:latin typeface="Courier New" pitchFamily="34" charset="0"/>
                          <a:ea typeface="Courier New" pitchFamily="34" charset="-122"/>
                          <a:cs typeface="Courier New" pitchFamily="34" charset="-120"/>
                        </a:rPr>
                        <a:t>override</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was_overridden, override_bps</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alibri" pitchFamily="34" charset="0"/>
                          <a:ea typeface="Calibri" pitchFamily="34" charset="-122"/>
                          <a:cs typeface="Calibri" pitchFamily="34" charset="-120"/>
                        </a:rPr>
                        <a:t>Override risk, anticipated human rate, propensity strata</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7211F"/>
                          </a:solidFill>
                          <a:latin typeface="Calibri" pitchFamily="34" charset="0"/>
                          <a:ea typeface="Calibri" pitchFamily="34" charset="-122"/>
                          <a:cs typeface="Calibri" pitchFamily="34" charset="-120"/>
                        </a:rPr>
                        <a:t>AUC 0.682 · magnitude MAE 9.7 bps</a:t>
                      </a:r>
                      <a:endParaRPr lang="en-US" sz="10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Shape 2"/>
          <p:cNvSpPr/>
          <p:nvPr/>
        </p:nvSpPr>
        <p:spPr>
          <a:xfrm>
            <a:off x="594360" y="4434840"/>
            <a:ext cx="5349240" cy="1325880"/>
          </a:xfrm>
          <a:prstGeom prst="roundRect">
            <a:avLst>
              <a:gd name="adj" fmla="val 4138"/>
            </a:avLst>
          </a:prstGeom>
          <a:solidFill>
            <a:srgbClr val="0C2D2A"/>
          </a:solidFill>
          <a:ln/>
          <a:effectLst>
            <a:outerShdw sx="100000" sy="100000" kx="0" ky="0" algn="bl" rotWithShape="0" blurRad="127000" dist="25400" dir="5400000">
              <a:srgbClr val="0C2D2A">
                <a:alpha val="10000"/>
              </a:srgbClr>
            </a:outerShdw>
          </a:effectLst>
        </p:spPr>
      </p:sp>
      <p:sp>
        <p:nvSpPr>
          <p:cNvPr id="6" name="Text 3"/>
          <p:cNvSpPr txBox="1"/>
          <p:nvPr/>
        </p:nvSpPr>
        <p:spPr>
          <a:xfrm>
            <a:off x="914400" y="4553712"/>
            <a:ext cx="1645920" cy="457200"/>
          </a:xfrm>
          <a:prstGeom prst="rect">
            <a:avLst/>
          </a:prstGeom>
          <a:noFill/>
          <a:ln/>
        </p:spPr>
        <p:txBody>
          <a:bodyPr wrap="square" lIns="0" tIns="0" rIns="0" bIns="0" rtlCol="0" anchor="ctr"/>
          <a:lstStyle/>
          <a:p>
            <a:pPr indent="0" marL="0">
              <a:buNone/>
            </a:pPr>
            <a:r>
              <a:rPr lang="en-US" sz="2800" b="1" dirty="0">
                <a:solidFill>
                  <a:srgbClr val="E9A13B"/>
                </a:solidFill>
                <a:latin typeface="Cambria" pitchFamily="34" charset="0"/>
                <a:ea typeface="Cambria" pitchFamily="34" charset="-122"/>
                <a:cs typeface="Cambria" pitchFamily="34" charset="-120"/>
              </a:rPr>
              <a:t>11 bps</a:t>
            </a:r>
            <a:endParaRPr lang="en-US" sz="2800" dirty="0"/>
          </a:p>
        </p:txBody>
      </p:sp>
      <p:sp>
        <p:nvSpPr>
          <p:cNvPr id="7" name="Text 4"/>
          <p:cNvSpPr txBox="1"/>
          <p:nvPr/>
        </p:nvSpPr>
        <p:spPr>
          <a:xfrm>
            <a:off x="2606040" y="4553712"/>
            <a:ext cx="3108960" cy="457200"/>
          </a:xfrm>
          <a:prstGeom prst="rect">
            <a:avLst/>
          </a:prstGeom>
          <a:noFill/>
          <a:ln/>
        </p:spPr>
        <p:txBody>
          <a:bodyPr wrap="square" lIns="0" tIns="0" rIns="0" bIns="0" rtlCol="0" anchor="ctr"/>
          <a:lstStyle/>
          <a:p>
            <a:pPr indent="0" marL="0">
              <a:lnSpc>
                <a:spcPct val="95000"/>
              </a:lnSpc>
              <a:buNone/>
            </a:pPr>
            <a:r>
              <a:rPr lang="en-US" sz="1200" b="1" dirty="0">
                <a:solidFill>
                  <a:srgbClr val="FFFFFF"/>
                </a:solidFill>
                <a:latin typeface="Calibri" pitchFamily="34" charset="0"/>
                <a:ea typeface="Calibri" pitchFamily="34" charset="-122"/>
                <a:cs typeface="Calibri" pitchFamily="34" charset="-120"/>
              </a:rPr>
              <a:t>the commercial case for collecting documents</a:t>
            </a:r>
            <a:endParaRPr lang="en-US" sz="1200" dirty="0"/>
          </a:p>
        </p:txBody>
      </p:sp>
      <p:sp>
        <p:nvSpPr>
          <p:cNvPr id="8" name="Text 5"/>
          <p:cNvSpPr txBox="1"/>
          <p:nvPr/>
        </p:nvSpPr>
        <p:spPr>
          <a:xfrm>
            <a:off x="914400" y="5074920"/>
            <a:ext cx="4754880" cy="548640"/>
          </a:xfrm>
          <a:prstGeom prst="rect">
            <a:avLst/>
          </a:prstGeom>
          <a:noFill/>
          <a:ln/>
        </p:spPr>
        <p:txBody>
          <a:bodyPr wrap="square" lIns="0" tIns="0" rIns="0" bIns="0" rtlCol="0" anchor="t"/>
          <a:lstStyle/>
          <a:p>
            <a:pPr indent="0" marL="0">
              <a:lnSpc>
                <a:spcPct val="100000"/>
              </a:lnSpc>
              <a:buNone/>
            </a:pPr>
            <a:r>
              <a:rPr lang="en-US" sz="1050" dirty="0">
                <a:solidFill>
                  <a:srgbClr val="A7C0BA"/>
                </a:solidFill>
                <a:latin typeface="Calibri" pitchFamily="34" charset="0"/>
                <a:ea typeface="Calibri" pitchFamily="34" charset="-122"/>
                <a:cs typeface="Calibri" pitchFamily="34" charset="-120"/>
              </a:rPr>
              <a:t>Assessment is worth roughly 11 bps of pricing accuracy: the Stage-1 anchor MAE of 23.1 bps falls to 11.7 bps at Stage 2.</a:t>
            </a:r>
            <a:endParaRPr lang="en-US" sz="1050" dirty="0"/>
          </a:p>
        </p:txBody>
      </p:sp>
      <p:sp>
        <p:nvSpPr>
          <p:cNvPr id="9" name="Shape 6"/>
          <p:cNvSpPr/>
          <p:nvPr/>
        </p:nvSpPr>
        <p:spPr>
          <a:xfrm>
            <a:off x="6126480" y="4434840"/>
            <a:ext cx="5349240" cy="1325880"/>
          </a:xfrm>
          <a:prstGeom prst="roundRect">
            <a:avLst>
              <a:gd name="adj" fmla="val 4138"/>
            </a:avLst>
          </a:prstGeom>
          <a:solidFill>
            <a:srgbClr val="F1F4F3"/>
          </a:solidFill>
          <a:ln/>
          <a:effectLst>
            <a:outerShdw sx="100000" sy="100000" kx="0" ky="0" algn="bl" rotWithShape="0" blurRad="127000" dist="25400" dir="5400000">
              <a:srgbClr val="0C2D2A">
                <a:alpha val="10000"/>
              </a:srgbClr>
            </a:outerShdw>
          </a:effectLst>
        </p:spPr>
      </p:sp>
      <p:sp>
        <p:nvSpPr>
          <p:cNvPr id="10" name="Text 7"/>
          <p:cNvSpPr txBox="1"/>
          <p:nvPr/>
        </p:nvSpPr>
        <p:spPr>
          <a:xfrm>
            <a:off x="6446520" y="4553712"/>
            <a:ext cx="4754880" cy="457200"/>
          </a:xfrm>
          <a:prstGeom prst="rect">
            <a:avLst/>
          </a:prstGeom>
          <a:noFill/>
          <a:ln/>
        </p:spPr>
        <p:txBody>
          <a:bodyPr wrap="square" lIns="0" tIns="0" rIns="0" bIns="0" rtlCol="0" anchor="ctr"/>
          <a:lstStyle/>
          <a:p>
            <a:pPr indent="0" marL="0">
              <a:lnSpc>
                <a:spcPct val="95000"/>
              </a:lnSpc>
              <a:buNone/>
            </a:pPr>
            <a:r>
              <a:rPr lang="en-US" sz="1250" b="1" dirty="0">
                <a:solidFill>
                  <a:srgbClr val="17211F"/>
                </a:solidFill>
                <a:latin typeface="Calibri" pitchFamily="34" charset="0"/>
                <a:ea typeface="Calibri" pitchFamily="34" charset="-122"/>
                <a:cs typeface="Calibri" pitchFamily="34" charset="-120"/>
              </a:rPr>
              <a:t>Calibrated, because probabilities get multiplied by rupees</a:t>
            </a:r>
            <a:endParaRPr lang="en-US" sz="1250" dirty="0"/>
          </a:p>
        </p:txBody>
      </p:sp>
      <p:sp>
        <p:nvSpPr>
          <p:cNvPr id="11" name="Text 8"/>
          <p:cNvSpPr txBox="1"/>
          <p:nvPr/>
        </p:nvSpPr>
        <p:spPr>
          <a:xfrm>
            <a:off x="6446520" y="5029200"/>
            <a:ext cx="4754880" cy="621792"/>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Conversion, prepayment and risk are isotonically calibrated. Isotonic calibration is monotone, so the price constraint survives it. Unit discipline is explicit: a lifetime PD becomes an annual expected loss once, via risk.pd_horizon_years.</a:t>
            </a:r>
            <a:endParaRPr lang="en-US" sz="1000" dirty="0"/>
          </a:p>
        </p:txBody>
      </p:sp>
      <p:sp>
        <p:nvSpPr>
          <p:cNvPr id="12" name="Text 9"/>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Chronological 80/20 split of 20,000 synthetic applications. Treat these as evidence that the pipeline works, not as expected production performance.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RESULT 4 OF 4</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Did the overrides help?</a:t>
            </a:r>
            <a:endParaRPr lang="en-US" sz="3200" dirty="0"/>
          </a:p>
        </p:txBody>
      </p:sp>
      <p:sp>
        <p:nvSpPr>
          <p:cNvPr id="4" name="Text 2"/>
          <p:cNvSpPr txBox="1"/>
          <p:nvPr/>
        </p:nvSpPr>
        <p:spPr>
          <a:xfrm>
            <a:off x="594360" y="1389888"/>
            <a:ext cx="10881360" cy="457200"/>
          </a:xfrm>
          <a:prstGeom prst="rect">
            <a:avLst/>
          </a:prstGeom>
          <a:noFill/>
          <a:ln/>
        </p:spPr>
        <p:txBody>
          <a:bodyPr wrap="square" lIns="0" tIns="0" rIns="0" bIns="0" rtlCol="0" anchor="t"/>
          <a:lstStyle/>
          <a:p>
            <a:pPr indent="0" marL="0">
              <a:lnSpc>
                <a:spcPct val="105000"/>
              </a:lnSpc>
              <a:buNone/>
            </a:pPr>
            <a:r>
              <a:rPr lang="en-US" sz="1300" dirty="0">
                <a:solidFill>
                  <a:srgbClr val="5E6B68"/>
                </a:solidFill>
                <a:latin typeface="Calibri" pitchFamily="34" charset="0"/>
                <a:ea typeface="Calibri" pitchFamily="34" charset="-122"/>
                <a:cs typeface="Calibri" pitchFamily="34" charset="-120"/>
              </a:rPr>
              <a:t>Overrides are not randomly assigned — salespeople discount precisely the files that were going to be hard to close. The naive comparison is confounded, and it points the wrong way.</a:t>
            </a:r>
            <a:endParaRPr lang="en-US" sz="1300" dirty="0"/>
          </a:p>
        </p:txBody>
      </p:sp>
      <p:sp>
        <p:nvSpPr>
          <p:cNvPr id="5" name="Shape 3"/>
          <p:cNvSpPr/>
          <p:nvPr/>
        </p:nvSpPr>
        <p:spPr>
          <a:xfrm>
            <a:off x="594360" y="1965960"/>
            <a:ext cx="5349240" cy="2331720"/>
          </a:xfrm>
          <a:prstGeom prst="roundRect">
            <a:avLst>
              <a:gd name="adj" fmla="val 2353"/>
            </a:avLst>
          </a:prstGeom>
          <a:solidFill>
            <a:srgbClr val="F1F4F3"/>
          </a:solidFill>
          <a:ln/>
          <a:effectLst>
            <a:outerShdw sx="100000" sy="100000" kx="0" ky="0" algn="bl" rotWithShape="0" blurRad="127000" dist="25400" dir="5400000">
              <a:srgbClr val="0C2D2A">
                <a:alpha val="10000"/>
              </a:srgbClr>
            </a:outerShdw>
          </a:effectLst>
        </p:spPr>
      </p:sp>
      <p:sp>
        <p:nvSpPr>
          <p:cNvPr id="6" name="Text 4"/>
          <p:cNvSpPr txBox="1"/>
          <p:nvPr/>
        </p:nvSpPr>
        <p:spPr>
          <a:xfrm>
            <a:off x="914400" y="2148840"/>
            <a:ext cx="4754880" cy="320040"/>
          </a:xfrm>
          <a:prstGeom prst="rect">
            <a:avLst/>
          </a:prstGeom>
          <a:noFill/>
          <a:ln/>
        </p:spPr>
        <p:txBody>
          <a:bodyPr wrap="square" lIns="0" tIns="0" rIns="0" bIns="0" rtlCol="0" anchor="ctr"/>
          <a:lstStyle/>
          <a:p>
            <a:pPr indent="0" marL="0">
              <a:buNone/>
            </a:pPr>
            <a:r>
              <a:rPr lang="en-US" sz="1500" b="1" dirty="0">
                <a:solidFill>
                  <a:srgbClr val="B24A3C"/>
                </a:solidFill>
                <a:latin typeface="Calibri" pitchFamily="34" charset="0"/>
                <a:ea typeface="Calibri" pitchFamily="34" charset="-122"/>
                <a:cs typeface="Calibri" pitchFamily="34" charset="-120"/>
              </a:rPr>
              <a:t>Naive comparison</a:t>
            </a:r>
            <a:endParaRPr lang="en-US" sz="1500" dirty="0"/>
          </a:p>
        </p:txBody>
      </p:sp>
      <p:sp>
        <p:nvSpPr>
          <p:cNvPr id="7" name="Text 5"/>
          <p:cNvSpPr txBox="1"/>
          <p:nvPr/>
        </p:nvSpPr>
        <p:spPr>
          <a:xfrm>
            <a:off x="914400" y="2450592"/>
            <a:ext cx="4754880" cy="274320"/>
          </a:xfrm>
          <a:prstGeom prst="rect">
            <a:avLst/>
          </a:prstGeom>
          <a:noFill/>
          <a:ln/>
        </p:spPr>
        <p:txBody>
          <a:bodyPr wrap="square" lIns="0" tIns="0" rIns="0" bIns="0" rtlCol="0" anchor="ctr"/>
          <a:lstStyle/>
          <a:p>
            <a:pPr indent="0" marL="0">
              <a:buNone/>
            </a:pPr>
            <a:r>
              <a:rPr lang="en-US" sz="1000" dirty="0">
                <a:solidFill>
                  <a:srgbClr val="5E6B68"/>
                </a:solidFill>
                <a:latin typeface="Calibri" pitchFamily="34" charset="0"/>
                <a:ea typeface="Calibri" pitchFamily="34" charset="-122"/>
                <a:cs typeface="Calibri" pitchFamily="34" charset="-120"/>
              </a:rPr>
              <a:t>overridden vs non-overridden files, as they come</a:t>
            </a:r>
            <a:endParaRPr lang="en-US" sz="1000" dirty="0"/>
          </a:p>
        </p:txBody>
      </p:sp>
      <p:sp>
        <p:nvSpPr>
          <p:cNvPr id="8" name="Text 6"/>
          <p:cNvSpPr txBox="1"/>
          <p:nvPr/>
        </p:nvSpPr>
        <p:spPr>
          <a:xfrm>
            <a:off x="914400" y="2880360"/>
            <a:ext cx="2286000" cy="640080"/>
          </a:xfrm>
          <a:prstGeom prst="rect">
            <a:avLst/>
          </a:prstGeom>
          <a:noFill/>
          <a:ln/>
        </p:spPr>
        <p:txBody>
          <a:bodyPr wrap="square" lIns="0" tIns="0" rIns="0" bIns="0" rtlCol="0" anchor="ctr"/>
          <a:lstStyle/>
          <a:p>
            <a:pPr indent="0" marL="0">
              <a:buNone/>
            </a:pPr>
            <a:r>
              <a:rPr lang="en-US" sz="3400" b="1" dirty="0">
                <a:solidFill>
                  <a:srgbClr val="B24A3C"/>
                </a:solidFill>
                <a:latin typeface="Cambria" pitchFamily="34" charset="0"/>
                <a:ea typeface="Cambria" pitchFamily="34" charset="-122"/>
                <a:cs typeface="Cambria" pitchFamily="34" charset="-120"/>
              </a:rPr>
              <a:t>−3.3 pts</a:t>
            </a:r>
            <a:endParaRPr lang="en-US" sz="3400" dirty="0"/>
          </a:p>
        </p:txBody>
      </p:sp>
      <p:sp>
        <p:nvSpPr>
          <p:cNvPr id="9" name="Text 7"/>
          <p:cNvSpPr txBox="1"/>
          <p:nvPr/>
        </p:nvSpPr>
        <p:spPr>
          <a:xfrm>
            <a:off x="914400" y="3502152"/>
            <a:ext cx="2286000" cy="274320"/>
          </a:xfrm>
          <a:prstGeom prst="rect">
            <a:avLst/>
          </a:prstGeom>
          <a:noFill/>
          <a:ln/>
        </p:spPr>
        <p:txBody>
          <a:bodyPr wrap="square" lIns="0" tIns="0" rIns="0" bIns="0" rtlCol="0" anchor="ctr"/>
          <a:lstStyle/>
          <a:p>
            <a:pPr indent="0" marL="0">
              <a:buNone/>
            </a:pPr>
            <a:r>
              <a:rPr lang="en-US" sz="1100" dirty="0">
                <a:solidFill>
                  <a:srgbClr val="5E6B68"/>
                </a:solidFill>
                <a:latin typeface="Calibri" pitchFamily="34" charset="0"/>
                <a:ea typeface="Calibri" pitchFamily="34" charset="-122"/>
                <a:cs typeface="Calibri" pitchFamily="34" charset="-120"/>
              </a:rPr>
              <a:t>conversion effect</a:t>
            </a:r>
            <a:endParaRPr lang="en-US" sz="1100" dirty="0"/>
          </a:p>
        </p:txBody>
      </p:sp>
      <p:sp>
        <p:nvSpPr>
          <p:cNvPr id="10" name="Text 8"/>
          <p:cNvSpPr txBox="1"/>
          <p:nvPr/>
        </p:nvSpPr>
        <p:spPr>
          <a:xfrm>
            <a:off x="3383280" y="2880360"/>
            <a:ext cx="2286000" cy="640080"/>
          </a:xfrm>
          <a:prstGeom prst="rect">
            <a:avLst/>
          </a:prstGeom>
          <a:noFill/>
          <a:ln/>
        </p:spPr>
        <p:txBody>
          <a:bodyPr wrap="square" lIns="0" tIns="0" rIns="0" bIns="0" rtlCol="0" anchor="ctr"/>
          <a:lstStyle/>
          <a:p>
            <a:pPr indent="0" marL="0">
              <a:buNone/>
            </a:pPr>
            <a:r>
              <a:rPr lang="en-US" sz="3000" b="1" dirty="0">
                <a:solidFill>
                  <a:srgbClr val="B24A3C"/>
                </a:solidFill>
                <a:latin typeface="Cambria" pitchFamily="34" charset="0"/>
                <a:ea typeface="Cambria" pitchFamily="34" charset="-122"/>
                <a:cs typeface="Cambria" pitchFamily="34" charset="-120"/>
              </a:rPr>
              <a:t>−Rs 6,717</a:t>
            </a:r>
            <a:endParaRPr lang="en-US" sz="3000" dirty="0"/>
          </a:p>
        </p:txBody>
      </p:sp>
      <p:sp>
        <p:nvSpPr>
          <p:cNvPr id="11" name="Text 9"/>
          <p:cNvSpPr txBox="1"/>
          <p:nvPr/>
        </p:nvSpPr>
        <p:spPr>
          <a:xfrm>
            <a:off x="3383280" y="3502152"/>
            <a:ext cx="2286000" cy="274320"/>
          </a:xfrm>
          <a:prstGeom prst="rect">
            <a:avLst/>
          </a:prstGeom>
          <a:noFill/>
          <a:ln/>
        </p:spPr>
        <p:txBody>
          <a:bodyPr wrap="square" lIns="0" tIns="0" rIns="0" bIns="0" rtlCol="0" anchor="ctr"/>
          <a:lstStyle/>
          <a:p>
            <a:pPr indent="0" marL="0">
              <a:buNone/>
            </a:pPr>
            <a:r>
              <a:rPr lang="en-US" sz="1100" dirty="0">
                <a:solidFill>
                  <a:srgbClr val="5E6B68"/>
                </a:solidFill>
                <a:latin typeface="Calibri" pitchFamily="34" charset="0"/>
                <a:ea typeface="Calibri" pitchFamily="34" charset="-122"/>
                <a:cs typeface="Calibri" pitchFamily="34" charset="-120"/>
              </a:rPr>
              <a:t>value per file</a:t>
            </a:r>
            <a:endParaRPr lang="en-US" sz="1100" dirty="0"/>
          </a:p>
        </p:txBody>
      </p:sp>
      <p:sp>
        <p:nvSpPr>
          <p:cNvPr id="12" name="Text 10"/>
          <p:cNvSpPr txBox="1"/>
          <p:nvPr/>
        </p:nvSpPr>
        <p:spPr>
          <a:xfrm>
            <a:off x="914400" y="3886200"/>
            <a:ext cx="4754880" cy="320040"/>
          </a:xfrm>
          <a:prstGeom prst="rect">
            <a:avLst/>
          </a:prstGeom>
          <a:noFill/>
          <a:ln/>
        </p:spPr>
        <p:txBody>
          <a:bodyPr wrap="square" lIns="0" tIns="0" rIns="0" bIns="0" rtlCol="0" anchor="ctr"/>
          <a:lstStyle/>
          <a:p>
            <a:pPr indent="0" marL="0">
              <a:buNone/>
            </a:pPr>
            <a:r>
              <a:rPr lang="en-US" sz="1200" i="1" dirty="0">
                <a:solidFill>
                  <a:srgbClr val="17211F"/>
                </a:solidFill>
                <a:latin typeface="Cambria" pitchFamily="34" charset="0"/>
                <a:ea typeface="Cambria" pitchFamily="34" charset="-122"/>
                <a:cs typeface="Cambria" pitchFamily="34" charset="-120"/>
              </a:rPr>
              <a:t>Reads as: "stop overriding."</a:t>
            </a:r>
            <a:endParaRPr lang="en-US" sz="1200" dirty="0"/>
          </a:p>
        </p:txBody>
      </p:sp>
      <p:sp>
        <p:nvSpPr>
          <p:cNvPr id="13" name="Shape 11"/>
          <p:cNvSpPr/>
          <p:nvPr/>
        </p:nvSpPr>
        <p:spPr>
          <a:xfrm>
            <a:off x="6126480" y="1965960"/>
            <a:ext cx="5349240" cy="2331720"/>
          </a:xfrm>
          <a:prstGeom prst="roundRect">
            <a:avLst>
              <a:gd name="adj" fmla="val 2353"/>
            </a:avLst>
          </a:prstGeom>
          <a:solidFill>
            <a:srgbClr val="0C2D2A"/>
          </a:solidFill>
          <a:ln/>
          <a:effectLst>
            <a:outerShdw sx="100000" sy="100000" kx="0" ky="0" algn="bl" rotWithShape="0" blurRad="127000" dist="25400" dir="5400000">
              <a:srgbClr val="0C2D2A">
                <a:alpha val="10000"/>
              </a:srgbClr>
            </a:outerShdw>
          </a:effectLst>
        </p:spPr>
      </p:sp>
      <p:sp>
        <p:nvSpPr>
          <p:cNvPr id="14" name="Text 12"/>
          <p:cNvSpPr txBox="1"/>
          <p:nvPr/>
        </p:nvSpPr>
        <p:spPr>
          <a:xfrm>
            <a:off x="6446520" y="2148840"/>
            <a:ext cx="4754880" cy="320040"/>
          </a:xfrm>
          <a:prstGeom prst="rect">
            <a:avLst/>
          </a:prstGeom>
          <a:noFill/>
          <a:ln/>
        </p:spPr>
        <p:txBody>
          <a:bodyPr wrap="square" lIns="0" tIns="0" rIns="0" bIns="0" rtlCol="0" anchor="ctr"/>
          <a:lstStyle/>
          <a:p>
            <a:pPr indent="0" marL="0">
              <a:buNone/>
            </a:pPr>
            <a:r>
              <a:rPr lang="en-US" sz="1500" b="1" dirty="0">
                <a:solidFill>
                  <a:srgbClr val="E9A13B"/>
                </a:solidFill>
                <a:latin typeface="Calibri" pitchFamily="34" charset="0"/>
                <a:ea typeface="Calibri" pitchFamily="34" charset="-122"/>
                <a:cs typeface="Calibri" pitchFamily="34" charset="-120"/>
              </a:rPr>
              <a:t>Propensity-adjusted</a:t>
            </a:r>
            <a:endParaRPr lang="en-US" sz="1500" dirty="0"/>
          </a:p>
        </p:txBody>
      </p:sp>
      <p:sp>
        <p:nvSpPr>
          <p:cNvPr id="15" name="Text 13"/>
          <p:cNvSpPr txBox="1"/>
          <p:nvPr/>
        </p:nvSpPr>
        <p:spPr>
          <a:xfrm>
            <a:off x="6446520" y="2450592"/>
            <a:ext cx="4754880" cy="274320"/>
          </a:xfrm>
          <a:prstGeom prst="rect">
            <a:avLst/>
          </a:prstGeom>
          <a:noFill/>
          <a:ln/>
        </p:spPr>
        <p:txBody>
          <a:bodyPr wrap="square" lIns="0" tIns="0" rIns="0" bIns="0" rtlCol="0" anchor="ctr"/>
          <a:lstStyle/>
          <a:p>
            <a:pPr indent="0" marL="0">
              <a:buNone/>
            </a:pPr>
            <a:r>
              <a:rPr lang="en-US" sz="1000" dirty="0">
                <a:solidFill>
                  <a:srgbClr val="A7C0BA"/>
                </a:solidFill>
                <a:latin typeface="Calibri" pitchFamily="34" charset="0"/>
                <a:ea typeface="Calibri" pitchFamily="34" charset="-122"/>
                <a:cs typeface="Calibri" pitchFamily="34" charset="-120"/>
              </a:rPr>
              <a:t>compared within predicted-override-propensity strata</a:t>
            </a:r>
            <a:endParaRPr lang="en-US" sz="1000" dirty="0"/>
          </a:p>
        </p:txBody>
      </p:sp>
      <p:sp>
        <p:nvSpPr>
          <p:cNvPr id="16" name="Text 14"/>
          <p:cNvSpPr txBox="1"/>
          <p:nvPr/>
        </p:nvSpPr>
        <p:spPr>
          <a:xfrm>
            <a:off x="6446520" y="2880360"/>
            <a:ext cx="2286000" cy="640080"/>
          </a:xfrm>
          <a:prstGeom prst="rect">
            <a:avLst/>
          </a:prstGeom>
          <a:noFill/>
          <a:ln/>
        </p:spPr>
        <p:txBody>
          <a:bodyPr wrap="square" lIns="0" tIns="0" rIns="0" bIns="0" rtlCol="0" anchor="ctr"/>
          <a:lstStyle/>
          <a:p>
            <a:pPr indent="0" marL="0">
              <a:buNone/>
            </a:pPr>
            <a:r>
              <a:rPr lang="en-US" sz="3400" b="1" dirty="0">
                <a:solidFill>
                  <a:srgbClr val="E9A13B"/>
                </a:solidFill>
                <a:latin typeface="Cambria" pitchFamily="34" charset="0"/>
                <a:ea typeface="Cambria" pitchFamily="34" charset="-122"/>
                <a:cs typeface="Cambria" pitchFamily="34" charset="-120"/>
              </a:rPr>
              <a:t>+4.9 pts</a:t>
            </a:r>
            <a:endParaRPr lang="en-US" sz="3400" dirty="0"/>
          </a:p>
        </p:txBody>
      </p:sp>
      <p:sp>
        <p:nvSpPr>
          <p:cNvPr id="17" name="Text 15"/>
          <p:cNvSpPr txBox="1"/>
          <p:nvPr/>
        </p:nvSpPr>
        <p:spPr>
          <a:xfrm>
            <a:off x="6446520" y="3502152"/>
            <a:ext cx="2286000" cy="274320"/>
          </a:xfrm>
          <a:prstGeom prst="rect">
            <a:avLst/>
          </a:prstGeom>
          <a:noFill/>
          <a:ln/>
        </p:spPr>
        <p:txBody>
          <a:bodyPr wrap="square" lIns="0" tIns="0" rIns="0" bIns="0" rtlCol="0" anchor="ctr"/>
          <a:lstStyle/>
          <a:p>
            <a:pPr indent="0" marL="0">
              <a:buNone/>
            </a:pPr>
            <a:r>
              <a:rPr lang="en-US" sz="1100" dirty="0">
                <a:solidFill>
                  <a:srgbClr val="A7C0BA"/>
                </a:solidFill>
                <a:latin typeface="Calibri" pitchFamily="34" charset="0"/>
                <a:ea typeface="Calibri" pitchFamily="34" charset="-122"/>
                <a:cs typeface="Calibri" pitchFamily="34" charset="-120"/>
              </a:rPr>
              <a:t>conversion effect</a:t>
            </a:r>
            <a:endParaRPr lang="en-US" sz="1100" dirty="0"/>
          </a:p>
        </p:txBody>
      </p:sp>
      <p:sp>
        <p:nvSpPr>
          <p:cNvPr id="18" name="Text 16"/>
          <p:cNvSpPr txBox="1"/>
          <p:nvPr/>
        </p:nvSpPr>
        <p:spPr>
          <a:xfrm>
            <a:off x="8915400" y="2880360"/>
            <a:ext cx="2286000" cy="640080"/>
          </a:xfrm>
          <a:prstGeom prst="rect">
            <a:avLst/>
          </a:prstGeom>
          <a:noFill/>
          <a:ln/>
        </p:spPr>
        <p:txBody>
          <a:bodyPr wrap="square" lIns="0" tIns="0" rIns="0" bIns="0" rtlCol="0" anchor="ctr"/>
          <a:lstStyle/>
          <a:p>
            <a:pPr indent="0" marL="0">
              <a:buNone/>
            </a:pPr>
            <a:r>
              <a:rPr lang="en-US" sz="3000" b="1" dirty="0">
                <a:solidFill>
                  <a:srgbClr val="E9A13B"/>
                </a:solidFill>
                <a:latin typeface="Cambria" pitchFamily="34" charset="0"/>
                <a:ea typeface="Cambria" pitchFamily="34" charset="-122"/>
                <a:cs typeface="Cambria" pitchFamily="34" charset="-120"/>
              </a:rPr>
              <a:t>+Rs 840</a:t>
            </a:r>
            <a:endParaRPr lang="en-US" sz="3000" dirty="0"/>
          </a:p>
        </p:txBody>
      </p:sp>
      <p:sp>
        <p:nvSpPr>
          <p:cNvPr id="19" name="Text 17"/>
          <p:cNvSpPr txBox="1"/>
          <p:nvPr/>
        </p:nvSpPr>
        <p:spPr>
          <a:xfrm>
            <a:off x="8915400" y="3502152"/>
            <a:ext cx="2377440" cy="274320"/>
          </a:xfrm>
          <a:prstGeom prst="rect">
            <a:avLst/>
          </a:prstGeom>
          <a:noFill/>
          <a:ln/>
        </p:spPr>
        <p:txBody>
          <a:bodyPr wrap="square" lIns="0" tIns="0" rIns="0" bIns="0" rtlCol="0" anchor="ctr"/>
          <a:lstStyle/>
          <a:p>
            <a:pPr indent="0" marL="0">
              <a:buNone/>
            </a:pPr>
            <a:r>
              <a:rPr lang="en-US" sz="1100" dirty="0">
                <a:solidFill>
                  <a:srgbClr val="A7C0BA"/>
                </a:solidFill>
                <a:latin typeface="Calibri" pitchFamily="34" charset="0"/>
                <a:ea typeface="Calibri" pitchFamily="34" charset="-122"/>
                <a:cs typeface="Calibri" pitchFamily="34" charset="-120"/>
              </a:rPr>
              <a:t>± 1,587 — no measurable effect</a:t>
            </a:r>
            <a:endParaRPr lang="en-US" sz="1100" dirty="0"/>
          </a:p>
        </p:txBody>
      </p:sp>
      <p:sp>
        <p:nvSpPr>
          <p:cNvPr id="20" name="Text 18"/>
          <p:cNvSpPr txBox="1"/>
          <p:nvPr/>
        </p:nvSpPr>
        <p:spPr>
          <a:xfrm>
            <a:off x="6446520" y="3886200"/>
            <a:ext cx="4754880" cy="320040"/>
          </a:xfrm>
          <a:prstGeom prst="rect">
            <a:avLst/>
          </a:prstGeom>
          <a:noFill/>
          <a:ln/>
        </p:spPr>
        <p:txBody>
          <a:bodyPr wrap="square" lIns="0" tIns="0" rIns="0" bIns="0" rtlCol="0" anchor="ctr"/>
          <a:lstStyle/>
          <a:p>
            <a:pPr indent="0" marL="0">
              <a:buNone/>
            </a:pPr>
            <a:r>
              <a:rPr lang="en-US" sz="1200" i="1" dirty="0">
                <a:solidFill>
                  <a:srgbClr val="FFFFFF"/>
                </a:solidFill>
                <a:latin typeface="Cambria" pitchFamily="34" charset="0"/>
                <a:ea typeface="Cambria" pitchFamily="34" charset="-122"/>
                <a:cs typeface="Cambria" pitchFamily="34" charset="-120"/>
              </a:rPr>
              <a:t>Reads as: the damage was mostly selection.</a:t>
            </a:r>
            <a:endParaRPr lang="en-US" sz="1200" dirty="0"/>
          </a:p>
        </p:txBody>
      </p:sp>
      <p:sp>
        <p:nvSpPr>
          <p:cNvPr id="21" name="Shape 19"/>
          <p:cNvSpPr/>
          <p:nvPr/>
        </p:nvSpPr>
        <p:spPr>
          <a:xfrm>
            <a:off x="594360" y="4526280"/>
            <a:ext cx="10881360" cy="777240"/>
          </a:xfrm>
          <a:prstGeom prst="roundRect">
            <a:avLst>
              <a:gd name="adj" fmla="val 7059"/>
            </a:avLst>
          </a:prstGeom>
          <a:solidFill>
            <a:srgbClr val="E4EAE8"/>
          </a:solidFill>
          <a:ln/>
          <a:effectLst>
            <a:outerShdw sx="100000" sy="100000" kx="0" ky="0" algn="bl" rotWithShape="0" blurRad="127000" dist="25400" dir="5400000">
              <a:srgbClr val="0C2D2A">
                <a:alpha val="10000"/>
              </a:srgbClr>
            </a:outerShdw>
          </a:effectLst>
        </p:spPr>
      </p:sp>
      <p:sp>
        <p:nvSpPr>
          <p:cNvPr id="22" name="Text 20"/>
          <p:cNvSpPr txBox="1"/>
          <p:nvPr/>
        </p:nvSpPr>
        <p:spPr>
          <a:xfrm>
            <a:off x="914400" y="4526280"/>
            <a:ext cx="10241280" cy="777240"/>
          </a:xfrm>
          <a:prstGeom prst="rect">
            <a:avLst/>
          </a:prstGeom>
          <a:noFill/>
          <a:ln/>
        </p:spPr>
        <p:txBody>
          <a:bodyPr wrap="square" lIns="0" tIns="0" rIns="0" bIns="0" rtlCol="0" anchor="ctr"/>
          <a:lstStyle/>
          <a:p>
            <a:pPr indent="0" marL="0">
              <a:buNone/>
            </a:pPr>
            <a:r>
              <a:rPr lang="en-US" sz="1500" b="1" dirty="0">
                <a:solidFill>
                  <a:srgbClr val="B24A3C"/>
                </a:solidFill>
                <a:latin typeface="Calibri" pitchFamily="34" charset="0"/>
                <a:ea typeface="Calibri" pitchFamily="34" charset="-122"/>
                <a:cs typeface="Calibri" pitchFamily="34" charset="-120"/>
              </a:rPr>
              <a:t>Rs 7,600 per file</a:t>
            </a:r>
            <a:pPr indent="0" marL="0">
              <a:buNone/>
            </a:pPr>
            <a:r>
              <a:rPr lang="en-US" sz="1200" dirty="0">
                <a:solidFill>
                  <a:srgbClr val="17211F"/>
                </a:solidFill>
                <a:latin typeface="Calibri" pitchFamily="34" charset="0"/>
                <a:ea typeface="Calibri" pitchFamily="34" charset="-122"/>
                <a:cs typeface="Calibri" pitchFamily="34" charset="-120"/>
              </a:rPr>
              <a:t>  of the apparent damage is the confound, not the decision. Both readings are always reported side by side, so the difference is visible rather than asserted.</a:t>
            </a:r>
            <a:endParaRPr lang="en-US" sz="1200" dirty="0"/>
          </a:p>
        </p:txBody>
      </p:sp>
      <p:sp>
        <p:nvSpPr>
          <p:cNvPr id="23" name="Text 21"/>
          <p:cNvSpPr txBox="1"/>
          <p:nvPr/>
        </p:nvSpPr>
        <p:spPr>
          <a:xfrm>
            <a:off x="594360" y="5468112"/>
            <a:ext cx="10881360" cy="777240"/>
          </a:xfrm>
          <a:prstGeom prst="rect">
            <a:avLst/>
          </a:prstGeom>
          <a:noFill/>
          <a:ln/>
        </p:spPr>
        <p:txBody>
          <a:bodyPr wrap="square" rtlCol="0" anchor="t"/>
          <a:lstStyle/>
          <a:p>
            <a:pPr marL="342900" indent="-342900">
              <a:lnSpc>
                <a:spcPct val="105000"/>
              </a:lnSpc>
              <a:spcAft>
                <a:spcPts val="400"/>
              </a:spcAft>
              <a:buSzPct val="100000"/>
              <a:buChar char="•"/>
            </a:pPr>
            <a:r>
              <a:rPr lang="en-US" sz="1150" dirty="0">
                <a:solidFill>
                  <a:srgbClr val="5E6B68"/>
                </a:solidFill>
                <a:latin typeface="Calibri" pitchFamily="34" charset="0"/>
                <a:ea typeface="Calibri" pitchFamily="34" charset="-122"/>
                <a:cs typeface="Calibri" pitchFamily="34" charset="-120"/>
              </a:rPr>
              <a:t>This is stratification, not a randomised test. Verdicts carry a standard error and a sample-size floor; thin slices return insufficient evidence.</a:t>
            </a:r>
            <a:endParaRPr lang="en-US" sz="1150" dirty="0"/>
          </a:p>
          <a:p>
            <a:pPr marL="342900" indent="-342900">
              <a:lnSpc>
                <a:spcPct val="105000"/>
              </a:lnSpc>
              <a:spcAft>
                <a:spcPts val="400"/>
              </a:spcAft>
              <a:buSzPct val="100000"/>
              <a:buChar char="•"/>
            </a:pPr>
            <a:r>
              <a:rPr lang="en-US" sz="1150" dirty="0">
                <a:solidFill>
                  <a:srgbClr val="5E6B68"/>
                </a:solidFill>
                <a:latin typeface="Calibri" pitchFamily="34" charset="0"/>
                <a:ea typeface="Calibri" pitchFamily="34" charset="-122"/>
                <a:cs typeface="Calibri" pitchFamily="34" charset="-120"/>
              </a:rPr>
              <a:t>The output is a proposal to the pricing committee, capped at ±15 bps — never an automatic change to anyone's rate.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ASSURANCE</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Explainability in two independent layers</a:t>
            </a:r>
            <a:endParaRPr lang="en-US" sz="3200" dirty="0"/>
          </a:p>
        </p:txBody>
      </p:sp>
      <p:sp>
        <p:nvSpPr>
          <p:cNvPr id="4" name="Shape 2"/>
          <p:cNvSpPr/>
          <p:nvPr/>
        </p:nvSpPr>
        <p:spPr>
          <a:xfrm>
            <a:off x="594360" y="1463040"/>
            <a:ext cx="5349240" cy="3017520"/>
          </a:xfrm>
          <a:prstGeom prst="roundRect">
            <a:avLst>
              <a:gd name="adj" fmla="val 1818"/>
            </a:avLst>
          </a:prstGeom>
          <a:solidFill>
            <a:srgbClr val="F1F4F3"/>
          </a:solidFill>
          <a:ln/>
          <a:effectLst>
            <a:outerShdw sx="100000" sy="100000" kx="0" ky="0" algn="bl" rotWithShape="0" blurRad="127000" dist="25400" dir="5400000">
              <a:srgbClr val="0C2D2A">
                <a:alpha val="10000"/>
              </a:srgbClr>
            </a:outerShdw>
          </a:effectLst>
        </p:spPr>
      </p:sp>
      <p:sp>
        <p:nvSpPr>
          <p:cNvPr id="5" name="Shape 3"/>
          <p:cNvSpPr/>
          <p:nvPr/>
        </p:nvSpPr>
        <p:spPr>
          <a:xfrm>
            <a:off x="914400" y="1645920"/>
            <a:ext cx="384048" cy="384048"/>
          </a:xfrm>
          <a:prstGeom prst="ellipse">
            <a:avLst/>
          </a:prstGeom>
          <a:solidFill>
            <a:srgbClr val="E9A13B"/>
          </a:solidFill>
          <a:ln/>
        </p:spPr>
      </p:sp>
      <p:sp>
        <p:nvSpPr>
          <p:cNvPr id="6" name="Text 4"/>
          <p:cNvSpPr txBox="1"/>
          <p:nvPr/>
        </p:nvSpPr>
        <p:spPr>
          <a:xfrm>
            <a:off x="914400" y="1645920"/>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417320" y="1645920"/>
            <a:ext cx="4343400" cy="384048"/>
          </a:xfrm>
          <a:prstGeom prst="rect">
            <a:avLst/>
          </a:prstGeom>
          <a:noFill/>
          <a:ln/>
        </p:spPr>
        <p:txBody>
          <a:bodyPr wrap="square" lIns="0" tIns="0" rIns="0" bIns="0" rtlCol="0" anchor="ctr"/>
          <a:lstStyle/>
          <a:p>
            <a:pPr indent="0" marL="0">
              <a:buNone/>
            </a:pPr>
            <a:r>
              <a:rPr lang="en-US" sz="1350" b="1" dirty="0">
                <a:solidFill>
                  <a:srgbClr val="17211F"/>
                </a:solidFill>
                <a:latin typeface="Calibri" pitchFamily="34" charset="0"/>
                <a:ea typeface="Calibri" pitchFamily="34" charset="-122"/>
                <a:cs typeface="Calibri" pitchFamily="34" charset="-120"/>
              </a:rPr>
              <a:t>Decision-level — why this price for this file?</a:t>
            </a:r>
            <a:endParaRPr lang="en-US" sz="1350" dirty="0"/>
          </a:p>
        </p:txBody>
      </p:sp>
      <p:sp>
        <p:nvSpPr>
          <p:cNvPr id="8" name="Text 6"/>
          <p:cNvSpPr txBox="1"/>
          <p:nvPr/>
        </p:nvSpPr>
        <p:spPr>
          <a:xfrm>
            <a:off x="914400" y="2103120"/>
            <a:ext cx="4754880" cy="256032"/>
          </a:xfrm>
          <a:prstGeom prst="rect">
            <a:avLst/>
          </a:prstGeom>
          <a:noFill/>
          <a:ln/>
        </p:spPr>
        <p:txBody>
          <a:bodyPr wrap="square" lIns="0" tIns="0" rIns="0" bIns="0" rtlCol="0" anchor="ctr"/>
          <a:lstStyle/>
          <a:p>
            <a:pPr indent="0" marL="0">
              <a:buNone/>
            </a:pPr>
            <a:r>
              <a:rPr lang="en-US" sz="1000" dirty="0">
                <a:solidFill>
                  <a:srgbClr val="5B7F79"/>
                </a:solidFill>
                <a:latin typeface="Calibri" pitchFamily="34" charset="0"/>
                <a:ea typeface="Calibri" pitchFamily="34" charset="-122"/>
                <a:cs typeface="Calibri" pitchFamily="34" charset="-120"/>
              </a:rPr>
              <a:t>In-request, inside the explanation agent</a:t>
            </a:r>
            <a:endParaRPr lang="en-US" sz="1000" dirty="0"/>
          </a:p>
        </p:txBody>
      </p:sp>
      <p:sp>
        <p:nvSpPr>
          <p:cNvPr id="9" name="Shape 7"/>
          <p:cNvSpPr/>
          <p:nvPr/>
        </p:nvSpPr>
        <p:spPr>
          <a:xfrm>
            <a:off x="914400" y="2395728"/>
            <a:ext cx="4754880" cy="1188720"/>
          </a:xfrm>
          <a:prstGeom prst="roundRect">
            <a:avLst>
              <a:gd name="adj" fmla="val 3846"/>
            </a:avLst>
          </a:prstGeom>
          <a:solidFill>
            <a:srgbClr val="FFFFFF"/>
          </a:solidFill>
          <a:ln/>
        </p:spPr>
      </p:sp>
      <p:sp>
        <p:nvSpPr>
          <p:cNvPr id="10" name="Text 8"/>
          <p:cNvSpPr txBox="1"/>
          <p:nvPr/>
        </p:nvSpPr>
        <p:spPr>
          <a:xfrm>
            <a:off x="1051560" y="2395728"/>
            <a:ext cx="4526280" cy="1188720"/>
          </a:xfrm>
          <a:prstGeom prst="rect">
            <a:avLst/>
          </a:prstGeom>
          <a:noFill/>
          <a:ln/>
        </p:spPr>
        <p:txBody>
          <a:bodyPr wrap="square" lIns="0" tIns="0" rIns="0" bIns="0" rtlCol="0" anchor="ctr"/>
          <a:lstStyle/>
          <a:p>
            <a:pPr indent="0" marL="0">
              <a:lnSpc>
                <a:spcPct val="120000"/>
              </a:lnSpc>
              <a:buNone/>
            </a:pPr>
            <a:r>
              <a:rPr lang="en-US" sz="900" dirty="0">
                <a:solidFill>
                  <a:srgbClr val="17211F"/>
                </a:solidFill>
                <a:latin typeface="Courier New" pitchFamily="34" charset="0"/>
                <a:ea typeface="Courier New" pitchFamily="34" charset="-122"/>
                <a:cs typeface="Courier New" pitchFamily="34" charset="-120"/>
              </a:rPr>
              <a:t>Weaker risk grade            +68 bps</a:t>
            </a:r>
            <a:endParaRPr lang="en-US" sz="900" dirty="0"/>
          </a:p>
          <a:p>
            <a:pPr indent="0" marL="0">
              <a:lnSpc>
                <a:spcPct val="120000"/>
              </a:lnSpc>
              <a:buNone/>
            </a:pPr>
            <a:r>
              <a:rPr lang="en-US" sz="900" dirty="0">
                <a:solidFill>
                  <a:srgbClr val="17211F"/>
                </a:solidFill>
                <a:latin typeface="Courier New" pitchFamily="34" charset="0"/>
                <a:ea typeface="Courier New" pitchFamily="34" charset="-122"/>
                <a:cs typeface="Courier New" pitchFamily="34" charset="-120"/>
              </a:rPr>
              <a:t>Competitive pressure         −41 bps</a:t>
            </a:r>
            <a:endParaRPr lang="en-US" sz="900" dirty="0"/>
          </a:p>
          <a:p>
            <a:pPr indent="0" marL="0">
              <a:lnSpc>
                <a:spcPct val="120000"/>
              </a:lnSpc>
              <a:buNone/>
            </a:pPr>
            <a:r>
              <a:rPr lang="en-US" sz="900" dirty="0">
                <a:solidFill>
                  <a:srgbClr val="17211F"/>
                </a:solidFill>
                <a:latin typeface="Courier New" pitchFamily="34" charset="0"/>
                <a:ea typeface="Courier New" pitchFamily="34" charset="-122"/>
                <a:cs typeface="Courier New" pitchFamily="34" charset="-120"/>
              </a:rPr>
              <a:t>No credit deviations         −40 bps</a:t>
            </a:r>
            <a:endParaRPr lang="en-US" sz="900" dirty="0"/>
          </a:p>
          <a:p>
            <a:pPr indent="0" marL="0">
              <a:lnSpc>
                <a:spcPct val="120000"/>
              </a:lnSpc>
              <a:buNone/>
            </a:pPr>
            <a:r>
              <a:rPr lang="en-US" sz="900" dirty="0">
                <a:solidFill>
                  <a:srgbClr val="17211F"/>
                </a:solidFill>
                <a:latin typeface="Courier New" pitchFamily="34" charset="0"/>
                <a:ea typeface="Courier New" pitchFamily="34" charset="-122"/>
                <a:cs typeface="Courier New" pitchFamily="34" charset="-120"/>
              </a:rPr>
              <a:t>Weaker bureau profile         +8 bps</a:t>
            </a:r>
            <a:endParaRPr lang="en-US" sz="900" dirty="0"/>
          </a:p>
          <a:p>
            <a:pPr indent="0" marL="0">
              <a:lnSpc>
                <a:spcPct val="120000"/>
              </a:lnSpc>
              <a:buNone/>
            </a:pPr>
            <a:r>
              <a:rPr lang="en-US" sz="900" b="1" dirty="0">
                <a:solidFill>
                  <a:srgbClr val="B24A3C"/>
                </a:solidFill>
                <a:latin typeface="Courier New" pitchFamily="34" charset="0"/>
                <a:ea typeface="Courier New" pitchFamily="34" charset="-122"/>
                <a:cs typeface="Courier New" pitchFamily="34" charset="-120"/>
              </a:rPr>
              <a:t>commercial pressure = 24% of the move</a:t>
            </a:r>
            <a:endParaRPr lang="en-US" sz="900" dirty="0"/>
          </a:p>
        </p:txBody>
      </p:sp>
      <p:sp>
        <p:nvSpPr>
          <p:cNvPr id="11" name="Text 9"/>
          <p:cNvSpPr txBox="1"/>
          <p:nvPr/>
        </p:nvSpPr>
        <p:spPr>
          <a:xfrm>
            <a:off x="914400" y="3675888"/>
            <a:ext cx="4754880" cy="685800"/>
          </a:xfrm>
          <a:prstGeom prst="rect">
            <a:avLst/>
          </a:prstGeom>
          <a:noFill/>
          <a:ln/>
        </p:spPr>
        <p:txBody>
          <a:bodyPr wrap="square" lIns="0" tIns="0" rIns="0" bIns="0" rtlCol="0" anchor="t"/>
          <a:lstStyle/>
          <a:p>
            <a:pPr indent="0" marL="0">
              <a:lnSpc>
                <a:spcPct val="105000"/>
              </a:lnSpc>
              <a:buNone/>
            </a:pPr>
            <a:r>
              <a:rPr lang="en-US" sz="1000" dirty="0">
                <a:solidFill>
                  <a:srgbClr val="5E6B68"/>
                </a:solidFill>
                <a:latin typeface="Calibri" pitchFamily="34" charset="0"/>
                <a:ea typeface="Calibri" pitchFamily="34" charset="-122"/>
                <a:cs typeface="Calibri" pitchFamily="34" charset="-120"/>
              </a:rPr>
              <a:t>SHAP when it is installed and working; otherwise an ablation explainer whose attributions are rescaled to sum to the distance from the baseline — so reason codes always reconcile with the number on screen.</a:t>
            </a:r>
            <a:endParaRPr lang="en-US" sz="1000" dirty="0"/>
          </a:p>
        </p:txBody>
      </p:sp>
      <p:sp>
        <p:nvSpPr>
          <p:cNvPr id="12" name="Shape 10"/>
          <p:cNvSpPr/>
          <p:nvPr/>
        </p:nvSpPr>
        <p:spPr>
          <a:xfrm>
            <a:off x="6126480" y="1463040"/>
            <a:ext cx="5349240" cy="3017520"/>
          </a:xfrm>
          <a:prstGeom prst="roundRect">
            <a:avLst>
              <a:gd name="adj" fmla="val 1818"/>
            </a:avLst>
          </a:prstGeom>
          <a:solidFill>
            <a:srgbClr val="0C2D2A"/>
          </a:solidFill>
          <a:ln/>
          <a:effectLst>
            <a:outerShdw sx="100000" sy="100000" kx="0" ky="0" algn="bl" rotWithShape="0" blurRad="127000" dist="25400" dir="5400000">
              <a:srgbClr val="0C2D2A">
                <a:alpha val="10000"/>
              </a:srgbClr>
            </a:outerShdw>
          </a:effectLst>
        </p:spPr>
      </p:sp>
      <p:sp>
        <p:nvSpPr>
          <p:cNvPr id="13" name="Shape 11"/>
          <p:cNvSpPr/>
          <p:nvPr/>
        </p:nvSpPr>
        <p:spPr>
          <a:xfrm>
            <a:off x="6446520" y="1645920"/>
            <a:ext cx="384048" cy="384048"/>
          </a:xfrm>
          <a:prstGeom prst="ellipse">
            <a:avLst/>
          </a:prstGeom>
          <a:solidFill>
            <a:srgbClr val="E9A13B"/>
          </a:solidFill>
          <a:ln/>
        </p:spPr>
      </p:sp>
      <p:sp>
        <p:nvSpPr>
          <p:cNvPr id="14" name="Text 12"/>
          <p:cNvSpPr txBox="1"/>
          <p:nvPr/>
        </p:nvSpPr>
        <p:spPr>
          <a:xfrm>
            <a:off x="6446520" y="1645920"/>
            <a:ext cx="384048" cy="384048"/>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B</a:t>
            </a:r>
            <a:endParaRPr lang="en-US" sz="1200" dirty="0"/>
          </a:p>
        </p:txBody>
      </p:sp>
      <p:sp>
        <p:nvSpPr>
          <p:cNvPr id="15" name="Text 13"/>
          <p:cNvSpPr txBox="1"/>
          <p:nvPr/>
        </p:nvSpPr>
        <p:spPr>
          <a:xfrm>
            <a:off x="6949440" y="1645920"/>
            <a:ext cx="43434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Model-level — does a second method agree?</a:t>
            </a:r>
            <a:endParaRPr lang="en-US" sz="1350" dirty="0"/>
          </a:p>
        </p:txBody>
      </p:sp>
      <p:sp>
        <p:nvSpPr>
          <p:cNvPr id="16" name="Text 14"/>
          <p:cNvSpPr txBox="1"/>
          <p:nvPr/>
        </p:nvSpPr>
        <p:spPr>
          <a:xfrm>
            <a:off x="6446520" y="2103120"/>
            <a:ext cx="4754880" cy="256032"/>
          </a:xfrm>
          <a:prstGeom prst="rect">
            <a:avLst/>
          </a:prstGeom>
          <a:noFill/>
          <a:ln/>
        </p:spPr>
        <p:txBody>
          <a:bodyPr wrap="square" lIns="0" tIns="0" rIns="0" bIns="0" rtlCol="0" anchor="ctr"/>
          <a:lstStyle/>
          <a:p>
            <a:pPr indent="0" marL="0">
              <a:buNone/>
            </a:pPr>
            <a:r>
              <a:rPr lang="en-US" sz="1000" dirty="0">
                <a:solidFill>
                  <a:srgbClr val="E9A13B"/>
                </a:solidFill>
                <a:latin typeface="Calibri" pitchFamily="34" charset="0"/>
                <a:ea typeface="Calibri" pitchFamily="34" charset="-122"/>
                <a:cs typeface="Calibri" pitchFamily="34" charset="-120"/>
              </a:rPr>
              <a:t>Offline OmniXAI pass — one brief and one dashboard per model</a:t>
            </a:r>
            <a:endParaRPr lang="en-US" sz="1000" dirty="0"/>
          </a:p>
        </p:txBody>
      </p:sp>
      <p:sp>
        <p:nvSpPr>
          <p:cNvPr id="17" name="Text 15"/>
          <p:cNvSpPr txBox="1"/>
          <p:nvPr/>
        </p:nvSpPr>
        <p:spPr>
          <a:xfrm>
            <a:off x="6446520" y="2450592"/>
            <a:ext cx="4754880" cy="274320"/>
          </a:xfrm>
          <a:prstGeom prst="rect">
            <a:avLst/>
          </a:prstGeom>
          <a:noFill/>
          <a:ln/>
        </p:spPr>
        <p:txBody>
          <a:bodyPr wrap="square" lIns="0" tIns="0" rIns="0" bIns="0" rtlCol="0" anchor="ctr"/>
          <a:lstStyle/>
          <a:p>
            <a:pPr indent="0" marL="0">
              <a:buNone/>
            </a:pPr>
            <a:r>
              <a:rPr lang="en-US" sz="1000" dirty="0">
                <a:solidFill>
                  <a:srgbClr val="A7C0BA"/>
                </a:solidFill>
                <a:latin typeface="Calibri" pitchFamily="34" charset="0"/>
                <a:ea typeface="Calibri" pitchFamily="34" charset="-122"/>
                <a:cs typeface="Calibri" pitchFamily="34" charset="-120"/>
              </a:rPr>
              <a:t>Spearman rank agreement, KernelSHAP vs permutation importance</a:t>
            </a:r>
            <a:endParaRPr lang="en-US" sz="1000" dirty="0"/>
          </a:p>
        </p:txBody>
      </p:sp>
      <p:sp>
        <p:nvSpPr>
          <p:cNvPr id="18" name="Text 16"/>
          <p:cNvSpPr txBox="1"/>
          <p:nvPr/>
        </p:nvSpPr>
        <p:spPr>
          <a:xfrm>
            <a:off x="6446520" y="2761488"/>
            <a:ext cx="1371600" cy="31089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stage2</a:t>
            </a:r>
            <a:endParaRPr lang="en-US" sz="1050" dirty="0"/>
          </a:p>
        </p:txBody>
      </p:sp>
      <p:sp>
        <p:nvSpPr>
          <p:cNvPr id="19" name="Text 17"/>
          <p:cNvSpPr txBox="1"/>
          <p:nvPr/>
        </p:nvSpPr>
        <p:spPr>
          <a:xfrm>
            <a:off x="7818120" y="2761488"/>
            <a:ext cx="777240" cy="310896"/>
          </a:xfrm>
          <a:prstGeom prst="rect">
            <a:avLst/>
          </a:prstGeom>
          <a:noFill/>
          <a:ln/>
        </p:spPr>
        <p:txBody>
          <a:bodyPr wrap="square" lIns="0" tIns="0" rIns="0" bIns="0" rtlCol="0" anchor="ctr"/>
          <a:lstStyle/>
          <a:p>
            <a:pPr algn="r" indent="0" marL="0">
              <a:buNone/>
            </a:pPr>
            <a:r>
              <a:rPr lang="en-US" sz="1250" b="1" dirty="0">
                <a:solidFill>
                  <a:srgbClr val="E9A13B"/>
                </a:solidFill>
                <a:latin typeface="Courier New" pitchFamily="34" charset="0"/>
                <a:ea typeface="Courier New" pitchFamily="34" charset="-122"/>
                <a:cs typeface="Courier New" pitchFamily="34" charset="-120"/>
              </a:rPr>
              <a:t>0.96</a:t>
            </a:r>
            <a:endParaRPr lang="en-US" sz="1250" dirty="0"/>
          </a:p>
        </p:txBody>
      </p:sp>
      <p:sp>
        <p:nvSpPr>
          <p:cNvPr id="20" name="Text 18"/>
          <p:cNvSpPr txBox="1"/>
          <p:nvPr/>
        </p:nvSpPr>
        <p:spPr>
          <a:xfrm>
            <a:off x="8778240" y="2761488"/>
            <a:ext cx="2514600" cy="310896"/>
          </a:xfrm>
          <a:prstGeom prst="rect">
            <a:avLst/>
          </a:prstGeom>
          <a:noFill/>
          <a:ln/>
        </p:spPr>
        <p:txBody>
          <a:bodyPr wrap="square" lIns="0" tIns="0" rIns="0" bIns="0" rtlCol="0" anchor="ctr"/>
          <a:lstStyle/>
          <a:p>
            <a:pPr indent="0" marL="0">
              <a:buNone/>
            </a:pPr>
            <a:r>
              <a:rPr lang="en-US" sz="1050" dirty="0">
                <a:solidFill>
                  <a:srgbClr val="A7C0BA"/>
                </a:solidFill>
                <a:latin typeface="Calibri" pitchFamily="34" charset="0"/>
                <a:ea typeface="Calibri" pitchFamily="34" charset="-122"/>
                <a:cs typeface="Calibri" pitchFamily="34" charset="-120"/>
              </a:rPr>
              <a:t>read the ranking</a:t>
            </a:r>
            <a:endParaRPr lang="en-US" sz="1050" dirty="0"/>
          </a:p>
        </p:txBody>
      </p:sp>
      <p:sp>
        <p:nvSpPr>
          <p:cNvPr id="21" name="Text 19"/>
          <p:cNvSpPr txBox="1"/>
          <p:nvPr/>
        </p:nvSpPr>
        <p:spPr>
          <a:xfrm>
            <a:off x="6446520" y="3108960"/>
            <a:ext cx="1371600" cy="31089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override</a:t>
            </a:r>
            <a:endParaRPr lang="en-US" sz="1050" dirty="0"/>
          </a:p>
        </p:txBody>
      </p:sp>
      <p:sp>
        <p:nvSpPr>
          <p:cNvPr id="22" name="Text 20"/>
          <p:cNvSpPr txBox="1"/>
          <p:nvPr/>
        </p:nvSpPr>
        <p:spPr>
          <a:xfrm>
            <a:off x="7818120" y="3108960"/>
            <a:ext cx="777240" cy="310896"/>
          </a:xfrm>
          <a:prstGeom prst="rect">
            <a:avLst/>
          </a:prstGeom>
          <a:noFill/>
          <a:ln/>
        </p:spPr>
        <p:txBody>
          <a:bodyPr wrap="square" lIns="0" tIns="0" rIns="0" bIns="0" rtlCol="0" anchor="ctr"/>
          <a:lstStyle/>
          <a:p>
            <a:pPr algn="r" indent="0" marL="0">
              <a:buNone/>
            </a:pPr>
            <a:r>
              <a:rPr lang="en-US" sz="1250" b="1" dirty="0">
                <a:solidFill>
                  <a:srgbClr val="E9A13B"/>
                </a:solidFill>
                <a:latin typeface="Courier New" pitchFamily="34" charset="0"/>
                <a:ea typeface="Courier New" pitchFamily="34" charset="-122"/>
                <a:cs typeface="Courier New" pitchFamily="34" charset="-120"/>
              </a:rPr>
              <a:t>0.91</a:t>
            </a:r>
            <a:endParaRPr lang="en-US" sz="1250" dirty="0"/>
          </a:p>
        </p:txBody>
      </p:sp>
      <p:sp>
        <p:nvSpPr>
          <p:cNvPr id="23" name="Text 21"/>
          <p:cNvSpPr txBox="1"/>
          <p:nvPr/>
        </p:nvSpPr>
        <p:spPr>
          <a:xfrm>
            <a:off x="8778240" y="3108960"/>
            <a:ext cx="2514600" cy="310896"/>
          </a:xfrm>
          <a:prstGeom prst="rect">
            <a:avLst/>
          </a:prstGeom>
          <a:noFill/>
          <a:ln/>
        </p:spPr>
        <p:txBody>
          <a:bodyPr wrap="square" lIns="0" tIns="0" rIns="0" bIns="0" rtlCol="0" anchor="ctr"/>
          <a:lstStyle/>
          <a:p>
            <a:pPr indent="0" marL="0">
              <a:buNone/>
            </a:pPr>
            <a:r>
              <a:rPr lang="en-US" sz="1050" dirty="0">
                <a:solidFill>
                  <a:srgbClr val="A7C0BA"/>
                </a:solidFill>
                <a:latin typeface="Calibri" pitchFamily="34" charset="0"/>
                <a:ea typeface="Calibri" pitchFamily="34" charset="-122"/>
                <a:cs typeface="Calibri" pitchFamily="34" charset="-120"/>
              </a:rPr>
              <a:t>read the ranking</a:t>
            </a:r>
            <a:endParaRPr lang="en-US" sz="1050" dirty="0"/>
          </a:p>
        </p:txBody>
      </p:sp>
      <p:sp>
        <p:nvSpPr>
          <p:cNvPr id="24" name="Text 22"/>
          <p:cNvSpPr txBox="1"/>
          <p:nvPr/>
        </p:nvSpPr>
        <p:spPr>
          <a:xfrm>
            <a:off x="6446520" y="3456432"/>
            <a:ext cx="1371600" cy="31089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conversion</a:t>
            </a:r>
            <a:endParaRPr lang="en-US" sz="1050" dirty="0"/>
          </a:p>
        </p:txBody>
      </p:sp>
      <p:sp>
        <p:nvSpPr>
          <p:cNvPr id="25" name="Text 23"/>
          <p:cNvSpPr txBox="1"/>
          <p:nvPr/>
        </p:nvSpPr>
        <p:spPr>
          <a:xfrm>
            <a:off x="7818120" y="3456432"/>
            <a:ext cx="777240" cy="310896"/>
          </a:xfrm>
          <a:prstGeom prst="rect">
            <a:avLst/>
          </a:prstGeom>
          <a:noFill/>
          <a:ln/>
        </p:spPr>
        <p:txBody>
          <a:bodyPr wrap="square" lIns="0" tIns="0" rIns="0" bIns="0" rtlCol="0" anchor="ctr"/>
          <a:lstStyle/>
          <a:p>
            <a:pPr algn="r" indent="0" marL="0">
              <a:buNone/>
            </a:pPr>
            <a:r>
              <a:rPr lang="en-US" sz="1250" b="1" dirty="0">
                <a:solidFill>
                  <a:srgbClr val="A7C0BA"/>
                </a:solidFill>
                <a:latin typeface="Courier New" pitchFamily="34" charset="0"/>
                <a:ea typeface="Courier New" pitchFamily="34" charset="-122"/>
                <a:cs typeface="Courier New" pitchFamily="34" charset="-120"/>
              </a:rPr>
              <a:t>0.71</a:t>
            </a:r>
            <a:endParaRPr lang="en-US" sz="1250" dirty="0"/>
          </a:p>
        </p:txBody>
      </p:sp>
      <p:sp>
        <p:nvSpPr>
          <p:cNvPr id="26" name="Text 24"/>
          <p:cNvSpPr txBox="1"/>
          <p:nvPr/>
        </p:nvSpPr>
        <p:spPr>
          <a:xfrm>
            <a:off x="8778240" y="3456432"/>
            <a:ext cx="2514600" cy="310896"/>
          </a:xfrm>
          <a:prstGeom prst="rect">
            <a:avLst/>
          </a:prstGeom>
          <a:noFill/>
          <a:ln/>
        </p:spPr>
        <p:txBody>
          <a:bodyPr wrap="square" lIns="0" tIns="0" rIns="0" bIns="0" rtlCol="0" anchor="ctr"/>
          <a:lstStyle/>
          <a:p>
            <a:pPr indent="0" marL="0">
              <a:buNone/>
            </a:pPr>
            <a:r>
              <a:rPr lang="en-US" sz="1050" dirty="0">
                <a:solidFill>
                  <a:srgbClr val="A7C0BA"/>
                </a:solidFill>
                <a:latin typeface="Calibri" pitchFamily="34" charset="0"/>
                <a:ea typeface="Calibri" pitchFamily="34" charset="-122"/>
                <a:cs typeface="Calibri" pitchFamily="34" charset="-120"/>
              </a:rPr>
              <a:t>read with care</a:t>
            </a:r>
            <a:endParaRPr lang="en-US" sz="1050" dirty="0"/>
          </a:p>
        </p:txBody>
      </p:sp>
      <p:sp>
        <p:nvSpPr>
          <p:cNvPr id="27" name="Text 25"/>
          <p:cNvSpPr txBox="1"/>
          <p:nvPr/>
        </p:nvSpPr>
        <p:spPr>
          <a:xfrm>
            <a:off x="6446520" y="3803904"/>
            <a:ext cx="1371600" cy="310896"/>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risk</a:t>
            </a:r>
            <a:endParaRPr lang="en-US" sz="1050" dirty="0"/>
          </a:p>
        </p:txBody>
      </p:sp>
      <p:sp>
        <p:nvSpPr>
          <p:cNvPr id="28" name="Text 26"/>
          <p:cNvSpPr txBox="1"/>
          <p:nvPr/>
        </p:nvSpPr>
        <p:spPr>
          <a:xfrm>
            <a:off x="7818120" y="3803904"/>
            <a:ext cx="777240" cy="310896"/>
          </a:xfrm>
          <a:prstGeom prst="rect">
            <a:avLst/>
          </a:prstGeom>
          <a:noFill/>
          <a:ln/>
        </p:spPr>
        <p:txBody>
          <a:bodyPr wrap="square" lIns="0" tIns="0" rIns="0" bIns="0" rtlCol="0" anchor="ctr"/>
          <a:lstStyle/>
          <a:p>
            <a:pPr algn="r" indent="0" marL="0">
              <a:buNone/>
            </a:pPr>
            <a:r>
              <a:rPr lang="en-US" sz="1250" b="1" dirty="0">
                <a:solidFill>
                  <a:srgbClr val="B24A3C"/>
                </a:solidFill>
                <a:latin typeface="Courier New" pitchFamily="34" charset="0"/>
                <a:ea typeface="Courier New" pitchFamily="34" charset="-122"/>
                <a:cs typeface="Courier New" pitchFamily="34" charset="-120"/>
              </a:rPr>
              <a:t>0.39</a:t>
            </a:r>
            <a:endParaRPr lang="en-US" sz="1250" dirty="0"/>
          </a:p>
        </p:txBody>
      </p:sp>
      <p:sp>
        <p:nvSpPr>
          <p:cNvPr id="29" name="Text 27"/>
          <p:cNvSpPr txBox="1"/>
          <p:nvPr/>
        </p:nvSpPr>
        <p:spPr>
          <a:xfrm>
            <a:off x="8778240" y="3803904"/>
            <a:ext cx="2514600" cy="310896"/>
          </a:xfrm>
          <a:prstGeom prst="rect">
            <a:avLst/>
          </a:prstGeom>
          <a:noFill/>
          <a:ln/>
        </p:spPr>
        <p:txBody>
          <a:bodyPr wrap="square" lIns="0" tIns="0" rIns="0" bIns="0" rtlCol="0" anchor="ctr"/>
          <a:lstStyle/>
          <a:p>
            <a:pPr indent="0" marL="0">
              <a:buNone/>
            </a:pPr>
            <a:r>
              <a:rPr lang="en-US" sz="1050" dirty="0">
                <a:solidFill>
                  <a:srgbClr val="A7C0BA"/>
                </a:solidFill>
                <a:latin typeface="Calibri" pitchFamily="34" charset="0"/>
                <a:ea typeface="Calibri" pitchFamily="34" charset="-122"/>
                <a:cs typeface="Calibri" pitchFamily="34" charset="-120"/>
              </a:rPr>
              <a:t>do not lean on it</a:t>
            </a:r>
            <a:endParaRPr lang="en-US" sz="1050" dirty="0"/>
          </a:p>
        </p:txBody>
      </p:sp>
      <p:sp>
        <p:nvSpPr>
          <p:cNvPr id="30" name="Text 28"/>
          <p:cNvSpPr txBox="1"/>
          <p:nvPr/>
        </p:nvSpPr>
        <p:spPr>
          <a:xfrm>
            <a:off x="6446520" y="4133088"/>
            <a:ext cx="4754880" cy="274320"/>
          </a:xfrm>
          <a:prstGeom prst="rect">
            <a:avLst/>
          </a:prstGeom>
          <a:noFill/>
          <a:ln/>
        </p:spPr>
        <p:txBody>
          <a:bodyPr wrap="square" lIns="0" tIns="0" rIns="0" bIns="0" rtlCol="0" anchor="ctr"/>
          <a:lstStyle/>
          <a:p>
            <a:pPr indent="0" marL="0">
              <a:buNone/>
            </a:pPr>
            <a:r>
              <a:rPr lang="en-US" sz="1150" i="1" dirty="0">
                <a:solidFill>
                  <a:srgbClr val="FFFFFF"/>
                </a:solidFill>
                <a:latin typeface="Cambria" pitchFamily="34" charset="0"/>
                <a:ea typeface="Cambria" pitchFamily="34" charset="-122"/>
                <a:cs typeface="Cambria" pitchFamily="34" charset="-120"/>
              </a:rPr>
              <a:t>These numbers say when not to trust the ranking.</a:t>
            </a:r>
            <a:endParaRPr lang="en-US" sz="1150" dirty="0"/>
          </a:p>
        </p:txBody>
      </p:sp>
      <p:sp>
        <p:nvSpPr>
          <p:cNvPr id="31" name="Shape 29"/>
          <p:cNvSpPr/>
          <p:nvPr/>
        </p:nvSpPr>
        <p:spPr>
          <a:xfrm>
            <a:off x="594360" y="4709160"/>
            <a:ext cx="3520440" cy="1417320"/>
          </a:xfrm>
          <a:prstGeom prst="roundRect">
            <a:avLst>
              <a:gd name="adj" fmla="val 3871"/>
            </a:avLst>
          </a:prstGeom>
          <a:solidFill>
            <a:srgbClr val="F1F4F3"/>
          </a:solidFill>
          <a:ln/>
          <a:effectLst>
            <a:outerShdw sx="100000" sy="100000" kx="0" ky="0" algn="bl" rotWithShape="0" blurRad="127000" dist="25400" dir="5400000">
              <a:srgbClr val="0C2D2A">
                <a:alpha val="10000"/>
              </a:srgbClr>
            </a:outerShdw>
          </a:effectLst>
        </p:spPr>
      </p:sp>
      <p:sp>
        <p:nvSpPr>
          <p:cNvPr id="32" name="Text 30"/>
          <p:cNvSpPr txBox="1"/>
          <p:nvPr/>
        </p:nvSpPr>
        <p:spPr>
          <a:xfrm>
            <a:off x="822960" y="4846320"/>
            <a:ext cx="3108960" cy="502920"/>
          </a:xfrm>
          <a:prstGeom prst="rect">
            <a:avLst/>
          </a:prstGeom>
          <a:noFill/>
          <a:ln/>
        </p:spPr>
        <p:txBody>
          <a:bodyPr wrap="square" lIns="0" tIns="0" rIns="0" bIns="0" rtlCol="0" anchor="t"/>
          <a:lstStyle/>
          <a:p>
            <a:pPr indent="0" marL="0">
              <a:lnSpc>
                <a:spcPct val="95000"/>
              </a:lnSpc>
              <a:buNone/>
            </a:pPr>
            <a:r>
              <a:rPr lang="en-US" sz="1150" b="1" dirty="0">
                <a:solidFill>
                  <a:srgbClr val="17211F"/>
                </a:solidFill>
                <a:latin typeface="Calibri" pitchFamily="34" charset="0"/>
                <a:ea typeface="Calibri" pitchFamily="34" charset="-122"/>
                <a:cs typeface="Calibri" pitchFamily="34" charset="-120"/>
              </a:rPr>
              <a:t>The question a SHAP plot cannot answer</a:t>
            </a:r>
            <a:endParaRPr lang="en-US" sz="1150" dirty="0"/>
          </a:p>
        </p:txBody>
      </p:sp>
      <p:sp>
        <p:nvSpPr>
          <p:cNvPr id="33" name="Text 31"/>
          <p:cNvSpPr txBox="1"/>
          <p:nvPr/>
        </p:nvSpPr>
        <p:spPr>
          <a:xfrm>
            <a:off x="822960" y="5349240"/>
            <a:ext cx="3108960" cy="685800"/>
          </a:xfrm>
          <a:prstGeom prst="rect">
            <a:avLst/>
          </a:prstGeom>
          <a:noFill/>
          <a:ln/>
        </p:spPr>
        <p:txBody>
          <a:bodyPr wrap="square" lIns="0" tIns="0" rIns="0" bIns="0" rtlCol="0" anchor="t"/>
          <a:lstStyle/>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How much of this rate came from commercial pressure rather than the customer's own risk — computable because the feature contract keeps sales context in a separate block.</a:t>
            </a:r>
            <a:endParaRPr lang="en-US" sz="950" dirty="0"/>
          </a:p>
        </p:txBody>
      </p:sp>
      <p:sp>
        <p:nvSpPr>
          <p:cNvPr id="34" name="Shape 32"/>
          <p:cNvSpPr/>
          <p:nvPr/>
        </p:nvSpPr>
        <p:spPr>
          <a:xfrm>
            <a:off x="4315968" y="4709160"/>
            <a:ext cx="3520440" cy="1417320"/>
          </a:xfrm>
          <a:prstGeom prst="roundRect">
            <a:avLst>
              <a:gd name="adj" fmla="val 3871"/>
            </a:avLst>
          </a:prstGeom>
          <a:solidFill>
            <a:srgbClr val="F1F4F3"/>
          </a:solidFill>
          <a:ln/>
          <a:effectLst>
            <a:outerShdw sx="100000" sy="100000" kx="0" ky="0" algn="bl" rotWithShape="0" blurRad="127000" dist="25400" dir="5400000">
              <a:srgbClr val="0C2D2A">
                <a:alpha val="10000"/>
              </a:srgbClr>
            </a:outerShdw>
          </a:effectLst>
        </p:spPr>
      </p:sp>
      <p:sp>
        <p:nvSpPr>
          <p:cNvPr id="35" name="Text 33"/>
          <p:cNvSpPr txBox="1"/>
          <p:nvPr/>
        </p:nvSpPr>
        <p:spPr>
          <a:xfrm>
            <a:off x="4544568" y="4846320"/>
            <a:ext cx="3108960" cy="502920"/>
          </a:xfrm>
          <a:prstGeom prst="rect">
            <a:avLst/>
          </a:prstGeom>
          <a:noFill/>
          <a:ln/>
        </p:spPr>
        <p:txBody>
          <a:bodyPr wrap="square" lIns="0" tIns="0" rIns="0" bIns="0" rtlCol="0" anchor="t"/>
          <a:lstStyle/>
          <a:p>
            <a:pPr indent="0" marL="0">
              <a:lnSpc>
                <a:spcPct val="95000"/>
              </a:lnSpc>
              <a:buNone/>
            </a:pPr>
            <a:r>
              <a:rPr lang="en-US" sz="1150" b="1" dirty="0">
                <a:solidFill>
                  <a:srgbClr val="17211F"/>
                </a:solidFill>
                <a:latin typeface="Calibri" pitchFamily="34" charset="0"/>
                <a:ea typeface="Calibri" pitchFamily="34" charset="-122"/>
                <a:cs typeface="Calibri" pitchFamily="34" charset="-120"/>
              </a:rPr>
              <a:t>An exception in a JSON blob is not a control</a:t>
            </a:r>
            <a:endParaRPr lang="en-US" sz="1150" dirty="0"/>
          </a:p>
        </p:txBody>
      </p:sp>
      <p:sp>
        <p:nvSpPr>
          <p:cNvPr id="36" name="Text 34"/>
          <p:cNvSpPr txBox="1"/>
          <p:nvPr/>
        </p:nvSpPr>
        <p:spPr>
          <a:xfrm>
            <a:off x="4544568" y="5349240"/>
            <a:ext cx="3108960" cy="685800"/>
          </a:xfrm>
          <a:prstGeom prst="rect">
            <a:avLst/>
          </a:prstGeom>
          <a:noFill/>
          <a:ln/>
        </p:spPr>
        <p:txBody>
          <a:bodyPr wrap="square" lIns="0" tIns="0" rIns="0" bIns="0" rtlCol="0" anchor="t"/>
          <a:lstStyle/>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When commercial factors price a customer up past the review threshold, the decision is flagged and written to the audit log as fair_pricing_review_required.</a:t>
            </a:r>
            <a:endParaRPr lang="en-US" sz="950" dirty="0"/>
          </a:p>
        </p:txBody>
      </p:sp>
      <p:sp>
        <p:nvSpPr>
          <p:cNvPr id="37" name="Shape 35"/>
          <p:cNvSpPr/>
          <p:nvPr/>
        </p:nvSpPr>
        <p:spPr>
          <a:xfrm>
            <a:off x="8037576" y="4709160"/>
            <a:ext cx="3520440" cy="1417320"/>
          </a:xfrm>
          <a:prstGeom prst="roundRect">
            <a:avLst>
              <a:gd name="adj" fmla="val 3871"/>
            </a:avLst>
          </a:prstGeom>
          <a:solidFill>
            <a:srgbClr val="F1F4F3"/>
          </a:solidFill>
          <a:ln/>
          <a:effectLst>
            <a:outerShdw sx="100000" sy="100000" kx="0" ky="0" algn="bl" rotWithShape="0" blurRad="127000" dist="25400" dir="5400000">
              <a:srgbClr val="0C2D2A">
                <a:alpha val="10000"/>
              </a:srgbClr>
            </a:outerShdw>
          </a:effectLst>
        </p:spPr>
      </p:sp>
      <p:sp>
        <p:nvSpPr>
          <p:cNvPr id="38" name="Text 36"/>
          <p:cNvSpPr txBox="1"/>
          <p:nvPr/>
        </p:nvSpPr>
        <p:spPr>
          <a:xfrm>
            <a:off x="8266176" y="4846320"/>
            <a:ext cx="3108960" cy="502920"/>
          </a:xfrm>
          <a:prstGeom prst="rect">
            <a:avLst/>
          </a:prstGeom>
          <a:noFill/>
          <a:ln/>
        </p:spPr>
        <p:txBody>
          <a:bodyPr wrap="square" lIns="0" tIns="0" rIns="0" bIns="0" rtlCol="0" anchor="t"/>
          <a:lstStyle/>
          <a:p>
            <a:pPr indent="0" marL="0">
              <a:lnSpc>
                <a:spcPct val="95000"/>
              </a:lnSpc>
              <a:buNone/>
            </a:pPr>
            <a:r>
              <a:rPr lang="en-US" sz="1150" b="1" dirty="0">
                <a:solidFill>
                  <a:srgbClr val="17211F"/>
                </a:solidFill>
                <a:latin typeface="Calibri" pitchFamily="34" charset="0"/>
                <a:ea typeface="Calibri" pitchFamily="34" charset="-122"/>
                <a:cs typeface="Calibri" pitchFamily="34" charset="-120"/>
              </a:rPr>
              <a:t>What else ships per model</a:t>
            </a:r>
            <a:endParaRPr lang="en-US" sz="1150" dirty="0"/>
          </a:p>
        </p:txBody>
      </p:sp>
      <p:sp>
        <p:nvSpPr>
          <p:cNvPr id="39" name="Text 37"/>
          <p:cNvSpPr txBox="1"/>
          <p:nvPr/>
        </p:nvSpPr>
        <p:spPr>
          <a:xfrm>
            <a:off x="8266176" y="5349240"/>
            <a:ext cx="3108960" cy="685800"/>
          </a:xfrm>
          <a:prstGeom prst="rect">
            <a:avLst/>
          </a:prstGeom>
          <a:noFill/>
          <a:ln/>
        </p:spPr>
        <p:txBody>
          <a:bodyPr wrap="square" lIns="0" tIns="0" rIns="0" bIns="0" rtlCol="0" anchor="t"/>
          <a:lstStyle/>
          <a:p>
            <a:pPr indent="0" marL="0">
              <a:lnSpc>
                <a:spcPct val="100000"/>
              </a:lnSpc>
              <a:buNone/>
            </a:pPr>
            <a:r>
              <a:rPr lang="en-US" sz="950" dirty="0">
                <a:solidFill>
                  <a:srgbClr val="5E6B68"/>
                </a:solidFill>
                <a:latin typeface="Calibri" pitchFamily="34" charset="0"/>
                <a:ea typeface="Calibri" pitchFamily="34" charset="-122"/>
                <a:cs typeface="Calibri" pitchFamily="34" charset="-120"/>
              </a:rPr>
              <a:t>PDP and ALE, per-instance SHAP vs LIME with top-3 agreement, MACE counterfactuals, dataset and prediction analysis — stated units, stated explained class.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GOVERNANCE</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Recommend, explain, route — never approve</a:t>
            </a:r>
            <a:endParaRPr lang="en-US" sz="3200" dirty="0"/>
          </a:p>
        </p:txBody>
      </p:sp>
      <p:sp>
        <p:nvSpPr>
          <p:cNvPr id="4" name="Shape 2"/>
          <p:cNvSpPr/>
          <p:nvPr/>
        </p:nvSpPr>
        <p:spPr>
          <a:xfrm>
            <a:off x="594360" y="148132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5" name="Shape 3"/>
          <p:cNvSpPr/>
          <p:nvPr/>
        </p:nvSpPr>
        <p:spPr>
          <a:xfrm>
            <a:off x="822960" y="1682496"/>
            <a:ext cx="347472" cy="347472"/>
          </a:xfrm>
          <a:prstGeom prst="ellipse">
            <a:avLst/>
          </a:prstGeom>
          <a:solidFill>
            <a:srgbClr val="E9A13B"/>
          </a:solidFill>
          <a:ln/>
        </p:spPr>
      </p:sp>
      <p:sp>
        <p:nvSpPr>
          <p:cNvPr id="6" name="Text 4"/>
          <p:cNvSpPr txBox="1"/>
          <p:nvPr/>
        </p:nvSpPr>
        <p:spPr>
          <a:xfrm>
            <a:off x="822960" y="168249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80160" y="166420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Policy is data</a:t>
            </a:r>
            <a:endParaRPr lang="en-US" sz="1300" dirty="0"/>
          </a:p>
        </p:txBody>
      </p:sp>
      <p:sp>
        <p:nvSpPr>
          <p:cNvPr id="8" name="Text 6"/>
          <p:cNvSpPr txBox="1"/>
          <p:nvPr/>
        </p:nvSpPr>
        <p:spPr>
          <a:xfrm>
            <a:off x="822960" y="210312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Every spread, cost, cap and authority limit lives in pricing_policy.yaml. constraints.py is the single source of truth for the card rate.</a:t>
            </a:r>
            <a:endParaRPr lang="en-US" sz="1000" dirty="0"/>
          </a:p>
        </p:txBody>
      </p:sp>
      <p:sp>
        <p:nvSpPr>
          <p:cNvPr id="9" name="Shape 7"/>
          <p:cNvSpPr/>
          <p:nvPr/>
        </p:nvSpPr>
        <p:spPr>
          <a:xfrm>
            <a:off x="4315968" y="148132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10" name="Shape 8"/>
          <p:cNvSpPr/>
          <p:nvPr/>
        </p:nvSpPr>
        <p:spPr>
          <a:xfrm>
            <a:off x="4544568" y="1682496"/>
            <a:ext cx="347472" cy="347472"/>
          </a:xfrm>
          <a:prstGeom prst="ellipse">
            <a:avLst/>
          </a:prstGeom>
          <a:solidFill>
            <a:srgbClr val="E9A13B"/>
          </a:solidFill>
          <a:ln/>
        </p:spPr>
      </p:sp>
      <p:sp>
        <p:nvSpPr>
          <p:cNvPr id="11" name="Text 9"/>
          <p:cNvSpPr txBox="1"/>
          <p:nvPr/>
        </p:nvSpPr>
        <p:spPr>
          <a:xfrm>
            <a:off x="4544568" y="168249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001768" y="166420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Append-only decisions</a:t>
            </a:r>
            <a:endParaRPr lang="en-US" sz="1300" dirty="0"/>
          </a:p>
        </p:txBody>
      </p:sp>
      <p:sp>
        <p:nvSpPr>
          <p:cNvPr id="13" name="Text 11"/>
          <p:cNvSpPr txBox="1"/>
          <p:nvPr/>
        </p:nvSpPr>
        <p:spPr>
          <a:xfrm>
            <a:off x="4544568" y="210312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The decisions and audit_log tables are insert-only. A pricing decision that can be quietly edited afterwards is not an audit trail.</a:t>
            </a:r>
            <a:endParaRPr lang="en-US" sz="1000" dirty="0"/>
          </a:p>
        </p:txBody>
      </p:sp>
      <p:sp>
        <p:nvSpPr>
          <p:cNvPr id="14" name="Shape 12"/>
          <p:cNvSpPr/>
          <p:nvPr/>
        </p:nvSpPr>
        <p:spPr>
          <a:xfrm>
            <a:off x="8037576" y="148132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15" name="Shape 13"/>
          <p:cNvSpPr/>
          <p:nvPr/>
        </p:nvSpPr>
        <p:spPr>
          <a:xfrm>
            <a:off x="8266176" y="1682496"/>
            <a:ext cx="347472" cy="347472"/>
          </a:xfrm>
          <a:prstGeom prst="ellipse">
            <a:avLst/>
          </a:prstGeom>
          <a:solidFill>
            <a:srgbClr val="E9A13B"/>
          </a:solidFill>
          <a:ln/>
        </p:spPr>
      </p:sp>
      <p:sp>
        <p:nvSpPr>
          <p:cNvPr id="16" name="Text 14"/>
          <p:cNvSpPr txBox="1"/>
          <p:nvPr/>
        </p:nvSpPr>
        <p:spPr>
          <a:xfrm>
            <a:off x="8266176" y="168249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723376" y="166420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Both numbers survive</a:t>
            </a:r>
            <a:endParaRPr lang="en-US" sz="1300" dirty="0"/>
          </a:p>
        </p:txBody>
      </p:sp>
      <p:sp>
        <p:nvSpPr>
          <p:cNvPr id="18" name="Text 16"/>
          <p:cNvSpPr txBox="1"/>
          <p:nvPr/>
        </p:nvSpPr>
        <p:spPr>
          <a:xfrm>
            <a:off x="8266176" y="210312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The override record stores the AI rate and the human rate. The recommendation is never overwritten — without both there is nothing to learn from.</a:t>
            </a:r>
            <a:endParaRPr lang="en-US" sz="1000" dirty="0"/>
          </a:p>
        </p:txBody>
      </p:sp>
      <p:sp>
        <p:nvSpPr>
          <p:cNvPr id="19" name="Shape 17"/>
          <p:cNvSpPr/>
          <p:nvPr/>
        </p:nvSpPr>
        <p:spPr>
          <a:xfrm>
            <a:off x="594360" y="299008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20" name="Shape 18"/>
          <p:cNvSpPr/>
          <p:nvPr/>
        </p:nvSpPr>
        <p:spPr>
          <a:xfrm>
            <a:off x="822960" y="3191256"/>
            <a:ext cx="347472" cy="347472"/>
          </a:xfrm>
          <a:prstGeom prst="ellipse">
            <a:avLst/>
          </a:prstGeom>
          <a:solidFill>
            <a:srgbClr val="E9A13B"/>
          </a:solidFill>
          <a:ln/>
        </p:spPr>
      </p:sp>
      <p:sp>
        <p:nvSpPr>
          <p:cNvPr id="21" name="Text 19"/>
          <p:cNvSpPr txBox="1"/>
          <p:nvPr/>
        </p:nvSpPr>
        <p:spPr>
          <a:xfrm>
            <a:off x="822960" y="319125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280160" y="317296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Approval routing</a:t>
            </a:r>
            <a:endParaRPr lang="en-US" sz="1300" dirty="0"/>
          </a:p>
        </p:txBody>
      </p:sp>
      <p:sp>
        <p:nvSpPr>
          <p:cNvPr id="23" name="Text 21"/>
          <p:cNvSpPr txBox="1"/>
          <p:nvPr/>
        </p:nvSpPr>
        <p:spPr>
          <a:xfrm>
            <a:off x="822960" y="361188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Every recommendation names the lowest sufficient authority; the override response reports required_approval and within_authority.</a:t>
            </a:r>
            <a:endParaRPr lang="en-US" sz="1000" dirty="0"/>
          </a:p>
        </p:txBody>
      </p:sp>
      <p:sp>
        <p:nvSpPr>
          <p:cNvPr id="24" name="Shape 22"/>
          <p:cNvSpPr/>
          <p:nvPr/>
        </p:nvSpPr>
        <p:spPr>
          <a:xfrm>
            <a:off x="4315968" y="299008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25" name="Shape 23"/>
          <p:cNvSpPr/>
          <p:nvPr/>
        </p:nvSpPr>
        <p:spPr>
          <a:xfrm>
            <a:off x="4544568" y="3191256"/>
            <a:ext cx="347472" cy="347472"/>
          </a:xfrm>
          <a:prstGeom prst="ellipse">
            <a:avLst/>
          </a:prstGeom>
          <a:solidFill>
            <a:srgbClr val="E9A13B"/>
          </a:solidFill>
          <a:ln/>
        </p:spPr>
      </p:sp>
      <p:sp>
        <p:nvSpPr>
          <p:cNvPr id="26" name="Text 24"/>
          <p:cNvSpPr txBox="1"/>
          <p:nvPr/>
        </p:nvSpPr>
        <p:spPr>
          <a:xfrm>
            <a:off x="4544568" y="319125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5001768" y="317296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Evidence rules bite</a:t>
            </a:r>
            <a:endParaRPr lang="en-US" sz="1300" dirty="0"/>
          </a:p>
        </p:txBody>
      </p:sp>
      <p:sp>
        <p:nvSpPr>
          <p:cNvPr id="28" name="Text 26"/>
          <p:cNvSpPr txBox="1"/>
          <p:nvPr/>
        </p:nvSpPr>
        <p:spPr>
          <a:xfrm>
            <a:off x="4544568" y="361188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An unevidenced competitor claim cannot move the price more than 15 bps. The policy check blocks the discount and says why.</a:t>
            </a:r>
            <a:endParaRPr lang="en-US" sz="1000" dirty="0"/>
          </a:p>
        </p:txBody>
      </p:sp>
      <p:sp>
        <p:nvSpPr>
          <p:cNvPr id="29" name="Shape 27"/>
          <p:cNvSpPr/>
          <p:nvPr/>
        </p:nvSpPr>
        <p:spPr>
          <a:xfrm>
            <a:off x="8037576" y="2990088"/>
            <a:ext cx="3520440" cy="1353312"/>
          </a:xfrm>
          <a:prstGeom prst="roundRect">
            <a:avLst>
              <a:gd name="adj" fmla="val 4054"/>
            </a:avLst>
          </a:prstGeom>
          <a:solidFill>
            <a:srgbClr val="F1F4F3"/>
          </a:solidFill>
          <a:ln/>
          <a:effectLst>
            <a:outerShdw sx="100000" sy="100000" kx="0" ky="0" algn="bl" rotWithShape="0" blurRad="127000" dist="25400" dir="5400000">
              <a:srgbClr val="0C2D2A">
                <a:alpha val="10000"/>
              </a:srgbClr>
            </a:outerShdw>
          </a:effectLst>
        </p:spPr>
      </p:sp>
      <p:sp>
        <p:nvSpPr>
          <p:cNvPr id="30" name="Shape 28"/>
          <p:cNvSpPr/>
          <p:nvPr/>
        </p:nvSpPr>
        <p:spPr>
          <a:xfrm>
            <a:off x="8266176" y="3191256"/>
            <a:ext cx="347472" cy="347472"/>
          </a:xfrm>
          <a:prstGeom prst="ellipse">
            <a:avLst/>
          </a:prstGeom>
          <a:solidFill>
            <a:srgbClr val="E9A13B"/>
          </a:solidFill>
          <a:ln/>
        </p:spPr>
      </p:sp>
      <p:sp>
        <p:nvSpPr>
          <p:cNvPr id="31" name="Text 29"/>
          <p:cNvSpPr txBox="1"/>
          <p:nvPr/>
        </p:nvSpPr>
        <p:spPr>
          <a:xfrm>
            <a:off x="8266176" y="3191256"/>
            <a:ext cx="347472" cy="347472"/>
          </a:xfrm>
          <a:prstGeom prst="rect">
            <a:avLst/>
          </a:prstGeom>
          <a:noFill/>
          <a:ln/>
        </p:spPr>
        <p:txBody>
          <a:bodyPr wrap="square" lIns="0" tIns="0" rIns="0" bIns="0" rtlCol="0" anchor="ctr"/>
          <a:lstStyle/>
          <a:p>
            <a:pPr algn="ctr" indent="0" marL="0">
              <a:buNone/>
            </a:pPr>
            <a:r>
              <a:rPr lang="en-US" sz="1200" b="1" dirty="0">
                <a:solidFill>
                  <a:srgbClr val="0C2D2A"/>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8723376" y="3172968"/>
            <a:ext cx="2651760" cy="384048"/>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Reproducibility</a:t>
            </a:r>
            <a:endParaRPr lang="en-US" sz="1300" dirty="0"/>
          </a:p>
        </p:txBody>
      </p:sp>
      <p:sp>
        <p:nvSpPr>
          <p:cNvPr id="33" name="Text 31"/>
          <p:cNvSpPr txBox="1"/>
          <p:nvPr/>
        </p:nvSpPr>
        <p:spPr>
          <a:xfrm>
            <a:off x="8266176" y="3611880"/>
            <a:ext cx="3108960" cy="658368"/>
          </a:xfrm>
          <a:prstGeom prst="rect">
            <a:avLst/>
          </a:prstGeom>
          <a:noFill/>
          <a:ln/>
        </p:spPr>
        <p:txBody>
          <a:bodyPr wrap="square" lIns="0" tIns="0" rIns="0" bIns="0" rtlCol="0" anchor="t"/>
          <a:lstStyle/>
          <a:p>
            <a:pPr indent="0" marL="0">
              <a:lnSpc>
                <a:spcPct val="100000"/>
              </a:lnSpc>
              <a:buNone/>
            </a:pPr>
            <a:r>
              <a:rPr lang="en-US" sz="1000" dirty="0">
                <a:solidFill>
                  <a:srgbClr val="5E6B68"/>
                </a:solidFill>
                <a:latin typeface="Calibri" pitchFamily="34" charset="0"/>
                <a:ea typeface="Calibri" pitchFamily="34" charset="-122"/>
                <a:cs typeface="Calibri" pitchFamily="34" charset="-120"/>
              </a:rPr>
              <a:t>Each decision stores the application snapshot, the policy version, the feature- and model-config versions, and every model version.</a:t>
            </a:r>
            <a:endParaRPr lang="en-US" sz="1000" dirty="0"/>
          </a:p>
        </p:txBody>
      </p:sp>
      <p:sp>
        <p:nvSpPr>
          <p:cNvPr id="34" name="Shape 32"/>
          <p:cNvSpPr/>
          <p:nvPr/>
        </p:nvSpPr>
        <p:spPr>
          <a:xfrm>
            <a:off x="594360" y="4526280"/>
            <a:ext cx="10881360" cy="914400"/>
          </a:xfrm>
          <a:prstGeom prst="roundRect">
            <a:avLst>
              <a:gd name="adj" fmla="val 6000"/>
            </a:avLst>
          </a:prstGeom>
          <a:solidFill>
            <a:srgbClr val="0C2D2A"/>
          </a:solidFill>
          <a:ln/>
          <a:effectLst>
            <a:outerShdw sx="100000" sy="100000" kx="0" ky="0" algn="bl" rotWithShape="0" blurRad="127000" dist="25400" dir="5400000">
              <a:srgbClr val="0C2D2A">
                <a:alpha val="10000"/>
              </a:srgbClr>
            </a:outerShdw>
          </a:effectLst>
        </p:spPr>
      </p:sp>
      <p:sp>
        <p:nvSpPr>
          <p:cNvPr id="35" name="Text 33"/>
          <p:cNvSpPr txBox="1"/>
          <p:nvPr/>
        </p:nvSpPr>
        <p:spPr>
          <a:xfrm>
            <a:off x="914400" y="4526280"/>
            <a:ext cx="10241280" cy="914400"/>
          </a:xfrm>
          <a:prstGeom prst="rect">
            <a:avLst/>
          </a:prstGeom>
          <a:noFill/>
          <a:ln/>
        </p:spPr>
        <p:txBody>
          <a:bodyPr wrap="square" lIns="0" tIns="0" rIns="0" bIns="0" rtlCol="0" anchor="ctr"/>
          <a:lstStyle/>
          <a:p>
            <a:pPr indent="0" marL="0">
              <a:lnSpc>
                <a:spcPct val="120000"/>
              </a:lnSpc>
              <a:buNone/>
            </a:pPr>
            <a:r>
              <a:rPr lang="en-US" sz="1200" dirty="0">
                <a:solidFill>
                  <a:srgbClr val="E9A13B"/>
                </a:solidFill>
                <a:latin typeface="Courier New" pitchFamily="34" charset="0"/>
                <a:ea typeface="Courier New" pitchFamily="34" charset="-122"/>
                <a:cs typeface="Courier New" pitchFamily="34" charset="-120"/>
              </a:rPr>
              <a:t>POLICY BLOCK   reason 'competitor_lower_rate' requires evidence for a discount</a:t>
            </a:r>
            <a:endParaRPr lang="en-US" sz="1200" dirty="0"/>
          </a:p>
          <a:p>
            <a:pPr indent="0" marL="0">
              <a:lnSpc>
                <a:spcPct val="120000"/>
              </a:lnSpc>
              <a:buNone/>
            </a:pPr>
            <a:r>
              <a:rPr lang="en-US" sz="1200" dirty="0">
                <a:solidFill>
                  <a:srgbClr val="E9A13B"/>
                </a:solidFill>
                <a:latin typeface="Courier New" pitchFamily="34" charset="0"/>
                <a:ea typeface="Courier New" pitchFamily="34" charset="-122"/>
                <a:cs typeface="Courier New" pitchFamily="34" charset="-120"/>
              </a:rPr>
              <a:t>               above 15 bps (requested 20 bps)</a:t>
            </a:r>
            <a:endParaRPr lang="en-US" sz="1200" dirty="0"/>
          </a:p>
        </p:txBody>
      </p:sp>
      <p:sp>
        <p:nvSpPr>
          <p:cNvPr id="36" name="Text 34"/>
          <p:cNvSpPr txBox="1"/>
          <p:nvPr/>
        </p:nvSpPr>
        <p:spPr>
          <a:xfrm>
            <a:off x="594360" y="5669280"/>
            <a:ext cx="10881360" cy="502920"/>
          </a:xfrm>
          <a:prstGeom prst="rect">
            <a:avLst/>
          </a:prstGeom>
          <a:noFill/>
          <a:ln/>
        </p:spPr>
        <p:txBody>
          <a:bodyPr wrap="square" lIns="0" tIns="0" rIns="0" bIns="0" rtlCol="0" anchor="t"/>
          <a:lstStyle/>
          <a:p>
            <a:pPr indent="0" marL="0">
              <a:lnSpc>
                <a:spcPct val="105000"/>
              </a:lnSpc>
              <a:buNone/>
            </a:pPr>
            <a:r>
              <a:rPr lang="en-US" sz="1100" dirty="0">
                <a:solidFill>
                  <a:srgbClr val="5E6B68"/>
                </a:solidFill>
                <a:latin typeface="Calibri" pitchFamily="34" charset="0"/>
                <a:ea typeface="Calibri" pitchFamily="34" charset="-122"/>
                <a:cs typeface="Calibri" pitchFamily="34" charset="-120"/>
              </a:rPr>
              <a:t>GET /pricing/audit/{loan_id} returns one file's whole history — decisions, overrides, outcomes and audit entries. GET /model-cards exposes every artefact's training window, metrics and written limitations.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CONTINUOUS LEARNING</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The loop closes on value, not accuracy</a:t>
            </a:r>
            <a:endParaRPr lang="en-US" sz="3200" dirty="0"/>
          </a:p>
        </p:txBody>
      </p:sp>
      <p:sp>
        <p:nvSpPr>
          <p:cNvPr id="4" name="Shape 2"/>
          <p:cNvSpPr/>
          <p:nvPr/>
        </p:nvSpPr>
        <p:spPr>
          <a:xfrm>
            <a:off x="594360" y="1508760"/>
            <a:ext cx="1956816" cy="868680"/>
          </a:xfrm>
          <a:prstGeom prst="roundRect">
            <a:avLst>
              <a:gd name="adj" fmla="val 8421"/>
            </a:avLst>
          </a:prstGeom>
          <a:solidFill>
            <a:srgbClr val="F1F4F3"/>
          </a:solidFill>
          <a:ln/>
          <a:effectLst>
            <a:outerShdw sx="100000" sy="100000" kx="0" ky="0" algn="bl" rotWithShape="0" blurRad="127000" dist="25400" dir="5400000">
              <a:srgbClr val="0C2D2A">
                <a:alpha val="10000"/>
              </a:srgbClr>
            </a:outerShdw>
          </a:effectLst>
        </p:spPr>
      </p:sp>
      <p:sp>
        <p:nvSpPr>
          <p:cNvPr id="5" name="Text 3"/>
          <p:cNvSpPr txBox="1"/>
          <p:nvPr/>
        </p:nvSpPr>
        <p:spPr>
          <a:xfrm>
            <a:off x="685800" y="1508760"/>
            <a:ext cx="1773936" cy="868680"/>
          </a:xfrm>
          <a:prstGeom prst="rect">
            <a:avLst/>
          </a:prstGeom>
          <a:noFill/>
          <a:ln/>
        </p:spPr>
        <p:txBody>
          <a:bodyPr wrap="square" lIns="0" tIns="0" rIns="0" bIns="0" rtlCol="0" anchor="ctr"/>
          <a:lstStyle/>
          <a:p>
            <a:pPr algn="ctr" indent="0" marL="0">
              <a:lnSpc>
                <a:spcPct val="100000"/>
              </a:lnSpc>
              <a:buNone/>
            </a:pPr>
            <a:r>
              <a:rPr lang="en-US" sz="1300" b="1" dirty="0">
                <a:solidFill>
                  <a:srgbClr val="17211F"/>
                </a:solidFill>
                <a:latin typeface="Calibri" pitchFamily="34" charset="0"/>
                <a:ea typeface="Calibri" pitchFamily="34" charset="-122"/>
                <a:cs typeface="Calibri" pitchFamily="34" charset="-120"/>
              </a:rPr>
              <a:t>Decision</a:t>
            </a:r>
            <a:endParaRPr lang="en-US" sz="13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recorded with its snapshot</a:t>
            </a:r>
            <a:endParaRPr lang="en-US" sz="1300" dirty="0"/>
          </a:p>
        </p:txBody>
      </p:sp>
      <p:sp>
        <p:nvSpPr>
          <p:cNvPr id="6" name="Shape 4"/>
          <p:cNvSpPr/>
          <p:nvPr/>
        </p:nvSpPr>
        <p:spPr>
          <a:xfrm>
            <a:off x="2551176" y="1938528"/>
            <a:ext cx="274320" cy="0"/>
          </a:xfrm>
          <a:prstGeom prst="line">
            <a:avLst/>
          </a:prstGeom>
          <a:noFill/>
          <a:ln w="19050">
            <a:solidFill>
              <a:srgbClr val="5B7F79"/>
            </a:solidFill>
            <a:prstDash val="solid"/>
            <a:tailEnd type="triangle"/>
          </a:ln>
        </p:spPr>
      </p:sp>
      <p:sp>
        <p:nvSpPr>
          <p:cNvPr id="7" name="Shape 5"/>
          <p:cNvSpPr/>
          <p:nvPr/>
        </p:nvSpPr>
        <p:spPr>
          <a:xfrm>
            <a:off x="2825496" y="1508760"/>
            <a:ext cx="1956816" cy="868680"/>
          </a:xfrm>
          <a:prstGeom prst="roundRect">
            <a:avLst>
              <a:gd name="adj" fmla="val 8421"/>
            </a:avLst>
          </a:prstGeom>
          <a:solidFill>
            <a:srgbClr val="F1F4F3"/>
          </a:solidFill>
          <a:ln/>
          <a:effectLst>
            <a:outerShdw sx="100000" sy="100000" kx="0" ky="0" algn="bl" rotWithShape="0" blurRad="127000" dist="25400" dir="5400000">
              <a:srgbClr val="0C2D2A">
                <a:alpha val="10000"/>
              </a:srgbClr>
            </a:outerShdw>
          </a:effectLst>
        </p:spPr>
      </p:sp>
      <p:sp>
        <p:nvSpPr>
          <p:cNvPr id="8" name="Text 6"/>
          <p:cNvSpPr txBox="1"/>
          <p:nvPr/>
        </p:nvSpPr>
        <p:spPr>
          <a:xfrm>
            <a:off x="2916936" y="1508760"/>
            <a:ext cx="1773936" cy="868680"/>
          </a:xfrm>
          <a:prstGeom prst="rect">
            <a:avLst/>
          </a:prstGeom>
          <a:noFill/>
          <a:ln/>
        </p:spPr>
        <p:txBody>
          <a:bodyPr wrap="square" lIns="0" tIns="0" rIns="0" bIns="0" rtlCol="0" anchor="ctr"/>
          <a:lstStyle/>
          <a:p>
            <a:pPr algn="ctr" indent="0" marL="0">
              <a:lnSpc>
                <a:spcPct val="100000"/>
              </a:lnSpc>
              <a:buNone/>
            </a:pPr>
            <a:r>
              <a:rPr lang="en-US" sz="1300" b="1" dirty="0">
                <a:solidFill>
                  <a:srgbClr val="17211F"/>
                </a:solidFill>
                <a:latin typeface="Calibri" pitchFamily="34" charset="0"/>
                <a:ea typeface="Calibri" pitchFamily="34" charset="-122"/>
                <a:cs typeface="Calibri" pitchFamily="34" charset="-120"/>
              </a:rPr>
              <a:t>Override</a:t>
            </a:r>
            <a:endParaRPr lang="en-US" sz="13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reason · approver · authority</a:t>
            </a:r>
            <a:endParaRPr lang="en-US" sz="1300" dirty="0"/>
          </a:p>
        </p:txBody>
      </p:sp>
      <p:sp>
        <p:nvSpPr>
          <p:cNvPr id="9" name="Shape 7"/>
          <p:cNvSpPr/>
          <p:nvPr/>
        </p:nvSpPr>
        <p:spPr>
          <a:xfrm>
            <a:off x="4782312" y="1938528"/>
            <a:ext cx="274320" cy="0"/>
          </a:xfrm>
          <a:prstGeom prst="line">
            <a:avLst/>
          </a:prstGeom>
          <a:noFill/>
          <a:ln w="19050">
            <a:solidFill>
              <a:srgbClr val="5B7F79"/>
            </a:solidFill>
            <a:prstDash val="solid"/>
            <a:tailEnd type="triangle"/>
          </a:ln>
        </p:spPr>
      </p:sp>
      <p:sp>
        <p:nvSpPr>
          <p:cNvPr id="10" name="Shape 8"/>
          <p:cNvSpPr/>
          <p:nvPr/>
        </p:nvSpPr>
        <p:spPr>
          <a:xfrm>
            <a:off x="5056632" y="1508760"/>
            <a:ext cx="1956816" cy="868680"/>
          </a:xfrm>
          <a:prstGeom prst="roundRect">
            <a:avLst>
              <a:gd name="adj" fmla="val 8421"/>
            </a:avLst>
          </a:prstGeom>
          <a:solidFill>
            <a:srgbClr val="F1F4F3"/>
          </a:solidFill>
          <a:ln/>
          <a:effectLst>
            <a:outerShdw sx="100000" sy="100000" kx="0" ky="0" algn="bl" rotWithShape="0" blurRad="127000" dist="25400" dir="5400000">
              <a:srgbClr val="0C2D2A">
                <a:alpha val="10000"/>
              </a:srgbClr>
            </a:outerShdw>
          </a:effectLst>
        </p:spPr>
      </p:sp>
      <p:sp>
        <p:nvSpPr>
          <p:cNvPr id="11" name="Text 9"/>
          <p:cNvSpPr txBox="1"/>
          <p:nvPr/>
        </p:nvSpPr>
        <p:spPr>
          <a:xfrm>
            <a:off x="5148072" y="1508760"/>
            <a:ext cx="1773936" cy="868680"/>
          </a:xfrm>
          <a:prstGeom prst="rect">
            <a:avLst/>
          </a:prstGeom>
          <a:noFill/>
          <a:ln/>
        </p:spPr>
        <p:txBody>
          <a:bodyPr wrap="square" lIns="0" tIns="0" rIns="0" bIns="0" rtlCol="0" anchor="ctr"/>
          <a:lstStyle/>
          <a:p>
            <a:pPr algn="ctr" indent="0" marL="0">
              <a:lnSpc>
                <a:spcPct val="100000"/>
              </a:lnSpc>
              <a:buNone/>
            </a:pPr>
            <a:r>
              <a:rPr lang="en-US" sz="1300" b="1" dirty="0">
                <a:solidFill>
                  <a:srgbClr val="17211F"/>
                </a:solidFill>
                <a:latin typeface="Calibri" pitchFamily="34" charset="0"/>
                <a:ea typeface="Calibri" pitchFamily="34" charset="-122"/>
                <a:cs typeface="Calibri" pitchFamily="34" charset="-120"/>
              </a:rPr>
              <a:t>Outcome</a:t>
            </a:r>
            <a:endParaRPr lang="en-US" sz="13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disbursed · BT · realized yield</a:t>
            </a:r>
            <a:endParaRPr lang="en-US" sz="1300" dirty="0"/>
          </a:p>
        </p:txBody>
      </p:sp>
      <p:sp>
        <p:nvSpPr>
          <p:cNvPr id="12" name="Shape 10"/>
          <p:cNvSpPr/>
          <p:nvPr/>
        </p:nvSpPr>
        <p:spPr>
          <a:xfrm>
            <a:off x="7013448" y="1938528"/>
            <a:ext cx="274320" cy="0"/>
          </a:xfrm>
          <a:prstGeom prst="line">
            <a:avLst/>
          </a:prstGeom>
          <a:noFill/>
          <a:ln w="19050">
            <a:solidFill>
              <a:srgbClr val="5B7F79"/>
            </a:solidFill>
            <a:prstDash val="solid"/>
            <a:tailEnd type="triangle"/>
          </a:ln>
        </p:spPr>
      </p:sp>
      <p:sp>
        <p:nvSpPr>
          <p:cNvPr id="13" name="Shape 11"/>
          <p:cNvSpPr/>
          <p:nvPr/>
        </p:nvSpPr>
        <p:spPr>
          <a:xfrm>
            <a:off x="7287768" y="1508760"/>
            <a:ext cx="1956816" cy="868680"/>
          </a:xfrm>
          <a:prstGeom prst="roundRect">
            <a:avLst>
              <a:gd name="adj" fmla="val 8421"/>
            </a:avLst>
          </a:prstGeom>
          <a:solidFill>
            <a:srgbClr val="F1F4F3"/>
          </a:solidFill>
          <a:ln/>
          <a:effectLst>
            <a:outerShdw sx="100000" sy="100000" kx="0" ky="0" algn="bl" rotWithShape="0" blurRad="127000" dist="25400" dir="5400000">
              <a:srgbClr val="0C2D2A">
                <a:alpha val="10000"/>
              </a:srgbClr>
            </a:outerShdw>
          </a:effectLst>
        </p:spPr>
      </p:sp>
      <p:sp>
        <p:nvSpPr>
          <p:cNvPr id="14" name="Text 12"/>
          <p:cNvSpPr txBox="1"/>
          <p:nvPr/>
        </p:nvSpPr>
        <p:spPr>
          <a:xfrm>
            <a:off x="7379208" y="1508760"/>
            <a:ext cx="1773936" cy="868680"/>
          </a:xfrm>
          <a:prstGeom prst="rect">
            <a:avLst/>
          </a:prstGeom>
          <a:noFill/>
          <a:ln/>
        </p:spPr>
        <p:txBody>
          <a:bodyPr wrap="square" lIns="0" tIns="0" rIns="0" bIns="0" rtlCol="0" anchor="ctr"/>
          <a:lstStyle/>
          <a:p>
            <a:pPr algn="ctr" indent="0" marL="0">
              <a:lnSpc>
                <a:spcPct val="100000"/>
              </a:lnSpc>
              <a:buNone/>
            </a:pPr>
            <a:r>
              <a:rPr lang="en-US" sz="1300" b="1" dirty="0">
                <a:solidFill>
                  <a:srgbClr val="17211F"/>
                </a:solidFill>
                <a:latin typeface="Calibri" pitchFamily="34" charset="0"/>
                <a:ea typeface="Calibri" pitchFamily="34" charset="-122"/>
                <a:cs typeface="Calibri" pitchFamily="34" charset="-120"/>
              </a:rPr>
              <a:t>Analysis</a:t>
            </a:r>
            <a:endParaRPr lang="en-US" sz="1300" dirty="0"/>
          </a:p>
          <a:p>
            <a:pPr algn="ctr" indent="0" marL="0">
              <a:lnSpc>
                <a:spcPct val="100000"/>
              </a:lnSpc>
              <a:buNone/>
            </a:pPr>
            <a:r>
              <a:rPr lang="en-US" sz="900" dirty="0">
                <a:solidFill>
                  <a:srgbClr val="5E6B68"/>
                </a:solidFill>
                <a:latin typeface="Calibri" pitchFamily="34" charset="0"/>
                <a:ea typeface="Calibri" pitchFamily="34" charset="-122"/>
                <a:cs typeface="Calibri" pitchFamily="34" charset="-120"/>
              </a:rPr>
              <a:t>expected vs realized</a:t>
            </a:r>
            <a:endParaRPr lang="en-US" sz="1300" dirty="0"/>
          </a:p>
        </p:txBody>
      </p:sp>
      <p:sp>
        <p:nvSpPr>
          <p:cNvPr id="15" name="Shape 13"/>
          <p:cNvSpPr/>
          <p:nvPr/>
        </p:nvSpPr>
        <p:spPr>
          <a:xfrm>
            <a:off x="9244584" y="1938528"/>
            <a:ext cx="274320" cy="0"/>
          </a:xfrm>
          <a:prstGeom prst="line">
            <a:avLst/>
          </a:prstGeom>
          <a:noFill/>
          <a:ln w="19050">
            <a:solidFill>
              <a:srgbClr val="5B7F79"/>
            </a:solidFill>
            <a:prstDash val="solid"/>
            <a:tailEnd type="triangle"/>
          </a:ln>
        </p:spPr>
      </p:sp>
      <p:sp>
        <p:nvSpPr>
          <p:cNvPr id="16" name="Shape 14"/>
          <p:cNvSpPr/>
          <p:nvPr/>
        </p:nvSpPr>
        <p:spPr>
          <a:xfrm>
            <a:off x="9518904" y="1508760"/>
            <a:ext cx="1956816" cy="868680"/>
          </a:xfrm>
          <a:prstGeom prst="roundRect">
            <a:avLst>
              <a:gd name="adj" fmla="val 8421"/>
            </a:avLst>
          </a:prstGeom>
          <a:solidFill>
            <a:srgbClr val="0C2D2A"/>
          </a:solidFill>
          <a:ln/>
          <a:effectLst>
            <a:outerShdw sx="100000" sy="100000" kx="0" ky="0" algn="bl" rotWithShape="0" blurRad="127000" dist="25400" dir="5400000">
              <a:srgbClr val="0C2D2A">
                <a:alpha val="10000"/>
              </a:srgbClr>
            </a:outerShdw>
          </a:effectLst>
        </p:spPr>
      </p:sp>
      <p:sp>
        <p:nvSpPr>
          <p:cNvPr id="17" name="Text 15"/>
          <p:cNvSpPr txBox="1"/>
          <p:nvPr/>
        </p:nvSpPr>
        <p:spPr>
          <a:xfrm>
            <a:off x="9610344" y="1508760"/>
            <a:ext cx="1773936" cy="86868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Proposal</a:t>
            </a:r>
            <a:endParaRPr lang="en-US" sz="1300" dirty="0"/>
          </a:p>
          <a:p>
            <a:pPr algn="ctr" indent="0" marL="0">
              <a:lnSpc>
                <a:spcPct val="100000"/>
              </a:lnSpc>
              <a:buNone/>
            </a:pPr>
            <a:r>
              <a:rPr lang="en-US" sz="900" dirty="0">
                <a:solidFill>
                  <a:srgbClr val="A7C0BA"/>
                </a:solidFill>
                <a:latin typeface="Calibri" pitchFamily="34" charset="0"/>
                <a:ea typeface="Calibri" pitchFamily="34" charset="-122"/>
                <a:cs typeface="Calibri" pitchFamily="34" charset="-120"/>
              </a:rPr>
              <a:t>capped at ±15 bps</a:t>
            </a:r>
            <a:endParaRPr lang="en-US" sz="1300" dirty="0"/>
          </a:p>
        </p:txBody>
      </p:sp>
      <p:sp>
        <p:nvSpPr>
          <p:cNvPr id="18" name="Shape 16"/>
          <p:cNvSpPr/>
          <p:nvPr/>
        </p:nvSpPr>
        <p:spPr>
          <a:xfrm>
            <a:off x="594360" y="2697480"/>
            <a:ext cx="3520440" cy="2377440"/>
          </a:xfrm>
          <a:prstGeom prst="roundRect">
            <a:avLst>
              <a:gd name="adj" fmla="val 2308"/>
            </a:avLst>
          </a:prstGeom>
          <a:solidFill>
            <a:srgbClr val="F1F4F3"/>
          </a:solidFill>
          <a:ln/>
          <a:effectLst>
            <a:outerShdw sx="100000" sy="100000" kx="0" ky="0" algn="bl" rotWithShape="0" blurRad="127000" dist="25400" dir="5400000">
              <a:srgbClr val="0C2D2A">
                <a:alpha val="10000"/>
              </a:srgbClr>
            </a:outerShdw>
          </a:effectLst>
        </p:spPr>
      </p:sp>
      <p:sp>
        <p:nvSpPr>
          <p:cNvPr id="19" name="Text 17"/>
          <p:cNvSpPr txBox="1"/>
          <p:nvPr/>
        </p:nvSpPr>
        <p:spPr>
          <a:xfrm>
            <a:off x="850392" y="2880360"/>
            <a:ext cx="3017520" cy="548640"/>
          </a:xfrm>
          <a:prstGeom prst="rect">
            <a:avLst/>
          </a:prstGeom>
          <a:noFill/>
          <a:ln/>
        </p:spPr>
        <p:txBody>
          <a:bodyPr wrap="square" lIns="0" tIns="0" rIns="0" bIns="0" rtlCol="0" anchor="t"/>
          <a:lstStyle/>
          <a:p>
            <a:pPr indent="0" marL="0">
              <a:lnSpc>
                <a:spcPct val="95000"/>
              </a:lnSpc>
              <a:buNone/>
            </a:pPr>
            <a:r>
              <a:rPr lang="en-US" sz="1300" b="1" dirty="0">
                <a:solidFill>
                  <a:srgbClr val="17211F"/>
                </a:solidFill>
                <a:latin typeface="Calibri" pitchFamily="34" charset="0"/>
                <a:ea typeface="Calibri" pitchFamily="34" charset="-122"/>
                <a:cs typeface="Calibri" pitchFamily="34" charset="-120"/>
              </a:rPr>
              <a:t>Drift, watched two ways</a:t>
            </a:r>
            <a:endParaRPr lang="en-US" sz="1300" dirty="0"/>
          </a:p>
        </p:txBody>
      </p:sp>
      <p:sp>
        <p:nvSpPr>
          <p:cNvPr id="20" name="Text 18"/>
          <p:cNvSpPr txBox="1"/>
          <p:nvPr/>
        </p:nvSpPr>
        <p:spPr>
          <a:xfrm>
            <a:off x="850392" y="3456432"/>
            <a:ext cx="3017520" cy="1463040"/>
          </a:xfrm>
          <a:prstGeom prst="rect">
            <a:avLst/>
          </a:prstGeom>
          <a:noFill/>
          <a:ln/>
        </p:spPr>
        <p:txBody>
          <a:bodyPr wrap="square" lIns="0" tIns="0" rIns="0" bIns="0" rtlCol="0" anchor="t"/>
          <a:lstStyle/>
          <a:p>
            <a:pPr indent="0" marL="0">
              <a:lnSpc>
                <a:spcPct val="105000"/>
              </a:lnSpc>
              <a:buNone/>
            </a:pPr>
            <a:r>
              <a:rPr lang="en-US" sz="1050" dirty="0">
                <a:solidFill>
                  <a:srgbClr val="5E6B68"/>
                </a:solidFill>
                <a:latin typeface="Calibri" pitchFamily="34" charset="0"/>
                <a:ea typeface="Calibri" pitchFamily="34" charset="-122"/>
                <a:cs typeface="Calibri" pitchFamily="34" charset="-120"/>
              </a:rPr>
              <a:t>Input drift is PSI against the training distribution. Conversion drift is more dangerous and no input-distribution monitor would catch it: the same files converting differently because competitors moved.</a:t>
            </a:r>
            <a:endParaRPr lang="en-US" sz="1050" dirty="0"/>
          </a:p>
        </p:txBody>
      </p:sp>
      <p:sp>
        <p:nvSpPr>
          <p:cNvPr id="21" name="Shape 19"/>
          <p:cNvSpPr/>
          <p:nvPr/>
        </p:nvSpPr>
        <p:spPr>
          <a:xfrm>
            <a:off x="4315968" y="2697480"/>
            <a:ext cx="3520440" cy="2377440"/>
          </a:xfrm>
          <a:prstGeom prst="roundRect">
            <a:avLst>
              <a:gd name="adj" fmla="val 2308"/>
            </a:avLst>
          </a:prstGeom>
          <a:solidFill>
            <a:srgbClr val="0C2D2A"/>
          </a:solidFill>
          <a:ln/>
          <a:effectLst>
            <a:outerShdw sx="100000" sy="100000" kx="0" ky="0" algn="bl" rotWithShape="0" blurRad="127000" dist="25400" dir="5400000">
              <a:srgbClr val="0C2D2A">
                <a:alpha val="10000"/>
              </a:srgbClr>
            </a:outerShdw>
          </a:effectLst>
        </p:spPr>
      </p:sp>
      <p:sp>
        <p:nvSpPr>
          <p:cNvPr id="22" name="Text 20"/>
          <p:cNvSpPr txBox="1"/>
          <p:nvPr/>
        </p:nvSpPr>
        <p:spPr>
          <a:xfrm>
            <a:off x="4572000" y="2880360"/>
            <a:ext cx="3017520" cy="548640"/>
          </a:xfrm>
          <a:prstGeom prst="rect">
            <a:avLst/>
          </a:prstGeom>
          <a:noFill/>
          <a:ln/>
        </p:spPr>
        <p:txBody>
          <a:bodyPr wrap="square" lIns="0" tIns="0" rIns="0" bIns="0" rtlCol="0" anchor="t"/>
          <a:lstStyle/>
          <a:p>
            <a:pPr indent="0" marL="0">
              <a:lnSpc>
                <a:spcPct val="95000"/>
              </a:lnSpc>
              <a:buNone/>
            </a:pPr>
            <a:r>
              <a:rPr lang="en-US" sz="1300" b="1" dirty="0">
                <a:solidFill>
                  <a:srgbClr val="FFFFFF"/>
                </a:solidFill>
                <a:latin typeface="Calibri" pitchFamily="34" charset="0"/>
                <a:ea typeface="Calibri" pitchFamily="34" charset="-122"/>
                <a:cs typeface="Calibri" pitchFamily="34" charset="-120"/>
              </a:rPr>
              <a:t>Promotion is on replayed value</a:t>
            </a:r>
            <a:endParaRPr lang="en-US" sz="1300" dirty="0"/>
          </a:p>
        </p:txBody>
      </p:sp>
      <p:sp>
        <p:nvSpPr>
          <p:cNvPr id="23" name="Text 21"/>
          <p:cNvSpPr txBox="1"/>
          <p:nvPr/>
        </p:nvSpPr>
        <p:spPr>
          <a:xfrm>
            <a:off x="4572000" y="3456432"/>
            <a:ext cx="3017520" cy="146304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A challenger must beat the champion's expected value by a configured margin on a paired replay, without dropping conversion beyond tolerance, with human sign-off. promote() refuses if any gate fails — AUC alone never promotes anything.</a:t>
            </a:r>
            <a:endParaRPr lang="en-US" sz="1050" dirty="0"/>
          </a:p>
        </p:txBody>
      </p:sp>
      <p:sp>
        <p:nvSpPr>
          <p:cNvPr id="24" name="Shape 22"/>
          <p:cNvSpPr/>
          <p:nvPr/>
        </p:nvSpPr>
        <p:spPr>
          <a:xfrm>
            <a:off x="8037576" y="2697480"/>
            <a:ext cx="3520440" cy="2377440"/>
          </a:xfrm>
          <a:prstGeom prst="roundRect">
            <a:avLst>
              <a:gd name="adj" fmla="val 2308"/>
            </a:avLst>
          </a:prstGeom>
          <a:solidFill>
            <a:srgbClr val="F1F4F3"/>
          </a:solidFill>
          <a:ln/>
          <a:effectLst>
            <a:outerShdw sx="100000" sy="100000" kx="0" ky="0" algn="bl" rotWithShape="0" blurRad="127000" dist="25400" dir="5400000">
              <a:srgbClr val="0C2D2A">
                <a:alpha val="10000"/>
              </a:srgbClr>
            </a:outerShdw>
          </a:effectLst>
        </p:spPr>
      </p:sp>
      <p:sp>
        <p:nvSpPr>
          <p:cNvPr id="25" name="Text 23"/>
          <p:cNvSpPr txBox="1"/>
          <p:nvPr/>
        </p:nvSpPr>
        <p:spPr>
          <a:xfrm>
            <a:off x="8293608" y="2880360"/>
            <a:ext cx="3017520" cy="548640"/>
          </a:xfrm>
          <a:prstGeom prst="rect">
            <a:avLst/>
          </a:prstGeom>
          <a:noFill/>
          <a:ln/>
        </p:spPr>
        <p:txBody>
          <a:bodyPr wrap="square" lIns="0" tIns="0" rIns="0" bIns="0" rtlCol="0" anchor="t"/>
          <a:lstStyle/>
          <a:p>
            <a:pPr indent="0" marL="0">
              <a:lnSpc>
                <a:spcPct val="95000"/>
              </a:lnSpc>
              <a:buNone/>
            </a:pPr>
            <a:r>
              <a:rPr lang="en-US" sz="1300" b="1" dirty="0">
                <a:solidFill>
                  <a:srgbClr val="17211F"/>
                </a:solidFill>
                <a:latin typeface="Calibri" pitchFamily="34" charset="0"/>
                <a:ea typeface="Calibri" pitchFamily="34" charset="-122"/>
                <a:cs typeface="Calibri" pitchFamily="34" charset="-120"/>
              </a:rPr>
              <a:t>Retraining is evidence-triggered</a:t>
            </a:r>
            <a:endParaRPr lang="en-US" sz="1300" dirty="0"/>
          </a:p>
        </p:txBody>
      </p:sp>
      <p:sp>
        <p:nvSpPr>
          <p:cNvPr id="26" name="Text 24"/>
          <p:cNvSpPr txBox="1"/>
          <p:nvPr/>
        </p:nvSpPr>
        <p:spPr>
          <a:xfrm>
            <a:off x="8293608" y="3456432"/>
            <a:ext cx="3017520" cy="1463040"/>
          </a:xfrm>
          <a:prstGeom prst="rect">
            <a:avLst/>
          </a:prstGeom>
          <a:noFill/>
          <a:ln/>
        </p:spPr>
        <p:txBody>
          <a:bodyPr wrap="square" lIns="0" tIns="0" rIns="0" bIns="0" rtlCol="0" anchor="t"/>
          <a:lstStyle/>
          <a:p>
            <a:pPr indent="0" marL="0">
              <a:lnSpc>
                <a:spcPct val="105000"/>
              </a:lnSpc>
              <a:buNone/>
            </a:pPr>
            <a:r>
              <a:rPr lang="en-US" sz="1050" dirty="0">
                <a:solidFill>
                  <a:srgbClr val="5E6B68"/>
                </a:solidFill>
                <a:latin typeface="Calibri" pitchFamily="34" charset="0"/>
                <a:ea typeface="Calibri" pitchFamily="34" charset="-122"/>
                <a:cs typeface="Calibri" pitchFamily="34" charset="-120"/>
              </a:rPr>
              <a:t>Drift, volume or model age opens a challenger slot. Retraining reuses the same feature contracts and the same chronological split, so a challenger is comparable to the champion by construction — and nothing reaches production except through the gate above.</a:t>
            </a:r>
            <a:endParaRPr lang="en-US" sz="1050" dirty="0"/>
          </a:p>
        </p:txBody>
      </p:sp>
      <p:sp>
        <p:nvSpPr>
          <p:cNvPr id="27" name="Shape 25"/>
          <p:cNvSpPr/>
          <p:nvPr/>
        </p:nvSpPr>
        <p:spPr>
          <a:xfrm>
            <a:off x="594360" y="5303520"/>
            <a:ext cx="10881360" cy="822960"/>
          </a:xfrm>
          <a:prstGeom prst="roundRect">
            <a:avLst>
              <a:gd name="adj" fmla="val 6667"/>
            </a:avLst>
          </a:prstGeom>
          <a:solidFill>
            <a:srgbClr val="E4EAE8"/>
          </a:solidFill>
          <a:ln/>
          <a:effectLst>
            <a:outerShdw sx="100000" sy="100000" kx="0" ky="0" algn="bl" rotWithShape="0" blurRad="127000" dist="25400" dir="5400000">
              <a:srgbClr val="0C2D2A">
                <a:alpha val="10000"/>
              </a:srgbClr>
            </a:outerShdw>
          </a:effectLst>
        </p:spPr>
      </p:sp>
      <p:sp>
        <p:nvSpPr>
          <p:cNvPr id="28" name="Text 26"/>
          <p:cNvSpPr txBox="1"/>
          <p:nvPr/>
        </p:nvSpPr>
        <p:spPr>
          <a:xfrm>
            <a:off x="914400" y="5303520"/>
            <a:ext cx="10241280" cy="822960"/>
          </a:xfrm>
          <a:prstGeom prst="rect">
            <a:avLst/>
          </a:prstGeom>
          <a:noFill/>
          <a:ln/>
        </p:spPr>
        <p:txBody>
          <a:bodyPr wrap="square" lIns="0" tIns="0" rIns="0" bIns="0" rtlCol="0" anchor="ctr"/>
          <a:lstStyle/>
          <a:p>
            <a:pPr indent="0" marL="0">
              <a:lnSpc>
                <a:spcPct val="105000"/>
              </a:lnSpc>
              <a:buNone/>
            </a:pPr>
            <a:r>
              <a:rPr lang="en-US" sz="1150" b="1" dirty="0">
                <a:solidFill>
                  <a:srgbClr val="17211F"/>
                </a:solidFill>
                <a:latin typeface="Calibri" pitchFamily="34" charset="0"/>
                <a:ea typeface="Calibri" pitchFamily="34" charset="-122"/>
                <a:cs typeface="Calibri" pitchFamily="34" charset="-120"/>
              </a:rPr>
              <a:t>The loop never changes a rate by itself.  </a:t>
            </a:r>
            <a:pPr indent="0" marL="0">
              <a:lnSpc>
                <a:spcPct val="105000"/>
              </a:lnSpc>
              <a:buNone/>
            </a:pPr>
            <a:r>
              <a:rPr lang="en-US" sz="1150" dirty="0">
                <a:solidFill>
                  <a:srgbClr val="5E6B68"/>
                </a:solidFill>
                <a:latin typeface="Calibri" pitchFamily="34" charset="0"/>
                <a:ea typeface="Calibri" pitchFamily="34" charset="-122"/>
                <a:cs typeface="Calibri" pitchFamily="34" charset="-120"/>
              </a:rPr>
              <a:t>Outcome capture links realized yield back to the decision that produced it; everything it concludes arrives at the pricing committee as a capped proposal with its evidence attached.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PHASE 2</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Phase 2 federated — the honest answer</a:t>
            </a:r>
            <a:endParaRPr lang="en-US" sz="3200" dirty="0"/>
          </a:p>
        </p:txBody>
      </p:sp>
      <p:sp>
        <p:nvSpPr>
          <p:cNvPr id="4" name="Text 2"/>
          <p:cNvSpPr txBox="1"/>
          <p:nvPr/>
        </p:nvSpPr>
        <p:spPr>
          <a:xfrm>
            <a:off x="594360" y="1371600"/>
            <a:ext cx="10881360" cy="640080"/>
          </a:xfrm>
          <a:prstGeom prst="rect">
            <a:avLst/>
          </a:prstGeom>
          <a:noFill/>
          <a:ln/>
        </p:spPr>
        <p:txBody>
          <a:bodyPr wrap="square" lIns="0" tIns="0" rIns="0" bIns="0" rtlCol="0" anchor="t"/>
          <a:lstStyle/>
          <a:p>
            <a:pPr indent="0" marL="0">
              <a:lnSpc>
                <a:spcPct val="105000"/>
              </a:lnSpc>
              <a:buNone/>
            </a:pPr>
            <a:r>
              <a:rPr lang="en-US" sz="1200" dirty="0">
                <a:solidFill>
                  <a:srgbClr val="5E6B68"/>
                </a:solidFill>
                <a:latin typeface="Calibri" pitchFamily="34" charset="0"/>
                <a:ea typeface="Calibri" pitchFamily="34" charset="-122"/>
                <a:cs typeface="Calibri" pitchFamily="34" charset="-120"/>
              </a:rPr>
              <a:t>Federated regional personalization is simulated in-process with Flower-shaped seams. What is federated is deliberately narrow: a linear regional rate adjustment, because gradient-boosted trees do not average across clients meaningfully. The module's real output is this decision table, evaluated on each region's holdout.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7315200" cy="914400"/>
        </p:xfrm>
        <a:graphic>
          <a:graphicData uri="http://schemas.openxmlformats.org/drawingml/2006/table">
            <a:tbl>
              <a:tblPr/>
              <a:tblGrid>
                <a:gridCol w="2011680"/>
                <a:gridCol w="914400"/>
                <a:gridCol w="1143000"/>
                <a:gridCol w="1051560"/>
                <a:gridCol w="1463040"/>
                <a:gridCol w="73152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Region</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Global MAE</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Local MAE</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Personalized MAE</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vs global</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r>
              <a:tr h="0">
                <a:tc>
                  <a:txBody>
                    <a:bodyPr/>
                    <a:lstStyle/>
                    <a:p>
                      <a:pPr algn="l" indent="0" marL="0">
                        <a:buNone/>
                      </a:pPr>
                      <a:r>
                        <a:rPr lang="en-US" sz="1100" b="1" dirty="0">
                          <a:solidFill>
                            <a:srgbClr val="17211F"/>
                          </a:solidFill>
                          <a:latin typeface="Calibri" pitchFamily="34" charset="0"/>
                          <a:ea typeface="Calibri" pitchFamily="34" charset="-122"/>
                          <a:cs typeface="Calibri" pitchFamily="34" charset="-120"/>
                        </a:rPr>
                        <a:t>Gujarat</a:t>
                      </a:r>
                      <a:endParaRPr lang="en-US" sz="11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3,272</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14.72</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14.15</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14.19</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b="1" dirty="0">
                          <a:solidFill>
                            <a:srgbClr val="5B7F79"/>
                          </a:solidFill>
                          <a:latin typeface="Courier New" pitchFamily="34" charset="0"/>
                          <a:ea typeface="Courier New" pitchFamily="34" charset="-122"/>
                          <a:cs typeface="Courier New" pitchFamily="34" charset="-120"/>
                        </a:rPr>
                        <a:t>−0.53</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algn="l" indent="0" marL="0">
                        <a:buNone/>
                      </a:pPr>
                      <a:r>
                        <a:rPr lang="en-US" sz="1100" b="1" dirty="0">
                          <a:solidFill>
                            <a:srgbClr val="17211F"/>
                          </a:solidFill>
                          <a:latin typeface="Calibri" pitchFamily="34" charset="0"/>
                          <a:ea typeface="Calibri" pitchFamily="34" charset="-122"/>
                          <a:cs typeface="Calibri" pitchFamily="34" charset="-120"/>
                        </a:rPr>
                        <a:t>Madhya Pradesh</a:t>
                      </a:r>
                      <a:endParaRPr lang="en-US" sz="11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2,460</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13.75</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13.69</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13.69</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5B7F79"/>
                          </a:solidFill>
                          <a:latin typeface="Courier New" pitchFamily="34" charset="0"/>
                          <a:ea typeface="Courier New" pitchFamily="34" charset="-122"/>
                          <a:cs typeface="Courier New" pitchFamily="34" charset="-120"/>
                        </a:rPr>
                        <a:t>−0.06</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7211F"/>
                          </a:solidFill>
                          <a:latin typeface="Calibri" pitchFamily="34" charset="0"/>
                          <a:ea typeface="Calibri" pitchFamily="34" charset="-122"/>
                          <a:cs typeface="Calibri" pitchFamily="34" charset="-120"/>
                        </a:rPr>
                        <a:t>Maharashtra</a:t>
                      </a:r>
                      <a:endParaRPr lang="en-US" sz="11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2,402</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13.98</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13.97</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13.95</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b="1" dirty="0">
                          <a:solidFill>
                            <a:srgbClr val="5B7F79"/>
                          </a:solidFill>
                          <a:latin typeface="Courier New" pitchFamily="34" charset="0"/>
                          <a:ea typeface="Courier New" pitchFamily="34" charset="-122"/>
                          <a:cs typeface="Courier New" pitchFamily="34" charset="-120"/>
                        </a:rPr>
                        <a:t>−0.03</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algn="l" indent="0" marL="0">
                        <a:buNone/>
                      </a:pPr>
                      <a:r>
                        <a:rPr lang="en-US" sz="1100" b="1" dirty="0">
                          <a:solidFill>
                            <a:srgbClr val="17211F"/>
                          </a:solidFill>
                          <a:latin typeface="Calibri" pitchFamily="34" charset="0"/>
                          <a:ea typeface="Calibri" pitchFamily="34" charset="-122"/>
                          <a:cs typeface="Calibri" pitchFamily="34" charset="-120"/>
                        </a:rPr>
                        <a:t>Rajasthan</a:t>
                      </a:r>
                      <a:endParaRPr lang="en-US" sz="11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5,080</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13.51</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13.10</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13.13</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5B7F79"/>
                          </a:solidFill>
                          <a:latin typeface="Courier New" pitchFamily="34" charset="0"/>
                          <a:ea typeface="Courier New" pitchFamily="34" charset="-122"/>
                          <a:cs typeface="Courier New" pitchFamily="34" charset="-120"/>
                        </a:rPr>
                        <a:t>−0.38</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7211F"/>
                          </a:solidFill>
                          <a:latin typeface="Calibri" pitchFamily="34" charset="0"/>
                          <a:ea typeface="Calibri" pitchFamily="34" charset="-122"/>
                          <a:cs typeface="Calibri" pitchFamily="34" charset="-120"/>
                        </a:rPr>
                        <a:t>Uttar Pradesh</a:t>
                      </a:r>
                      <a:endParaRPr lang="en-US" sz="110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1,784</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13.97</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14.02</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dirty="0">
                          <a:solidFill>
                            <a:srgbClr val="5E6B68"/>
                          </a:solidFill>
                          <a:latin typeface="Courier New" pitchFamily="34" charset="0"/>
                          <a:ea typeface="Courier New" pitchFamily="34" charset="-122"/>
                          <a:cs typeface="Courier New" pitchFamily="34" charset="-120"/>
                        </a:rPr>
                        <a:t>14.00</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algn="r" indent="0" marL="0">
                        <a:buNone/>
                      </a:pPr>
                      <a:r>
                        <a:rPr lang="en-US" sz="1100" b="1" dirty="0">
                          <a:solidFill>
                            <a:srgbClr val="B24A3C"/>
                          </a:solidFill>
                          <a:latin typeface="Courier New" pitchFamily="34" charset="0"/>
                          <a:ea typeface="Courier New" pitchFamily="34" charset="-122"/>
                          <a:cs typeface="Courier New" pitchFamily="34" charset="-120"/>
                        </a:rPr>
                        <a:t>+0.03</a:t>
                      </a:r>
                      <a:endParaRPr lang="en-US" sz="11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bl>
          </a:graphicData>
        </a:graphic>
      </p:graphicFrame>
      <p:sp>
        <p:nvSpPr>
          <p:cNvPr id="6" name="Text 3"/>
          <p:cNvSpPr txBox="1"/>
          <p:nvPr/>
        </p:nvSpPr>
        <p:spPr>
          <a:xfrm>
            <a:off x="594360" y="4224528"/>
            <a:ext cx="7315200" cy="548640"/>
          </a:xfrm>
          <a:prstGeom prst="rect">
            <a:avLst/>
          </a:prstGeom>
          <a:noFill/>
          <a:ln/>
        </p:spPr>
        <p:txBody>
          <a:bodyPr wrap="square" lIns="0" tIns="0" rIns="0" bIns="0" rtlCol="0" anchor="t"/>
          <a:lstStyle/>
          <a:p>
            <a:pPr indent="0" marL="0">
              <a:lnSpc>
                <a:spcPct val="105000"/>
              </a:lnSpc>
              <a:buNone/>
            </a:pPr>
            <a:r>
              <a:rPr lang="en-US" sz="1050" dirty="0">
                <a:solidFill>
                  <a:srgbClr val="5E6B68"/>
                </a:solidFill>
                <a:latin typeface="Calibri" pitchFamily="34" charset="0"/>
                <a:ea typeface="Calibri" pitchFamily="34" charset="-122"/>
                <a:cs typeface="Calibri" pitchFamily="34" charset="-120"/>
              </a:rPr>
              <a:t>MAE in basis points. Only Gujarat and Rajasthan move at all, and both are contested markets where a competitor-driven regional offset has something to fit.</a:t>
            </a:r>
            <a:endParaRPr lang="en-US" sz="1050" dirty="0"/>
          </a:p>
        </p:txBody>
      </p:sp>
      <p:sp>
        <p:nvSpPr>
          <p:cNvPr id="7" name="Shape 4"/>
          <p:cNvSpPr/>
          <p:nvPr/>
        </p:nvSpPr>
        <p:spPr>
          <a:xfrm>
            <a:off x="8183880" y="2103120"/>
            <a:ext cx="3291840" cy="2651760"/>
          </a:xfrm>
          <a:prstGeom prst="roundRect">
            <a:avLst>
              <a:gd name="adj" fmla="val 2069"/>
            </a:avLst>
          </a:prstGeom>
          <a:solidFill>
            <a:srgbClr val="0C2D2A"/>
          </a:solidFill>
          <a:ln/>
          <a:effectLst>
            <a:outerShdw sx="100000" sy="100000" kx="0" ky="0" algn="bl" rotWithShape="0" blurRad="127000" dist="25400" dir="5400000">
              <a:srgbClr val="0C2D2A">
                <a:alpha val="10000"/>
              </a:srgbClr>
            </a:outerShdw>
          </a:effectLst>
        </p:spPr>
      </p:sp>
      <p:sp>
        <p:nvSpPr>
          <p:cNvPr id="8" name="Text 5"/>
          <p:cNvSpPr txBox="1"/>
          <p:nvPr/>
        </p:nvSpPr>
        <p:spPr>
          <a:xfrm>
            <a:off x="8458200" y="2267712"/>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FFFFFF"/>
                </a:solidFill>
                <a:latin typeface="Cambria" pitchFamily="34" charset="0"/>
                <a:ea typeface="Cambria" pitchFamily="34" charset="-122"/>
                <a:cs typeface="Cambria" pitchFamily="34" charset="-120"/>
              </a:rPr>
              <a:t>Read this table before committing to federated infrastructure.</a:t>
            </a:r>
            <a:endParaRPr lang="en-US" sz="1400" dirty="0"/>
          </a:p>
        </p:txBody>
      </p:sp>
      <p:sp>
        <p:nvSpPr>
          <p:cNvPr id="9" name="Text 6"/>
          <p:cNvSpPr txBox="1"/>
          <p:nvPr/>
        </p:nvSpPr>
        <p:spPr>
          <a:xfrm>
            <a:off x="8458200" y="2944368"/>
            <a:ext cx="2743200" cy="685800"/>
          </a:xfrm>
          <a:prstGeom prst="rect">
            <a:avLst/>
          </a:prstGeom>
          <a:noFill/>
          <a:ln/>
        </p:spPr>
        <p:txBody>
          <a:bodyPr wrap="square" lIns="0" tIns="0" rIns="0" bIns="0" rtlCol="0" anchor="ctr"/>
          <a:lstStyle/>
          <a:p>
            <a:pPr indent="0" marL="0">
              <a:buNone/>
            </a:pPr>
            <a:r>
              <a:rPr lang="en-US" sz="4000" b="1" dirty="0">
                <a:solidFill>
                  <a:srgbClr val="E9A13B"/>
                </a:solidFill>
                <a:latin typeface="Cambria" pitchFamily="34" charset="0"/>
                <a:ea typeface="Cambria" pitchFamily="34" charset="-122"/>
                <a:cs typeface="Cambria" pitchFamily="34" charset="-120"/>
              </a:rPr>
              <a:t>&lt; 1 bp</a:t>
            </a:r>
            <a:endParaRPr lang="en-US" sz="4000" dirty="0"/>
          </a:p>
        </p:txBody>
      </p:sp>
      <p:sp>
        <p:nvSpPr>
          <p:cNvPr id="10" name="Text 7"/>
          <p:cNvSpPr txBox="1"/>
          <p:nvPr/>
        </p:nvSpPr>
        <p:spPr>
          <a:xfrm>
            <a:off x="8458200" y="3675888"/>
            <a:ext cx="2743200" cy="960120"/>
          </a:xfrm>
          <a:prstGeom prst="rect">
            <a:avLst/>
          </a:prstGeom>
          <a:noFill/>
          <a:ln/>
        </p:spPr>
        <p:txBody>
          <a:bodyPr wrap="square" lIns="0" tIns="0" rIns="0" bIns="0" rtlCol="0" anchor="t"/>
          <a:lstStyle/>
          <a:p>
            <a:pPr indent="0" marL="0">
              <a:lnSpc>
                <a:spcPct val="105000"/>
              </a:lnSpc>
              <a:buNone/>
            </a:pPr>
            <a:r>
              <a:rPr lang="en-US" sz="1000" dirty="0">
                <a:solidFill>
                  <a:srgbClr val="A7C0BA"/>
                </a:solidFill>
                <a:latin typeface="Calibri" pitchFamily="34" charset="0"/>
                <a:ea typeface="Calibri" pitchFamily="34" charset="-122"/>
                <a:cs typeface="Calibri" pitchFamily="34" charset="-120"/>
              </a:rPr>
              <a:t>Gains are sub-basis-point. If personalization does not beat the global model out of sample, one central model is sufficient and federation buys nothing but operational complexity.</a:t>
            </a:r>
            <a:endParaRPr lang="en-US" sz="1000" dirty="0"/>
          </a:p>
        </p:txBody>
      </p:sp>
      <p:sp>
        <p:nvSpPr>
          <p:cNvPr id="11" name="Shape 8"/>
          <p:cNvSpPr/>
          <p:nvPr/>
        </p:nvSpPr>
        <p:spPr>
          <a:xfrm>
            <a:off x="594360" y="4983480"/>
            <a:ext cx="10881360" cy="960120"/>
          </a:xfrm>
          <a:prstGeom prst="roundRect">
            <a:avLst>
              <a:gd name="adj" fmla="val 5714"/>
            </a:avLst>
          </a:prstGeom>
          <a:solidFill>
            <a:srgbClr val="F1F4F3"/>
          </a:solidFill>
          <a:ln/>
          <a:effectLst>
            <a:outerShdw sx="100000" sy="100000" kx="0" ky="0" algn="bl" rotWithShape="0" blurRad="127000" dist="25400" dir="5400000">
              <a:srgbClr val="0C2D2A">
                <a:alpha val="10000"/>
              </a:srgbClr>
            </a:outerShdw>
          </a:effectLst>
        </p:spPr>
      </p:sp>
      <p:sp>
        <p:nvSpPr>
          <p:cNvPr id="12" name="Text 9"/>
          <p:cNvSpPr txBox="1"/>
          <p:nvPr/>
        </p:nvSpPr>
        <p:spPr>
          <a:xfrm>
            <a:off x="914400" y="4983480"/>
            <a:ext cx="10241280" cy="960120"/>
          </a:xfrm>
          <a:prstGeom prst="rect">
            <a:avLst/>
          </a:prstGeom>
          <a:noFill/>
          <a:ln/>
        </p:spPr>
        <p:txBody>
          <a:bodyPr wrap="square" lIns="0" tIns="0" rIns="0" bIns="0" rtlCol="0" anchor="ctr"/>
          <a:lstStyle/>
          <a:p>
            <a:pPr indent="0" marL="0">
              <a:lnSpc>
                <a:spcPct val="105000"/>
              </a:lnSpc>
              <a:buNone/>
            </a:pPr>
            <a:r>
              <a:rPr lang="en-US" sz="1100" b="1" dirty="0">
                <a:solidFill>
                  <a:srgbClr val="17211F"/>
                </a:solidFill>
                <a:latin typeface="Calibri" pitchFamily="34" charset="0"/>
                <a:ea typeface="Calibri" pitchFamily="34" charset="-122"/>
                <a:cs typeface="Calibri" pitchFamily="34" charset="-120"/>
              </a:rPr>
              <a:t>Evaluated on holdout, deliberately.  </a:t>
            </a:r>
            <a:pPr indent="0" marL="0">
              <a:lnSpc>
                <a:spcPct val="105000"/>
              </a:lnSpc>
              <a:buNone/>
            </a:pPr>
            <a:r>
              <a:rPr lang="en-US" sz="1100" dirty="0">
                <a:solidFill>
                  <a:srgbClr val="5E6B68"/>
                </a:solidFill>
                <a:latin typeface="Calibri" pitchFamily="34" charset="0"/>
                <a:ea typeface="Calibri" pitchFamily="34" charset="-122"/>
                <a:cs typeface="Calibri" pitchFamily="34" charset="-120"/>
              </a:rPr>
              <a:t>On training rows a thin region's overfitted local model always wins and the comparison is meaningless. The knowledge store is scoped the same way: sales notes, competitor observations, credit notes and the policy itself go in the vector store; numeric features stay in the feature store where they can be validated, versioned and monotone-constrained.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5B7F79"/>
                </a:solidFill>
                <a:latin typeface="Calibri" pitchFamily="34" charset="0"/>
                <a:ea typeface="Calibri" pitchFamily="34" charset="-122"/>
                <a:cs typeface="Calibri" pitchFamily="34" charset="-120"/>
              </a:rPr>
              <a:t>OPERATIONS</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17211F"/>
                </a:solidFill>
                <a:latin typeface="Cambria" pitchFamily="34" charset="0"/>
                <a:ea typeface="Cambria" pitchFamily="34" charset="-122"/>
                <a:cs typeface="Cambria" pitchFamily="34" charset="-120"/>
              </a:rPr>
              <a:t>What runs, and what degrades gracefully</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6858000" cy="914400"/>
        </p:xfrm>
        <a:graphic>
          <a:graphicData uri="http://schemas.openxmlformats.org/drawingml/2006/table">
            <a:tbl>
              <a:tblPr/>
              <a:tblGrid>
                <a:gridCol w="1600200"/>
                <a:gridCol w="2377440"/>
                <a:gridCol w="1051560"/>
                <a:gridCol w="18288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Process</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101600" marR="1016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2D2A"/>
                    </a:solidFill>
                  </a:tcPr>
                </a:tc>
              </a:tr>
              <a:tr h="0">
                <a:tc>
                  <a:txBody>
                    <a:bodyPr/>
                    <a:lstStyle/>
                    <a:p>
                      <a:pPr indent="0" marL="0">
                        <a:buNone/>
                      </a:pPr>
                      <a:r>
                        <a:rPr lang="en-US" sz="1050" b="1" dirty="0">
                          <a:solidFill>
                            <a:srgbClr val="17211F"/>
                          </a:solidFill>
                          <a:latin typeface="Calibri" pitchFamily="34" charset="0"/>
                          <a:ea typeface="Calibri" pitchFamily="34" charset="-122"/>
                          <a:cs typeface="Calibri" pitchFamily="34" charset="-120"/>
                        </a:rPr>
                        <a:t>Pricing API</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uvicorn aavas.api.main:app</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ourier New" pitchFamily="34" charset="0"/>
                          <a:ea typeface="Courier New" pitchFamily="34" charset="-122"/>
                          <a:cs typeface="Courier New" pitchFamily="34" charset="-120"/>
                        </a:rPr>
                        <a:t>8000</a:t>
                      </a:r>
                      <a:endParaRPr lang="en-US" sz="105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alibri" pitchFamily="34" charset="0"/>
                          <a:ea typeface="Calibri" pitchFamily="34" charset="-122"/>
                          <a:cs typeface="Calibri" pitchFamily="34" charset="-120"/>
                        </a:rPr>
                        <a:t>Model bundle loaded once per process</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indent="0" marL="0">
                        <a:buNone/>
                      </a:pPr>
                      <a:r>
                        <a:rPr lang="en-US" sz="1050" b="1" dirty="0">
                          <a:solidFill>
                            <a:srgbClr val="17211F"/>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npm run dev in application/</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5E6B68"/>
                          </a:solidFill>
                          <a:latin typeface="Courier New" pitchFamily="34" charset="0"/>
                          <a:ea typeface="Courier New" pitchFamily="34" charset="-122"/>
                          <a:cs typeface="Courier New" pitchFamily="34" charset="-120"/>
                        </a:rPr>
                        <a:t>4173</a:t>
                      </a:r>
                      <a:endParaRPr lang="en-US" sz="105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5E6B68"/>
                          </a:solidFill>
                          <a:latin typeface="Calibri" pitchFamily="34" charset="0"/>
                          <a:ea typeface="Calibri" pitchFamily="34" charset="-122"/>
                          <a:cs typeface="Calibri" pitchFamily="34" charset="-120"/>
                        </a:rPr>
                        <a:t>Proxies /api → 8000, so no CORS change</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7211F"/>
                          </a:solidFill>
                          <a:latin typeface="Calibri" pitchFamily="34" charset="0"/>
                          <a:ea typeface="Calibri" pitchFamily="34" charset="-122"/>
                          <a:cs typeface="Calibri" pitchFamily="34" charset="-120"/>
                        </a:rPr>
                        <a:t>Container</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docker compose up --build</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ourier New" pitchFamily="34" charset="0"/>
                          <a:ea typeface="Courier New" pitchFamily="34" charset="-122"/>
                          <a:cs typeface="Courier New" pitchFamily="34" charset="-120"/>
                        </a:rPr>
                        <a:t>8000</a:t>
                      </a:r>
                      <a:endParaRPr lang="en-US" sz="105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alibri" pitchFamily="34" charset="0"/>
                          <a:ea typeface="Calibri" pitchFamily="34" charset="-122"/>
                          <a:cs typeface="Calibri" pitchFamily="34" charset="-120"/>
                        </a:rPr>
                        <a:t>Healthcheck on /health; models on a volume</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r h="0">
                <a:tc>
                  <a:txBody>
                    <a:bodyPr/>
                    <a:lstStyle/>
                    <a:p>
                      <a:pPr indent="0" marL="0">
                        <a:buNone/>
                      </a:pPr>
                      <a:r>
                        <a:rPr lang="en-US" sz="1050" b="1" dirty="0">
                          <a:solidFill>
                            <a:srgbClr val="17211F"/>
                          </a:solidFill>
                          <a:latin typeface="Calibri" pitchFamily="34" charset="0"/>
                          <a:ea typeface="Calibri" pitchFamily="34" charset="-122"/>
                          <a:cs typeface="Calibri" pitchFamily="34" charset="-120"/>
                        </a:rPr>
                        <a:t>Postgres / pgvector</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docker compose --profile phase2</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5E6B68"/>
                          </a:solidFill>
                          <a:latin typeface="Courier New" pitchFamily="34" charset="0"/>
                          <a:ea typeface="Courier New" pitchFamily="34" charset="-122"/>
                          <a:cs typeface="Courier New" pitchFamily="34" charset="-120"/>
                        </a:rPr>
                        <a:t>5432</a:t>
                      </a:r>
                      <a:endParaRPr lang="en-US" sz="105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5E6B68"/>
                          </a:solidFill>
                          <a:latin typeface="Calibri" pitchFamily="34" charset="0"/>
                          <a:ea typeface="Calibri" pitchFamily="34" charset="-122"/>
                          <a:cs typeface="Calibri" pitchFamily="34" charset="-120"/>
                        </a:rPr>
                        <a:t>Shared governance store + vector backend</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7211F"/>
                          </a:solidFill>
                          <a:latin typeface="Calibri" pitchFamily="34" charset="0"/>
                          <a:ea typeface="Calibri" pitchFamily="34" charset="-122"/>
                          <a:cs typeface="Calibri" pitchFamily="34" charset="-120"/>
                        </a:rPr>
                        <a:t>XAI dashboards</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00" dirty="0">
                          <a:solidFill>
                            <a:srgbClr val="5E6B68"/>
                          </a:solidFill>
                          <a:latin typeface="Courier New" pitchFamily="34" charset="0"/>
                          <a:ea typeface="Courier New" pitchFamily="34" charset="-122"/>
                          <a:cs typeface="Courier New" pitchFamily="34" charset="-120"/>
                        </a:rPr>
                        <a:t>make xai</a:t>
                      </a:r>
                      <a:endParaRPr lang="en-US" sz="100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ourier New" pitchFamily="34" charset="0"/>
                          <a:ea typeface="Courier New" pitchFamily="34" charset="-122"/>
                          <a:cs typeface="Courier New" pitchFamily="34" charset="-120"/>
                        </a:rPr>
                        <a:t>one per model</a:t>
                      </a:r>
                      <a:endParaRPr lang="en-US" sz="1050" dirty="0">
                        <a:latin typeface="Courier New" charset="0"/>
                        <a:ea typeface="Courier New" charset="0"/>
                        <a:cs typeface="Courier New"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c>
                  <a:txBody>
                    <a:bodyPr/>
                    <a:lstStyle/>
                    <a:p>
                      <a:pPr indent="0" marL="0">
                        <a:buNone/>
                      </a:pPr>
                      <a:r>
                        <a:rPr lang="en-US" sz="1050" dirty="0">
                          <a:solidFill>
                            <a:srgbClr val="5E6B68"/>
                          </a:solidFill>
                          <a:latin typeface="Calibri" pitchFamily="34" charset="0"/>
                          <a:ea typeface="Calibri" pitchFamily="34" charset="-122"/>
                          <a:cs typeface="Calibri" pitchFamily="34" charset="-120"/>
                        </a:rPr>
                        <a:t>~1.5 GB per dashboard process</a:t>
                      </a:r>
                      <a:endParaRPr lang="en-US" sz="1050" dirty="0">
                        <a:latin typeface="Calibri" charset="0"/>
                        <a:ea typeface="Calibri" charset="0"/>
                        <a:cs typeface="Calibri" charset="0"/>
                      </a:endParaRPr>
                    </a:p>
                  </a:txBody>
                  <a:tcPr marL="101600" marR="101600" marT="63500" marB="635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3"/>
                    </a:solidFill>
                  </a:tcPr>
                </a:tc>
              </a:tr>
            </a:tbl>
          </a:graphicData>
        </a:graphic>
      </p:graphicFrame>
      <p:sp>
        <p:nvSpPr>
          <p:cNvPr id="5" name="Shape 2"/>
          <p:cNvSpPr/>
          <p:nvPr/>
        </p:nvSpPr>
        <p:spPr>
          <a:xfrm>
            <a:off x="7680960" y="1463040"/>
            <a:ext cx="3794760" cy="2240280"/>
          </a:xfrm>
          <a:prstGeom prst="roundRect">
            <a:avLst>
              <a:gd name="adj" fmla="val 2449"/>
            </a:avLst>
          </a:prstGeom>
          <a:solidFill>
            <a:srgbClr val="0C2D2A"/>
          </a:solidFill>
          <a:ln/>
          <a:effectLst>
            <a:outerShdw sx="100000" sy="100000" kx="0" ky="0" algn="bl" rotWithShape="0" blurRad="127000" dist="25400" dir="5400000">
              <a:srgbClr val="0C2D2A">
                <a:alpha val="10000"/>
              </a:srgbClr>
            </a:outerShdw>
          </a:effectLst>
        </p:spPr>
      </p:sp>
      <p:sp>
        <p:nvSpPr>
          <p:cNvPr id="6" name="Text 3"/>
          <p:cNvSpPr txBox="1"/>
          <p:nvPr/>
        </p:nvSpPr>
        <p:spPr>
          <a:xfrm>
            <a:off x="7955280" y="1645920"/>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Degraded mode is explicit</a:t>
            </a:r>
            <a:endParaRPr lang="en-US" sz="1400" dirty="0"/>
          </a:p>
        </p:txBody>
      </p:sp>
      <p:sp>
        <p:nvSpPr>
          <p:cNvPr id="7" name="Text 4"/>
          <p:cNvSpPr txBox="1"/>
          <p:nvPr/>
        </p:nvSpPr>
        <p:spPr>
          <a:xfrm>
            <a:off x="7955280" y="2057400"/>
            <a:ext cx="3246120" cy="1463040"/>
          </a:xfrm>
          <a:prstGeom prst="rect">
            <a:avLst/>
          </a:prstGeom>
          <a:noFill/>
          <a:ln/>
        </p:spPr>
        <p:txBody>
          <a:bodyPr wrap="square" lIns="0" tIns="0" rIns="0" bIns="0" rtlCol="0" anchor="t"/>
          <a:lstStyle/>
          <a:p>
            <a:pPr indent="0" marL="0">
              <a:lnSpc>
                <a:spcPct val="110000"/>
              </a:lnSpc>
              <a:buNone/>
            </a:pPr>
            <a:r>
              <a:rPr lang="en-US" sz="1050" dirty="0">
                <a:solidFill>
                  <a:srgbClr val="A7C0BA"/>
                </a:solidFill>
                <a:latin typeface="Calibri" pitchFamily="34" charset="0"/>
                <a:ea typeface="Calibri" pitchFamily="34" charset="-122"/>
                <a:cs typeface="Calibri" pitchFamily="34" charset="-120"/>
              </a:rPr>
              <a:t>/health returns status: "degraded" with models_missing populated rather than failing. The orchestrator logs a warning and falls back to a card-rate anchor and the grade on the file, instead of raising.</a:t>
            </a:r>
            <a:endParaRPr lang="en-US" sz="1050" dirty="0"/>
          </a:p>
        </p:txBody>
      </p:sp>
      <p:sp>
        <p:nvSpPr>
          <p:cNvPr id="8" name="Text 5"/>
          <p:cNvSpPr txBox="1"/>
          <p:nvPr/>
        </p:nvSpPr>
        <p:spPr>
          <a:xfrm>
            <a:off x="594360" y="4160520"/>
            <a:ext cx="10881360" cy="365760"/>
          </a:xfrm>
          <a:prstGeom prst="rect">
            <a:avLst/>
          </a:prstGeom>
          <a:noFill/>
          <a:ln/>
        </p:spPr>
        <p:txBody>
          <a:bodyPr wrap="square" lIns="0" tIns="0" rIns="0" bIns="0" rtlCol="0" anchor="ctr"/>
          <a:lstStyle/>
          <a:p>
            <a:pPr indent="0" marL="0">
              <a:buNone/>
            </a:pPr>
            <a:r>
              <a:rPr lang="en-US" sz="1300" b="1" dirty="0">
                <a:solidFill>
                  <a:srgbClr val="17211F"/>
                </a:solidFill>
                <a:latin typeface="Calibri" pitchFamily="34" charset="0"/>
                <a:ea typeface="Calibri" pitchFamily="34" charset="-122"/>
                <a:cs typeface="Calibri" pitchFamily="34" charset="-120"/>
              </a:rPr>
              <a:t>Every optional dependency has a working fallback — nothing here fails because a library is missing</a:t>
            </a:r>
            <a:endParaRPr lang="en-US" sz="1300" dirty="0"/>
          </a:p>
        </p:txBody>
      </p:sp>
      <p:sp>
        <p:nvSpPr>
          <p:cNvPr id="9" name="Shape 6"/>
          <p:cNvSpPr/>
          <p:nvPr/>
        </p:nvSpPr>
        <p:spPr>
          <a:xfrm>
            <a:off x="594360" y="4645152"/>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0" name="Text 7"/>
          <p:cNvSpPr txBox="1"/>
          <p:nvPr/>
        </p:nvSpPr>
        <p:spPr>
          <a:xfrm>
            <a:off x="850392" y="4645152"/>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xgboost</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sklearn HistGB</a:t>
            </a:r>
            <a:endParaRPr lang="en-US" sz="1150" dirty="0"/>
          </a:p>
        </p:txBody>
      </p:sp>
      <p:sp>
        <p:nvSpPr>
          <p:cNvPr id="11" name="Shape 8"/>
          <p:cNvSpPr/>
          <p:nvPr/>
        </p:nvSpPr>
        <p:spPr>
          <a:xfrm>
            <a:off x="4315968" y="4645152"/>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2" name="Text 9"/>
          <p:cNvSpPr txBox="1"/>
          <p:nvPr/>
        </p:nvSpPr>
        <p:spPr>
          <a:xfrm>
            <a:off x="4572000" y="4645152"/>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shap</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ablation explainer</a:t>
            </a:r>
            <a:endParaRPr lang="en-US" sz="1150" dirty="0"/>
          </a:p>
        </p:txBody>
      </p:sp>
      <p:sp>
        <p:nvSpPr>
          <p:cNvPr id="13" name="Shape 10"/>
          <p:cNvSpPr/>
          <p:nvPr/>
        </p:nvSpPr>
        <p:spPr>
          <a:xfrm>
            <a:off x="8037576" y="4645152"/>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4" name="Text 11"/>
          <p:cNvSpPr txBox="1"/>
          <p:nvPr/>
        </p:nvSpPr>
        <p:spPr>
          <a:xfrm>
            <a:off x="8293608" y="4645152"/>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optuna</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config hyper-parameters</a:t>
            </a:r>
            <a:endParaRPr lang="en-US" sz="1150" dirty="0"/>
          </a:p>
        </p:txBody>
      </p:sp>
      <p:sp>
        <p:nvSpPr>
          <p:cNvPr id="15" name="Shape 12"/>
          <p:cNvSpPr/>
          <p:nvPr/>
        </p:nvSpPr>
        <p:spPr>
          <a:xfrm>
            <a:off x="594360" y="5394960"/>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6" name="Text 13"/>
          <p:cNvSpPr txBox="1"/>
          <p:nvPr/>
        </p:nvSpPr>
        <p:spPr>
          <a:xfrm>
            <a:off x="850392" y="5394960"/>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mlflow</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tracking is a no-op</a:t>
            </a:r>
            <a:endParaRPr lang="en-US" sz="1150" dirty="0"/>
          </a:p>
        </p:txBody>
      </p:sp>
      <p:sp>
        <p:nvSpPr>
          <p:cNvPr id="17" name="Shape 14"/>
          <p:cNvSpPr/>
          <p:nvPr/>
        </p:nvSpPr>
        <p:spPr>
          <a:xfrm>
            <a:off x="4315968" y="5394960"/>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18" name="Text 15"/>
          <p:cNvSpPr txBox="1"/>
          <p:nvPr/>
        </p:nvSpPr>
        <p:spPr>
          <a:xfrm>
            <a:off x="4572000" y="5394960"/>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pgvector</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in-memory TF-IDF</a:t>
            </a:r>
            <a:endParaRPr lang="en-US" sz="1150" dirty="0"/>
          </a:p>
        </p:txBody>
      </p:sp>
      <p:sp>
        <p:nvSpPr>
          <p:cNvPr id="19" name="Shape 16"/>
          <p:cNvSpPr/>
          <p:nvPr/>
        </p:nvSpPr>
        <p:spPr>
          <a:xfrm>
            <a:off x="8037576" y="5394960"/>
            <a:ext cx="3520440" cy="658368"/>
          </a:xfrm>
          <a:prstGeom prst="roundRect">
            <a:avLst>
              <a:gd name="adj" fmla="val 8333"/>
            </a:avLst>
          </a:prstGeom>
          <a:solidFill>
            <a:srgbClr val="F1F4F3"/>
          </a:solidFill>
          <a:ln/>
          <a:effectLst>
            <a:outerShdw sx="100000" sy="100000" kx="0" ky="0" algn="bl" rotWithShape="0" blurRad="127000" dist="25400" dir="5400000">
              <a:srgbClr val="0C2D2A">
                <a:alpha val="10000"/>
              </a:srgbClr>
            </a:outerShdw>
          </a:effectLst>
        </p:spPr>
      </p:sp>
      <p:sp>
        <p:nvSpPr>
          <p:cNvPr id="20" name="Text 17"/>
          <p:cNvSpPr txBox="1"/>
          <p:nvPr/>
        </p:nvSpPr>
        <p:spPr>
          <a:xfrm>
            <a:off x="8293608" y="5394960"/>
            <a:ext cx="3017520" cy="658368"/>
          </a:xfrm>
          <a:prstGeom prst="rect">
            <a:avLst/>
          </a:prstGeom>
          <a:noFill/>
          <a:ln/>
        </p:spPr>
        <p:txBody>
          <a:bodyPr wrap="square" lIns="0" tIns="0" rIns="0" bIns="0" rtlCol="0" anchor="ctr"/>
          <a:lstStyle/>
          <a:p>
            <a:pPr indent="0" marL="0">
              <a:buNone/>
            </a:pPr>
            <a:r>
              <a:rPr lang="en-US" sz="1150" b="1" dirty="0">
                <a:solidFill>
                  <a:srgbClr val="B24A3C"/>
                </a:solidFill>
                <a:latin typeface="Courier New" pitchFamily="34" charset="0"/>
                <a:ea typeface="Courier New" pitchFamily="34" charset="-122"/>
                <a:cs typeface="Courier New" pitchFamily="34" charset="-120"/>
              </a:rPr>
              <a:t>flwr</a:t>
            </a:r>
            <a:pPr indent="0" marL="0">
              <a:buNone/>
            </a:pPr>
            <a:r>
              <a:rPr lang="en-US" sz="1100" dirty="0">
                <a:solidFill>
                  <a:srgbClr val="5E6B68"/>
                </a:solidFill>
                <a:latin typeface="Calibri" pitchFamily="34" charset="0"/>
                <a:ea typeface="Calibri" pitchFamily="34" charset="-122"/>
                <a:cs typeface="Calibri" pitchFamily="34" charset="-120"/>
              </a:rPr>
              <a:t>   →   </a:t>
            </a:r>
            <a:pPr indent="0" marL="0">
              <a:buNone/>
            </a:pPr>
            <a:r>
              <a:rPr lang="en-US" sz="1150" dirty="0">
                <a:solidFill>
                  <a:srgbClr val="17211F"/>
                </a:solidFill>
                <a:latin typeface="Calibri" pitchFamily="34" charset="0"/>
                <a:ea typeface="Calibri" pitchFamily="34" charset="-122"/>
                <a:cs typeface="Calibri" pitchFamily="34" charset="-120"/>
              </a:rPr>
              <a:t>in-process simulation</a:t>
            </a:r>
            <a:endParaRPr lang="en-US" sz="1150" dirty="0"/>
          </a:p>
        </p:txBody>
      </p:sp>
      <p:sp>
        <p:nvSpPr>
          <p:cNvPr id="21" name="Text 18"/>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5E6B68"/>
                </a:solidFill>
                <a:latin typeface="Calibri" pitchFamily="34" charset="0"/>
                <a:ea typeface="Calibri" pitchFamily="34" charset="-122"/>
                <a:cs typeface="Calibri" pitchFamily="34" charset="-120"/>
              </a:rPr>
              <a:t>The shap probe catches Exception, not ImportError — a broken optional dependency should degrade exactly like a missing one, not take a pricing screen down.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2D2A"/>
        </a:solidFill>
      </p:bgPr>
    </p:bg>
    <p:spTree>
      <p:nvGrpSpPr>
        <p:cNvPr id="1" name=""/>
        <p:cNvGrpSpPr/>
        <p:nvPr/>
      </p:nvGrpSpPr>
      <p:grpSpPr>
        <a:xfrm>
          <a:off x="0" y="0"/>
          <a:ext cx="0" cy="0"/>
          <a:chOff x="0" y="0"/>
          <a:chExt cx="0" cy="0"/>
        </a:xfrm>
      </p:grpSpPr>
      <p:sp>
        <p:nvSpPr>
          <p:cNvPr id="2" name="Text 0"/>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E9A13B"/>
                </a:solidFill>
                <a:latin typeface="Calibri" pitchFamily="34" charset="0"/>
                <a:ea typeface="Calibri" pitchFamily="34" charset="-122"/>
                <a:cs typeface="Calibri" pitchFamily="34" charset="-120"/>
              </a:rPr>
              <a:t>KNOWN LIMITATIONS</a:t>
            </a:r>
            <a:endParaRPr lang="en-US" sz="1100" dirty="0"/>
          </a:p>
        </p:txBody>
      </p:sp>
      <p:sp>
        <p:nvSpPr>
          <p:cNvPr id="3" name="Text 1"/>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these numbers do not prove</a:t>
            </a:r>
            <a:endParaRPr lang="en-US" sz="3200" dirty="0"/>
          </a:p>
        </p:txBody>
      </p:sp>
      <p:sp>
        <p:nvSpPr>
          <p:cNvPr id="4" name="Text 2"/>
          <p:cNvSpPr txBox="1"/>
          <p:nvPr/>
        </p:nvSpPr>
        <p:spPr>
          <a:xfrm>
            <a:off x="594360" y="1371600"/>
            <a:ext cx="10881360" cy="365760"/>
          </a:xfrm>
          <a:prstGeom prst="rect">
            <a:avLst/>
          </a:prstGeom>
          <a:noFill/>
          <a:ln/>
        </p:spPr>
        <p:txBody>
          <a:bodyPr wrap="square" lIns="0" tIns="0" rIns="0" bIns="0" rtlCol="0" anchor="ctr"/>
          <a:lstStyle/>
          <a:p>
            <a:pPr indent="0" marL="0">
              <a:buNone/>
            </a:pPr>
            <a:r>
              <a:rPr lang="en-US" sz="1300" dirty="0">
                <a:solidFill>
                  <a:srgbClr val="A7C0BA"/>
                </a:solidFill>
                <a:latin typeface="Calibri" pitchFamily="34" charset="0"/>
                <a:ea typeface="Calibri" pitchFamily="34" charset="-122"/>
                <a:cs typeface="Calibri" pitchFamily="34" charset="-120"/>
              </a:rPr>
              <a:t>Carried from the model cards, because they bound how everything above may be read.</a:t>
            </a:r>
            <a:endParaRPr lang="en-US" sz="1300" dirty="0"/>
          </a:p>
        </p:txBody>
      </p:sp>
      <p:sp>
        <p:nvSpPr>
          <p:cNvPr id="5" name="Shape 3"/>
          <p:cNvSpPr/>
          <p:nvPr/>
        </p:nvSpPr>
        <p:spPr>
          <a:xfrm>
            <a:off x="594360" y="1920240"/>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6" name="Text 4"/>
          <p:cNvSpPr txBox="1"/>
          <p:nvPr/>
        </p:nvSpPr>
        <p:spPr>
          <a:xfrm>
            <a:off x="868680" y="2039112"/>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The data is synthetic</a:t>
            </a:r>
            <a:endParaRPr lang="en-US" sz="1300" dirty="0"/>
          </a:p>
        </p:txBody>
      </p:sp>
      <p:sp>
        <p:nvSpPr>
          <p:cNvPr id="7" name="Text 5"/>
          <p:cNvSpPr txBox="1"/>
          <p:nvPr/>
        </p:nvSpPr>
        <p:spPr>
          <a:xfrm>
            <a:off x="868680" y="2377440"/>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20,000 fabricated applications with an explicit causal structure. Every metric demonstrates that the pipeline works — not that it will perform this way on Aavas data.</a:t>
            </a:r>
            <a:endParaRPr lang="en-US" sz="1050" dirty="0"/>
          </a:p>
        </p:txBody>
      </p:sp>
      <p:sp>
        <p:nvSpPr>
          <p:cNvPr id="8" name="Shape 6"/>
          <p:cNvSpPr/>
          <p:nvPr/>
        </p:nvSpPr>
        <p:spPr>
          <a:xfrm>
            <a:off x="6217920" y="1920240"/>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9" name="Text 7"/>
          <p:cNvSpPr txBox="1"/>
          <p:nvPr/>
        </p:nvSpPr>
        <p:spPr>
          <a:xfrm>
            <a:off x="6492240" y="2039112"/>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Observational price response</a:t>
            </a:r>
            <a:endParaRPr lang="en-US" sz="1300" dirty="0"/>
          </a:p>
        </p:txBody>
      </p:sp>
      <p:sp>
        <p:nvSpPr>
          <p:cNvPr id="10" name="Text 8"/>
          <p:cNvSpPr txBox="1"/>
          <p:nvPr/>
        </p:nvSpPr>
        <p:spPr>
          <a:xfrm>
            <a:off x="6492240" y="2377440"/>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The rate was never randomised. The fitted demand curve is a correlation the monotone constraint makes safe to use, not a causal effect.</a:t>
            </a:r>
            <a:endParaRPr lang="en-US" sz="1050" dirty="0"/>
          </a:p>
        </p:txBody>
      </p:sp>
      <p:sp>
        <p:nvSpPr>
          <p:cNvPr id="11" name="Shape 9"/>
          <p:cNvSpPr/>
          <p:nvPr/>
        </p:nvSpPr>
        <p:spPr>
          <a:xfrm>
            <a:off x="594360" y="3218688"/>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12" name="Text 10"/>
          <p:cNvSpPr txBox="1"/>
          <p:nvPr/>
        </p:nvSpPr>
        <p:spPr>
          <a:xfrm>
            <a:off x="868680" y="3337560"/>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Selection bias</a:t>
            </a:r>
            <a:endParaRPr lang="en-US" sz="1300" dirty="0"/>
          </a:p>
        </p:txBody>
      </p:sp>
      <p:sp>
        <p:nvSpPr>
          <p:cNvPr id="13" name="Text 11"/>
          <p:cNvSpPr txBox="1"/>
          <p:nvPr/>
        </p:nvSpPr>
        <p:spPr>
          <a:xfrm>
            <a:off x="868680" y="3675888"/>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Stage 1 and Stage 2 are fitted on sanctioned files; prepayment and risk on disbursed ones. The models describe files that got through, not all applicants.</a:t>
            </a:r>
            <a:endParaRPr lang="en-US" sz="1050" dirty="0"/>
          </a:p>
        </p:txBody>
      </p:sp>
      <p:sp>
        <p:nvSpPr>
          <p:cNvPr id="14" name="Shape 12"/>
          <p:cNvSpPr/>
          <p:nvPr/>
        </p:nvSpPr>
        <p:spPr>
          <a:xfrm>
            <a:off x="6217920" y="3218688"/>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15" name="Text 13"/>
          <p:cNvSpPr txBox="1"/>
          <p:nvPr/>
        </p:nvSpPr>
        <p:spPr>
          <a:xfrm>
            <a:off x="6492240" y="3337560"/>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Censoring</a:t>
            </a:r>
            <a:endParaRPr lang="en-US" sz="1300" dirty="0"/>
          </a:p>
        </p:txBody>
      </p:sp>
      <p:sp>
        <p:nvSpPr>
          <p:cNvPr id="16" name="Text 14"/>
          <p:cNvSpPr txBox="1"/>
          <p:nvPr/>
        </p:nvSpPr>
        <p:spPr>
          <a:xfrm>
            <a:off x="6492240" y="3675888"/>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Recent cohorts have not had 24 months to transfer out, so the BT-out base rate is understated for the newest months.</a:t>
            </a:r>
            <a:endParaRPr lang="en-US" sz="1050" dirty="0"/>
          </a:p>
        </p:txBody>
      </p:sp>
      <p:sp>
        <p:nvSpPr>
          <p:cNvPr id="17" name="Shape 15"/>
          <p:cNvSpPr/>
          <p:nvPr/>
        </p:nvSpPr>
        <p:spPr>
          <a:xfrm>
            <a:off x="594360" y="4517136"/>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18" name="Text 16"/>
          <p:cNvSpPr txBox="1"/>
          <p:nvPr/>
        </p:nvSpPr>
        <p:spPr>
          <a:xfrm>
            <a:off x="868680" y="4636008"/>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The override model drifts by construction</a:t>
            </a:r>
            <a:endParaRPr lang="en-US" sz="1300" dirty="0"/>
          </a:p>
        </p:txBody>
      </p:sp>
      <p:sp>
        <p:nvSpPr>
          <p:cNvPr id="19" name="Text 17"/>
          <p:cNvSpPr txBox="1"/>
          <p:nvPr/>
        </p:nvSpPr>
        <p:spPr>
          <a:xfrm>
            <a:off x="868680" y="4974336"/>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It predicts overrides against the historical recommendation. Once this engine replaces that baseline, the relationship shifts and it must be refit.</a:t>
            </a:r>
            <a:endParaRPr lang="en-US" sz="1050" dirty="0"/>
          </a:p>
        </p:txBody>
      </p:sp>
      <p:sp>
        <p:nvSpPr>
          <p:cNvPr id="20" name="Shape 18"/>
          <p:cNvSpPr/>
          <p:nvPr/>
        </p:nvSpPr>
        <p:spPr>
          <a:xfrm>
            <a:off x="6217920" y="4517136"/>
            <a:ext cx="5349240" cy="1170432"/>
          </a:xfrm>
          <a:prstGeom prst="roundRect">
            <a:avLst>
              <a:gd name="adj" fmla="val 4688"/>
            </a:avLst>
          </a:prstGeom>
          <a:solidFill>
            <a:srgbClr val="14403B"/>
          </a:solidFill>
          <a:ln/>
          <a:effectLst>
            <a:outerShdw sx="100000" sy="100000" kx="0" ky="0" algn="bl" rotWithShape="0" blurRad="127000" dist="25400" dir="5400000">
              <a:srgbClr val="0C2D2A">
                <a:alpha val="10000"/>
              </a:srgbClr>
            </a:outerShdw>
          </a:effectLst>
        </p:spPr>
      </p:sp>
      <p:sp>
        <p:nvSpPr>
          <p:cNvPr id="21" name="Text 19"/>
          <p:cNvSpPr txBox="1"/>
          <p:nvPr/>
        </p:nvSpPr>
        <p:spPr>
          <a:xfrm>
            <a:off x="6492240" y="4636008"/>
            <a:ext cx="4800600" cy="329184"/>
          </a:xfrm>
          <a:prstGeom prst="rect">
            <a:avLst/>
          </a:prstGeom>
          <a:noFill/>
          <a:ln/>
        </p:spPr>
        <p:txBody>
          <a:bodyPr wrap="square" lIns="0" tIns="0" rIns="0" bIns="0" rtlCol="0" anchor="ctr"/>
          <a:lstStyle/>
          <a:p>
            <a:pPr indent="0" marL="0">
              <a:buNone/>
            </a:pPr>
            <a:r>
              <a:rPr lang="en-US" sz="1300" b="1" dirty="0">
                <a:solidFill>
                  <a:srgbClr val="E9A13B"/>
                </a:solidFill>
                <a:latin typeface="Calibri" pitchFamily="34" charset="0"/>
                <a:ea typeface="Calibri" pitchFamily="34" charset="-122"/>
                <a:cs typeface="Calibri" pitchFamily="34" charset="-120"/>
              </a:rPr>
              <a:t>Expected life is crude</a:t>
            </a:r>
            <a:endParaRPr lang="en-US" sz="1300" dirty="0"/>
          </a:p>
        </p:txBody>
      </p:sp>
      <p:sp>
        <p:nvSpPr>
          <p:cNvPr id="22" name="Text 20"/>
          <p:cNvSpPr txBox="1"/>
          <p:nvPr/>
        </p:nvSpPr>
        <p:spPr>
          <a:xfrm>
            <a:off x="6492240" y="4974336"/>
            <a:ext cx="4800600" cy="640080"/>
          </a:xfrm>
          <a:prstGeom prst="rect">
            <a:avLst/>
          </a:prstGeom>
          <a:noFill/>
          <a:ln/>
        </p:spPr>
        <p:txBody>
          <a:bodyPr wrap="square" lIns="0" tIns="0" rIns="0" bIns="0" rtlCol="0" anchor="t"/>
          <a:lstStyle/>
          <a:p>
            <a:pPr indent="0" marL="0">
              <a:lnSpc>
                <a:spcPct val="105000"/>
              </a:lnSpc>
              <a:buNone/>
            </a:pPr>
            <a:r>
              <a:rPr lang="en-US" sz="1050" dirty="0">
                <a:solidFill>
                  <a:srgbClr val="A7C0BA"/>
                </a:solidFill>
                <a:latin typeface="Calibri" pitchFamily="34" charset="0"/>
                <a:ea typeface="Calibri" pitchFamily="34" charset="-122"/>
                <a:cs typeface="Calibri" pitchFamily="34" charset="-120"/>
              </a:rPr>
              <a:t>A 24-month BT probability projected as a constant annual hazard. Transparent and monotone, but a survival model is the phase-2 upgrade.</a:t>
            </a:r>
            <a:endParaRPr lang="en-US" sz="1050" dirty="0"/>
          </a:p>
        </p:txBody>
      </p:sp>
      <p:sp>
        <p:nvSpPr>
          <p:cNvPr id="23" name="Text 21"/>
          <p:cNvSpPr txBox="1"/>
          <p:nvPr/>
        </p:nvSpPr>
        <p:spPr>
          <a:xfrm>
            <a:off x="594360" y="6217920"/>
            <a:ext cx="10881360" cy="320040"/>
          </a:xfrm>
          <a:prstGeom prst="rect">
            <a:avLst/>
          </a:prstGeom>
          <a:noFill/>
          <a:ln/>
        </p:spPr>
        <p:txBody>
          <a:bodyPr wrap="square" lIns="0" tIns="0" rIns="0" bIns="0" rtlCol="0" anchor="ctr"/>
          <a:lstStyle/>
          <a:p>
            <a:pPr indent="0" marL="0">
              <a:buNone/>
            </a:pPr>
            <a:r>
              <a:rPr lang="en-US" sz="1000" i="1" dirty="0">
                <a:solidFill>
                  <a:srgbClr val="A7C0BA"/>
                </a:solidFill>
                <a:latin typeface="Calibri" pitchFamily="34" charset="0"/>
                <a:ea typeface="Calibri" pitchFamily="34" charset="-122"/>
                <a:cs typeface="Calibri" pitchFamily="34" charset="-120"/>
              </a:rPr>
              <a:t>Also open: the propensity correction removes the first-order selection effect only, and src/aavas/analytics/ is implemented but not yet wired into the API or the UI.</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2D2A"/>
        </a:solidFill>
      </p:bgPr>
    </p:bg>
    <p:spTree>
      <p:nvGrpSpPr>
        <p:cNvPr id="1" name=""/>
        <p:cNvGrpSpPr/>
        <p:nvPr/>
      </p:nvGrpSpPr>
      <p:grpSpPr>
        <a:xfrm>
          <a:off x="0" y="0"/>
          <a:ext cx="0" cy="0"/>
          <a:chOff x="0" y="0"/>
          <a:chExt cx="0" cy="0"/>
        </a:xfrm>
      </p:grpSpPr>
      <p:sp>
        <p:nvSpPr>
          <p:cNvPr id="2" name="Shape 0"/>
          <p:cNvSpPr/>
          <p:nvPr/>
        </p:nvSpPr>
        <p:spPr>
          <a:xfrm>
            <a:off x="-2011680" y="3291840"/>
            <a:ext cx="5852160" cy="5852160"/>
          </a:xfrm>
          <a:prstGeom prst="ellipse">
            <a:avLst/>
          </a:prstGeom>
          <a:solidFill>
            <a:srgbClr val="14403B"/>
          </a:solidFill>
          <a:ln/>
        </p:spPr>
      </p:sp>
      <p:sp>
        <p:nvSpPr>
          <p:cNvPr id="3" name="Text 1"/>
          <p:cNvSpPr txBox="1"/>
          <p:nvPr/>
        </p:nvSpPr>
        <p:spPr>
          <a:xfrm>
            <a:off x="594360" y="347472"/>
            <a:ext cx="10881360" cy="274320"/>
          </a:xfrm>
          <a:prstGeom prst="rect">
            <a:avLst/>
          </a:prstGeom>
          <a:noFill/>
          <a:ln/>
        </p:spPr>
        <p:txBody>
          <a:bodyPr wrap="square" lIns="0" tIns="0" rIns="0" bIns="0" rtlCol="0" anchor="ctr"/>
          <a:lstStyle/>
          <a:p>
            <a:pPr indent="0" marL="0">
              <a:buNone/>
            </a:pPr>
            <a:r>
              <a:rPr lang="en-US" sz="1100" b="1" spc="200" kern="0" dirty="0">
                <a:solidFill>
                  <a:srgbClr val="E9A13B"/>
                </a:solidFill>
                <a:latin typeface="Calibri" pitchFamily="34" charset="0"/>
                <a:ea typeface="Calibri" pitchFamily="34" charset="-122"/>
                <a:cs typeface="Calibri" pitchFamily="34" charset="-120"/>
              </a:rPr>
              <a:t>RECOMMENDATION</a:t>
            </a:r>
            <a:endParaRPr lang="en-US" sz="1100" dirty="0"/>
          </a:p>
        </p:txBody>
      </p:sp>
      <p:sp>
        <p:nvSpPr>
          <p:cNvPr id="4" name="Text 2"/>
          <p:cNvSpPr txBox="1"/>
          <p:nvPr/>
        </p:nvSpPr>
        <p:spPr>
          <a:xfrm>
            <a:off x="594360" y="621792"/>
            <a:ext cx="1088136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this goes next</a:t>
            </a:r>
            <a:endParaRPr lang="en-US" sz="3200" dirty="0"/>
          </a:p>
        </p:txBody>
      </p:sp>
      <p:sp>
        <p:nvSpPr>
          <p:cNvPr id="5" name="Shape 3"/>
          <p:cNvSpPr/>
          <p:nvPr/>
        </p:nvSpPr>
        <p:spPr>
          <a:xfrm>
            <a:off x="594360" y="1463040"/>
            <a:ext cx="10881360" cy="1554480"/>
          </a:xfrm>
          <a:prstGeom prst="roundRect">
            <a:avLst>
              <a:gd name="adj" fmla="val 3529"/>
            </a:avLst>
          </a:prstGeom>
          <a:solidFill>
            <a:srgbClr val="14403B"/>
          </a:solidFill>
          <a:ln/>
          <a:effectLst>
            <a:outerShdw sx="100000" sy="100000" kx="0" ky="0" algn="bl" rotWithShape="0" blurRad="127000" dist="25400" dir="5400000">
              <a:srgbClr val="0C2D2A">
                <a:alpha val="10000"/>
              </a:srgbClr>
            </a:outerShdw>
          </a:effectLst>
        </p:spPr>
      </p:sp>
      <p:sp>
        <p:nvSpPr>
          <p:cNvPr id="6" name="Shape 4"/>
          <p:cNvSpPr/>
          <p:nvPr/>
        </p:nvSpPr>
        <p:spPr>
          <a:xfrm>
            <a:off x="914400" y="1874520"/>
            <a:ext cx="502920" cy="502920"/>
          </a:xfrm>
          <a:prstGeom prst="ellipse">
            <a:avLst/>
          </a:prstGeom>
          <a:solidFill>
            <a:srgbClr val="E9A13B"/>
          </a:solidFill>
          <a:ln/>
        </p:spPr>
      </p:sp>
      <p:sp>
        <p:nvSpPr>
          <p:cNvPr id="7" name="Text 5"/>
          <p:cNvSpPr txBox="1"/>
          <p:nvPr/>
        </p:nvSpPr>
        <p:spPr>
          <a:xfrm>
            <a:off x="914400" y="1874520"/>
            <a:ext cx="502920" cy="502920"/>
          </a:xfrm>
          <a:prstGeom prst="rect">
            <a:avLst/>
          </a:prstGeom>
          <a:noFill/>
          <a:ln/>
        </p:spPr>
        <p:txBody>
          <a:bodyPr wrap="square" lIns="0" tIns="0" rIns="0" bIns="0" rtlCol="0" anchor="ctr"/>
          <a:lstStyle/>
          <a:p>
            <a:pPr algn="ctr" indent="0" marL="0">
              <a:buNone/>
            </a:pPr>
            <a:r>
              <a:rPr lang="en-US" sz="1400" b="1" dirty="0">
                <a:solidFill>
                  <a:srgbClr val="0C2D2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645920" y="1737360"/>
            <a:ext cx="95097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Run a price experiment — the highest-value next step</a:t>
            </a:r>
            <a:endParaRPr lang="en-US" sz="2000" dirty="0"/>
          </a:p>
        </p:txBody>
      </p:sp>
      <p:sp>
        <p:nvSpPr>
          <p:cNvPr id="9" name="Text 7"/>
          <p:cNvSpPr txBox="1"/>
          <p:nvPr/>
        </p:nvSpPr>
        <p:spPr>
          <a:xfrm>
            <a:off x="1645920" y="2240280"/>
            <a:ext cx="9509760" cy="685800"/>
          </a:xfrm>
          <a:prstGeom prst="rect">
            <a:avLst/>
          </a:prstGeom>
          <a:noFill/>
          <a:ln/>
        </p:spPr>
        <p:txBody>
          <a:bodyPr wrap="square" lIns="0" tIns="0" rIns="0" bIns="0" rtlCol="0" anchor="t"/>
          <a:lstStyle/>
          <a:p>
            <a:pPr indent="0" marL="0">
              <a:lnSpc>
                <a:spcPct val="105000"/>
              </a:lnSpc>
              <a:buNone/>
            </a:pPr>
            <a:r>
              <a:rPr lang="en-US" sz="1200" dirty="0">
                <a:solidFill>
                  <a:srgbClr val="A7C0BA"/>
                </a:solidFill>
                <a:latin typeface="Calibri" pitchFamily="34" charset="0"/>
                <a:ea typeface="Calibri" pitchFamily="34" charset="-122"/>
                <a:cs typeface="Calibri" pitchFamily="34" charset="-120"/>
              </a:rPr>
              <a:t>Every commercial claim in this deck rests on an observational demand curve. Randomising the rate on a controlled slice turns the elasticity, the override verdict and the value of the optimizer itself from correlations into measurements — and the governance store already records everything a read-out would need.</a:t>
            </a:r>
            <a:endParaRPr lang="en-US" sz="1200" dirty="0"/>
          </a:p>
        </p:txBody>
      </p:sp>
      <p:sp>
        <p:nvSpPr>
          <p:cNvPr id="10" name="Shape 8"/>
          <p:cNvSpPr/>
          <p:nvPr/>
        </p:nvSpPr>
        <p:spPr>
          <a:xfrm>
            <a:off x="594360" y="3246120"/>
            <a:ext cx="5349240" cy="1097280"/>
          </a:xfrm>
          <a:prstGeom prst="roundRect">
            <a:avLst>
              <a:gd name="adj" fmla="val 5000"/>
            </a:avLst>
          </a:prstGeom>
          <a:solidFill>
            <a:srgbClr val="14403B"/>
          </a:solidFill>
          <a:ln/>
          <a:effectLst>
            <a:outerShdw sx="100000" sy="100000" kx="0" ky="0" algn="bl" rotWithShape="0" blurRad="127000" dist="25400" dir="5400000">
              <a:srgbClr val="0C2D2A">
                <a:alpha val="10000"/>
              </a:srgbClr>
            </a:outerShdw>
          </a:effectLst>
        </p:spPr>
      </p:sp>
      <p:sp>
        <p:nvSpPr>
          <p:cNvPr id="11" name="Shape 9"/>
          <p:cNvSpPr/>
          <p:nvPr/>
        </p:nvSpPr>
        <p:spPr>
          <a:xfrm>
            <a:off x="850392" y="3410712"/>
            <a:ext cx="347472" cy="347472"/>
          </a:xfrm>
          <a:prstGeom prst="ellipse">
            <a:avLst/>
          </a:prstGeom>
          <a:solidFill>
            <a:srgbClr val="5B7F79"/>
          </a:solidFill>
          <a:ln/>
        </p:spPr>
      </p:sp>
      <p:sp>
        <p:nvSpPr>
          <p:cNvPr id="12" name="Text 10"/>
          <p:cNvSpPr txBox="1"/>
          <p:nvPr/>
        </p:nvSpPr>
        <p:spPr>
          <a:xfrm>
            <a:off x="850392" y="3410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307592" y="3392424"/>
            <a:ext cx="4480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 on Aavas data</a:t>
            </a:r>
            <a:endParaRPr lang="en-US" sz="1300" dirty="0"/>
          </a:p>
        </p:txBody>
      </p:sp>
      <p:sp>
        <p:nvSpPr>
          <p:cNvPr id="14" name="Text 12"/>
          <p:cNvSpPr txBox="1"/>
          <p:nvPr/>
        </p:nvSpPr>
        <p:spPr>
          <a:xfrm>
            <a:off x="850392" y="3776472"/>
            <a:ext cx="4846320" cy="530352"/>
          </a:xfrm>
          <a:prstGeom prst="rect">
            <a:avLst/>
          </a:prstGeom>
          <a:noFill/>
          <a:ln/>
        </p:spPr>
        <p:txBody>
          <a:bodyPr wrap="square" lIns="0" tIns="0" rIns="0" bIns="0" rtlCol="0" anchor="t"/>
          <a:lstStyle/>
          <a:p>
            <a:pPr indent="0" marL="0">
              <a:lnSpc>
                <a:spcPct val="100000"/>
              </a:lnSpc>
              <a:buNone/>
            </a:pPr>
            <a:r>
              <a:rPr lang="en-US" sz="1000" dirty="0">
                <a:solidFill>
                  <a:srgbClr val="A7C0BA"/>
                </a:solidFill>
                <a:latin typeface="Calibri" pitchFamily="34" charset="0"/>
                <a:ea typeface="Calibri" pitchFamily="34" charset="-122"/>
                <a:cs typeface="Calibri" pitchFamily="34" charset="-120"/>
              </a:rPr>
              <a:t>The pipeline is data-shaped, not data-specific. Swap the synthetic lifecycle table for the real one and every metric in this deck is re-earned honestly.</a:t>
            </a:r>
            <a:endParaRPr lang="en-US" sz="1000" dirty="0"/>
          </a:p>
        </p:txBody>
      </p:sp>
      <p:sp>
        <p:nvSpPr>
          <p:cNvPr id="15" name="Shape 13"/>
          <p:cNvSpPr/>
          <p:nvPr/>
        </p:nvSpPr>
        <p:spPr>
          <a:xfrm>
            <a:off x="6217920" y="3246120"/>
            <a:ext cx="5349240" cy="1097280"/>
          </a:xfrm>
          <a:prstGeom prst="roundRect">
            <a:avLst>
              <a:gd name="adj" fmla="val 5000"/>
            </a:avLst>
          </a:prstGeom>
          <a:solidFill>
            <a:srgbClr val="14403B"/>
          </a:solidFill>
          <a:ln/>
          <a:effectLst>
            <a:outerShdw sx="100000" sy="100000" kx="0" ky="0" algn="bl" rotWithShape="0" blurRad="127000" dist="25400" dir="5400000">
              <a:srgbClr val="0C2D2A">
                <a:alpha val="10000"/>
              </a:srgbClr>
            </a:outerShdw>
          </a:effectLst>
        </p:spPr>
      </p:sp>
      <p:sp>
        <p:nvSpPr>
          <p:cNvPr id="16" name="Shape 14"/>
          <p:cNvSpPr/>
          <p:nvPr/>
        </p:nvSpPr>
        <p:spPr>
          <a:xfrm>
            <a:off x="6473952" y="3410712"/>
            <a:ext cx="347472" cy="347472"/>
          </a:xfrm>
          <a:prstGeom prst="ellipse">
            <a:avLst/>
          </a:prstGeom>
          <a:solidFill>
            <a:srgbClr val="5B7F79"/>
          </a:solidFill>
          <a:ln/>
        </p:spPr>
      </p:sp>
      <p:sp>
        <p:nvSpPr>
          <p:cNvPr id="17" name="Text 15"/>
          <p:cNvSpPr txBox="1"/>
          <p:nvPr/>
        </p:nvSpPr>
        <p:spPr>
          <a:xfrm>
            <a:off x="6473952" y="3410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931152" y="3392424"/>
            <a:ext cx="4480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survival model for life</a:t>
            </a:r>
            <a:endParaRPr lang="en-US" sz="1300" dirty="0"/>
          </a:p>
        </p:txBody>
      </p:sp>
      <p:sp>
        <p:nvSpPr>
          <p:cNvPr id="19" name="Text 17"/>
          <p:cNvSpPr txBox="1"/>
          <p:nvPr/>
        </p:nvSpPr>
        <p:spPr>
          <a:xfrm>
            <a:off x="6473952" y="3776472"/>
            <a:ext cx="4846320" cy="530352"/>
          </a:xfrm>
          <a:prstGeom prst="rect">
            <a:avLst/>
          </a:prstGeom>
          <a:noFill/>
          <a:ln/>
        </p:spPr>
        <p:txBody>
          <a:bodyPr wrap="square" lIns="0" tIns="0" rIns="0" bIns="0" rtlCol="0" anchor="t"/>
          <a:lstStyle/>
          <a:p>
            <a:pPr indent="0" marL="0">
              <a:lnSpc>
                <a:spcPct val="100000"/>
              </a:lnSpc>
              <a:buNone/>
            </a:pPr>
            <a:r>
              <a:rPr lang="en-US" sz="1000" dirty="0">
                <a:solidFill>
                  <a:srgbClr val="A7C0BA"/>
                </a:solidFill>
                <a:latin typeface="Calibri" pitchFamily="34" charset="0"/>
                <a:ea typeface="Calibri" pitchFamily="34" charset="-122"/>
                <a:cs typeface="Calibri" pitchFamily="34" charset="-120"/>
              </a:rPr>
              <a:t>Replace the constant-hazard projection of a 24-month BT probability. This is the single largest source of imprecision in lifetime value.</a:t>
            </a:r>
            <a:endParaRPr lang="en-US" sz="1000" dirty="0"/>
          </a:p>
        </p:txBody>
      </p:sp>
      <p:sp>
        <p:nvSpPr>
          <p:cNvPr id="20" name="Shape 18"/>
          <p:cNvSpPr/>
          <p:nvPr/>
        </p:nvSpPr>
        <p:spPr>
          <a:xfrm>
            <a:off x="594360" y="4480560"/>
            <a:ext cx="5349240" cy="1097280"/>
          </a:xfrm>
          <a:prstGeom prst="roundRect">
            <a:avLst>
              <a:gd name="adj" fmla="val 5000"/>
            </a:avLst>
          </a:prstGeom>
          <a:solidFill>
            <a:srgbClr val="14403B"/>
          </a:solidFill>
          <a:ln/>
          <a:effectLst>
            <a:outerShdw sx="100000" sy="100000" kx="0" ky="0" algn="bl" rotWithShape="0" blurRad="127000" dist="25400" dir="5400000">
              <a:srgbClr val="0C2D2A">
                <a:alpha val="10000"/>
              </a:srgbClr>
            </a:outerShdw>
          </a:effectLst>
        </p:spPr>
      </p:sp>
      <p:sp>
        <p:nvSpPr>
          <p:cNvPr id="21" name="Shape 19"/>
          <p:cNvSpPr/>
          <p:nvPr/>
        </p:nvSpPr>
        <p:spPr>
          <a:xfrm>
            <a:off x="850392" y="4645152"/>
            <a:ext cx="347472" cy="347472"/>
          </a:xfrm>
          <a:prstGeom prst="ellipse">
            <a:avLst/>
          </a:prstGeom>
          <a:solidFill>
            <a:srgbClr val="5B7F79"/>
          </a:solidFill>
          <a:ln/>
        </p:spPr>
      </p:sp>
      <p:sp>
        <p:nvSpPr>
          <p:cNvPr id="22" name="Text 20"/>
          <p:cNvSpPr txBox="1"/>
          <p:nvPr/>
        </p:nvSpPr>
        <p:spPr>
          <a:xfrm>
            <a:off x="850392" y="46451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307592" y="4626864"/>
            <a:ext cx="4480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Wire up the analytics layer</a:t>
            </a:r>
            <a:endParaRPr lang="en-US" sz="1300" dirty="0"/>
          </a:p>
        </p:txBody>
      </p:sp>
      <p:sp>
        <p:nvSpPr>
          <p:cNvPr id="24" name="Text 22"/>
          <p:cNvSpPr txBox="1"/>
          <p:nvPr/>
        </p:nvSpPr>
        <p:spPr>
          <a:xfrm>
            <a:off x="850392" y="5010912"/>
            <a:ext cx="4846320" cy="530352"/>
          </a:xfrm>
          <a:prstGeom prst="rect">
            <a:avLst/>
          </a:prstGeom>
          <a:noFill/>
          <a:ln/>
        </p:spPr>
        <p:txBody>
          <a:bodyPr wrap="square" lIns="0" tIns="0" rIns="0" bIns="0" rtlCol="0" anchor="t"/>
          <a:lstStyle/>
          <a:p>
            <a:pPr indent="0" marL="0">
              <a:lnSpc>
                <a:spcPct val="100000"/>
              </a:lnSpc>
              <a:buNone/>
            </a:pPr>
            <a:r>
              <a:rPr lang="en-US" sz="1000" dirty="0">
                <a:solidFill>
                  <a:srgbClr val="A7C0BA"/>
                </a:solidFill>
                <a:latin typeface="Calibri" pitchFamily="34" charset="0"/>
                <a:ea typeface="Calibri" pitchFamily="34" charset="-122"/>
                <a:cs typeface="Calibri" pitchFamily="34" charset="-120"/>
              </a:rPr>
              <a:t>src/aavas/analytics/ exists but is not connected to the API or UI. Connecting it retires the dashboard's illustrative panels.</a:t>
            </a:r>
            <a:endParaRPr lang="en-US" sz="1000" dirty="0"/>
          </a:p>
        </p:txBody>
      </p:sp>
      <p:sp>
        <p:nvSpPr>
          <p:cNvPr id="25" name="Shape 23"/>
          <p:cNvSpPr/>
          <p:nvPr/>
        </p:nvSpPr>
        <p:spPr>
          <a:xfrm>
            <a:off x="6217920" y="4480560"/>
            <a:ext cx="5349240" cy="1097280"/>
          </a:xfrm>
          <a:prstGeom prst="roundRect">
            <a:avLst>
              <a:gd name="adj" fmla="val 5000"/>
            </a:avLst>
          </a:prstGeom>
          <a:solidFill>
            <a:srgbClr val="14403B"/>
          </a:solidFill>
          <a:ln/>
          <a:effectLst>
            <a:outerShdw sx="100000" sy="100000" kx="0" ky="0" algn="bl" rotWithShape="0" blurRad="127000" dist="25400" dir="5400000">
              <a:srgbClr val="0C2D2A">
                <a:alpha val="10000"/>
              </a:srgbClr>
            </a:outerShdw>
          </a:effectLst>
        </p:spPr>
      </p:sp>
      <p:sp>
        <p:nvSpPr>
          <p:cNvPr id="26" name="Shape 24"/>
          <p:cNvSpPr/>
          <p:nvPr/>
        </p:nvSpPr>
        <p:spPr>
          <a:xfrm>
            <a:off x="6473952" y="4645152"/>
            <a:ext cx="347472" cy="347472"/>
          </a:xfrm>
          <a:prstGeom prst="ellipse">
            <a:avLst/>
          </a:prstGeom>
          <a:solidFill>
            <a:srgbClr val="5B7F79"/>
          </a:solidFill>
          <a:ln/>
        </p:spPr>
      </p:sp>
      <p:sp>
        <p:nvSpPr>
          <p:cNvPr id="27" name="Text 25"/>
          <p:cNvSpPr txBox="1"/>
          <p:nvPr/>
        </p:nvSpPr>
        <p:spPr>
          <a:xfrm>
            <a:off x="6473952" y="46451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6931152" y="4626864"/>
            <a:ext cx="44805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Shared store and integration</a:t>
            </a:r>
            <a:endParaRPr lang="en-US" sz="1300" dirty="0"/>
          </a:p>
        </p:txBody>
      </p:sp>
      <p:sp>
        <p:nvSpPr>
          <p:cNvPr id="29" name="Text 27"/>
          <p:cNvSpPr txBox="1"/>
          <p:nvPr/>
        </p:nvSpPr>
        <p:spPr>
          <a:xfrm>
            <a:off x="6473952" y="5010912"/>
            <a:ext cx="4846320" cy="530352"/>
          </a:xfrm>
          <a:prstGeom prst="rect">
            <a:avLst/>
          </a:prstGeom>
          <a:noFill/>
          <a:ln/>
        </p:spPr>
        <p:txBody>
          <a:bodyPr wrap="square" lIns="0" tIns="0" rIns="0" bIns="0" rtlCol="0" anchor="t"/>
          <a:lstStyle/>
          <a:p>
            <a:pPr indent="0" marL="0">
              <a:lnSpc>
                <a:spcPct val="100000"/>
              </a:lnSpc>
              <a:buNone/>
            </a:pPr>
            <a:r>
              <a:rPr lang="en-US" sz="1000" dirty="0">
                <a:solidFill>
                  <a:srgbClr val="A7C0BA"/>
                </a:solidFill>
                <a:latin typeface="Calibri" pitchFamily="34" charset="0"/>
                <a:ea typeface="Calibri" pitchFamily="34" charset="-122"/>
                <a:cs typeface="Calibri" pitchFamily="34" charset="-120"/>
              </a:rPr>
              <a:t>Move the governance store to Postgres, the knowledge store to pgvector, and connect the four endpoints to the LOS.</a:t>
            </a:r>
            <a:endParaRPr lang="en-US" sz="1000" dirty="0"/>
          </a:p>
        </p:txBody>
      </p:sp>
      <p:sp>
        <p:nvSpPr>
          <p:cNvPr id="30" name="Text 28"/>
          <p:cNvSpPr txBox="1"/>
          <p:nvPr/>
        </p:nvSpPr>
        <p:spPr>
          <a:xfrm>
            <a:off x="594360" y="5897880"/>
            <a:ext cx="10881360" cy="457200"/>
          </a:xfrm>
          <a:prstGeom prst="rect">
            <a:avLst/>
          </a:prstGeom>
          <a:noFill/>
          <a:ln/>
        </p:spPr>
        <p:txBody>
          <a:bodyPr wrap="square" lIns="0" tIns="0" rIns="0" bIns="0" rtlCol="0" anchor="ctr"/>
          <a:lstStyle/>
          <a:p>
            <a:pPr indent="0" marL="0">
              <a:buNone/>
            </a:pPr>
            <a:r>
              <a:rPr lang="en-US" sz="1500" i="1" dirty="0">
                <a:solidFill>
                  <a:srgbClr val="E9A13B"/>
                </a:solidFill>
                <a:latin typeface="Cambria" pitchFamily="34" charset="0"/>
                <a:ea typeface="Cambria" pitchFamily="34" charset="-122"/>
                <a:cs typeface="Cambria" pitchFamily="34" charset="-120"/>
              </a:rPr>
              <a:t>The engine recommends and explains. Every next step keeps it that way.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Aavas Pricing Engine - Architecture &amp; Results</dc:title>
  <dc:subject>PptxGenJS Presentation</dc:subject>
  <dc:creator>Aavas pricing engine</dc:creator>
  <cp:lastModifiedBy>Aavas pricing engine</cp:lastModifiedBy>
  <cp:revision>1</cp:revision>
  <dcterms:created xsi:type="dcterms:W3CDTF">2026-09-19T05:21:59Z</dcterms:created>
  <dcterms:modified xsi:type="dcterms:W3CDTF">2026-09-19T05:21:59Z</dcterms:modified>
</cp:coreProperties>
</file>